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27248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27248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C6DF"/>
                </a:solidFill>
                <a:latin typeface="Calibri"/>
              </a:rPr>
              <a:t>UNIVERSITY OF MORATUWA  ·  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3385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Draftly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0" i="1">
                <a:solidFill>
                  <a:srgbClr val="DAE2F2"/>
                </a:solidFill>
                <a:latin typeface="Calibri"/>
              </a:rPr>
              <a:t>A Lawyer-in-the-Loop Legal Document Drafting and Review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DAE2F2"/>
                </a:solidFill>
                <a:latin typeface="Calibri"/>
              </a:rPr>
              <a:t>Platform for Sri Lankan Legal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93008"/>
            <a:ext cx="5852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23A66"/>
                </a:solidFill>
                <a:latin typeface="Calibri"/>
              </a:rPr>
              <a:t>GROUP 06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E222B"/>
                </a:solidFill>
                <a:latin typeface="Calibri"/>
              </a:rPr>
              <a:t>Dhanapala D.H.N.     </a:t>
            </a:r>
            <a:r>
              <a:rPr sz="1400" i="1">
                <a:solidFill>
                  <a:srgbClr val="9B2C2C"/>
                </a:solidFill>
                <a:latin typeface="Calibri"/>
              </a:rPr>
              <a:t>«Reg. No.»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E222B"/>
                </a:solidFill>
                <a:latin typeface="Calibri"/>
              </a:rPr>
              <a:t>Dilshan A.D.L.     </a:t>
            </a:r>
            <a:r>
              <a:rPr sz="1400" i="1">
                <a:solidFill>
                  <a:srgbClr val="9B2C2C"/>
                </a:solidFill>
                <a:latin typeface="Calibri"/>
              </a:rPr>
              <a:t>«Reg. No.»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E222B"/>
                </a:solidFill>
                <a:latin typeface="Calibri"/>
              </a:rPr>
              <a:t>De Silva B.K.P.     </a:t>
            </a:r>
            <a:r>
              <a:rPr sz="1400" i="1">
                <a:solidFill>
                  <a:srgbClr val="9B2C2C"/>
                </a:solidFill>
                <a:latin typeface="Calibri"/>
              </a:rPr>
              <a:t>«Reg. No.»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3493008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23A66"/>
                </a:solidFill>
                <a:latin typeface="Calibri"/>
              </a:rPr>
              <a:t>SUPERVISION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E222B"/>
                </a:solidFill>
                <a:latin typeface="Calibri"/>
              </a:rPr>
              <a:t>Supervisor:  Dr. Nisansa de Silva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1E222B"/>
                </a:solidFill>
                <a:latin typeface="Calibri"/>
              </a:rPr>
              <a:t>Teaching Assistant:  Ovindu Atukorala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742432"/>
            <a:ext cx="103784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88736"/>
            <a:ext cx="10378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270"/>
                </a:solidFill>
                <a:latin typeface="Calibri"/>
              </a:rPr>
              <a:t>In23-S5-CS3501 (130134)  —  Mid-Project Progress Evaluation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Conveyancing in Sri Lanka is document-heavy, rule-driven and almost entirely manual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58064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6394"/>
                </a:solidFill>
                <a:latin typeface="Calibri"/>
              </a:rPr>
              <a:t>▪  </a:t>
            </a:r>
            <a:r>
              <a:rPr sz="1600">
                <a:solidFill>
                  <a:srgbClr val="1E222B"/>
                </a:solidFill>
                <a:latin typeface="Calibri"/>
              </a:rPr>
              <a:t>Manual reconciliation of a document bundle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350">
                <a:solidFill>
                  <a:srgbClr val="5A6270"/>
                </a:solidFill>
                <a:latin typeface="Calibri"/>
              </a:rPr>
              <a:t>–  Deeds, title certificates, survey plans, assessment and identity records — cross-checked by eye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350">
                <a:solidFill>
                  <a:srgbClr val="5A6270"/>
                </a:solidFill>
                <a:latin typeface="Calibri"/>
              </a:rPr>
              <a:t>–  A missed lot number, extent or boundary can invalidate an instrument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1">
                <a:solidFill>
                  <a:srgbClr val="4A6394"/>
                </a:solidFill>
                <a:latin typeface="Calibri"/>
              </a:rPr>
              <a:t>▪  </a:t>
            </a:r>
            <a:r>
              <a:rPr sz="1600">
                <a:solidFill>
                  <a:srgbClr val="1E222B"/>
                </a:solidFill>
                <a:latin typeface="Calibri"/>
              </a:rPr>
              <a:t>Four coexisting registration regimes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350">
                <a:solidFill>
                  <a:srgbClr val="5A6270"/>
                </a:solidFill>
                <a:latin typeface="Calibri"/>
              </a:rPr>
              <a:t>–  Matters routinely span several decades of instruments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1">
                <a:solidFill>
                  <a:srgbClr val="4A6394"/>
                </a:solidFill>
                <a:latin typeface="Calibri"/>
              </a:rPr>
              <a:t>▪  </a:t>
            </a:r>
            <a:r>
              <a:rPr sz="1600">
                <a:solidFill>
                  <a:srgbClr val="1E222B"/>
                </a:solidFill>
                <a:latin typeface="Calibri"/>
              </a:rPr>
              <a:t>Fragmented sources of law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350">
                <a:solidFill>
                  <a:srgbClr val="5A6270"/>
                </a:solidFill>
                <a:latin typeface="Calibri"/>
              </a:rPr>
              <a:t>–  Statutes, amendments, gazettes, prescribed forms and case law, with no step-aware guidance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1">
                <a:solidFill>
                  <a:srgbClr val="4A6394"/>
                </a:solidFill>
                <a:latin typeface="Calibri"/>
              </a:rPr>
              <a:t>▪  </a:t>
            </a:r>
            <a:r>
              <a:rPr sz="1600">
                <a:solidFill>
                  <a:srgbClr val="1E222B"/>
                </a:solidFill>
                <a:latin typeface="Calibri"/>
              </a:rPr>
              <a:t>Transcription risk in drafting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350">
                <a:solidFill>
                  <a:srgbClr val="5A6270"/>
                </a:solidFill>
                <a:latin typeface="Calibri"/>
              </a:rPr>
              <a:t>–  Particulars re-typed by hand; prescribed wording must be reproduced exactly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1">
                <a:solidFill>
                  <a:srgbClr val="4A6394"/>
                </a:solidFill>
                <a:latin typeface="Calibri"/>
              </a:rPr>
              <a:t>▪  </a:t>
            </a:r>
            <a:r>
              <a:rPr sz="1600">
                <a:solidFill>
                  <a:srgbClr val="1E222B"/>
                </a:solidFill>
                <a:latin typeface="Calibri"/>
              </a:rPr>
              <a:t>No structured record of verification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350">
                <a:solidFill>
                  <a:srgbClr val="5A6270"/>
                </a:solidFill>
                <a:latin typeface="Calibri"/>
              </a:rPr>
              <a:t>–  Nothing records which facts were checked, by whom, against which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1298448"/>
            <a:ext cx="4974336" cy="221284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36576" bIns="36576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WHY NOT A GENERAL-PURPOSE LLM?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E222B"/>
                </a:solidFill>
                <a:latin typeface="Calibri"/>
              </a:rPr>
              <a:t>Fluent but unverifiable answers and fabricated citations. In legal work this failure mode is disqualifying.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E222B"/>
                </a:solidFill>
                <a:latin typeface="Calibri"/>
              </a:rPr>
              <a:t>A system for this domain must ground every output in identifiable sources — and abstain when it cannot.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3712463"/>
            <a:ext cx="497433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OUR POSITION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E222B"/>
                </a:solidFill>
                <a:latin typeface="Calibri"/>
              </a:rPr>
              <a:t>Draftly is lawyer-in-the-loop: the system proposes, the lawyer reviews, edits and approves.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E222B"/>
                </a:solidFill>
                <a:latin typeface="Calibri"/>
              </a:rPr>
              <a:t>Everything the pipeline produces carries status = unverified until a lawyer signs it off. That rule is enforced in code, not by convention.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56832" y="5596128"/>
            <a:ext cx="45720" cy="475488"/>
          </a:xfrm>
          <a:prstGeom prst="rect">
            <a:avLst/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559612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270"/>
                </a:solidFill>
                <a:latin typeface="Calibri"/>
              </a:rPr>
              <a:t>Gap confirmed through preliminary discussions with practising Sri Lankan lawyers, notaries and conveyancing academics.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First use case: notarial work under the Registration of Title Act, No. 21 of 1998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5779008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ENGINEERING OBJECTIVES</a:t>
            </a: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Matter workflow from document intake to an approved, exportable draft under continuous lawyer supervision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Extract structured particulars from Sinhala and English conveyancing documents, each value carrying its source location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Verification workspace — facts reviewed beside their evidence, moved through explicit verification states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Deterministic consistency checks across deed schedule, survey plan and assessment records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Generate prescribed instruments (Form 8 transfer) populated only from verified facts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Versioned drafts, approval gates, DOCX/PDF export, full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298448"/>
            <a:ext cx="4956048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RESEARCH OBJECTIVES</a:t>
            </a: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Grounded legal QA over a curated corpus where every claim carries a citation and the system abstains explicitly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Recover the legal rule from judgments deterministically, abstaining rather than emitting a non-rule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Model statutes temporally — resolve a citation against the date the court spoke, not today's text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Authority-aware ranking by court level and binding force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Evaluate every capability against a lawyer-verified set before it is presented as reliable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4882896"/>
            <a:ext cx="4956048" cy="115214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23A66"/>
                </a:solidFill>
                <a:latin typeface="Calibri"/>
              </a:rPr>
              <a:t>CENTRAL RESEARCH QUESTION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22B"/>
                </a:solidFill>
                <a:latin typeface="Calibri"/>
              </a:rPr>
              <a:t>Can deterministic legal structure — citation graphs, section indexes and amendment histories — outperform embedding similarity for legally correct retrieval?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Literature Review and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Each design decision is anchored to a published number — see proj-docs/…/retrieval-engine-methodology.md §9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58064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F6B"/>
                </a:solidFill>
                <a:latin typeface="Calibri"/>
              </a:rPr>
              <a:t>ADOPTED — WITH THE NUMBER THAT JUSTIFIES IT</a:t>
            </a: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Topic-partitioned sub-indexes lift MRR/top-10 from ~29–42% to ~75–95%  (2502.20364)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HippoRAG: removing the graph walk drops avg R@5 from 72.9 → 56.2; its weakest part is the LLM-built KG  (2405.14831)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NyayGraph: 3-hop expansion buys +136.8% recall, but raw graph context dumped into a prompt drops F1  (nllp-1.11)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BM25 is the best zero-shot retriever on legal text; general-domain dense retrievers can actively harm  (2406.17186)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CLERC mask-a-citation evaluation; citation false-positive rate is exactly computable on a closed corpus  (2406.17186)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298448"/>
            <a:ext cx="495604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B2C2C"/>
                </a:solidFill>
                <a:latin typeface="Calibri"/>
              </a:rPr>
              <a:t>REJECTED — AND WHY</a:t>
            </a: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LLM-extracted knowledge graphs — noisier and sparser than the links we already own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RAPTOR's cluster-summarise tree — nondeterministic, and loses to plain BM25 on cross-document lookup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Vector DB / Neo4j stacks — our whole graph is two CSV files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1">
                <a:solidFill>
                  <a:srgbClr val="4A6394"/>
                </a:solidFill>
                <a:latin typeface="Calibri"/>
              </a:rPr>
              <a:t>▪  </a:t>
            </a:r>
            <a:r>
              <a:rPr sz="1400">
                <a:solidFill>
                  <a:srgbClr val="1E222B"/>
                </a:solidFill>
                <a:latin typeface="Calibri"/>
              </a:rPr>
              <a:t>Silent vector fallback — deterministic systems fail loudly, probabilistic ones fail fluently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675887"/>
            <a:ext cx="4956048" cy="215798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36576" bIns="36576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223A66"/>
                </a:solidFill>
                <a:latin typeface="Calibri"/>
              </a:rPr>
              <a:t>THE GAP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E222B"/>
                </a:solidFill>
                <a:latin typeface="Calibri"/>
              </a:rPr>
              <a:t>Local platforms (LawLanka, LawCeylon, Paralegal.lk) serve legal research. International platforms (Harvey, Legora) do not address Sri Lankan law, Sinhala documents or the local registration regimes.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22B"/>
                </a:solidFill>
                <a:latin typeface="Calibri"/>
              </a:rPr>
              <a:t>No system combines bilingual extraction with lawyer verification, deterministic title checks, grounded QA over local law, and template-constrained generation of prescribed instruments.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358384"/>
            <a:ext cx="45720" cy="676656"/>
          </a:xfrm>
          <a:prstGeom prst="rect">
            <a:avLst/>
          </a:prstGeom>
          <a:solidFill>
            <a:srgbClr val="4A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58384"/>
            <a:ext cx="5641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Legal correctness is validity — in force, on a date, by which act. Similarity cannot express that: successive amended versions are near-identical in embedding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Deterministic structure first; the model is used only where pattern matching genuinely cannot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584448" cy="142646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01   </a:t>
            </a:r>
            <a:r>
              <a:rPr sz="1450" b="1">
                <a:solidFill>
                  <a:srgbClr val="223A66"/>
                </a:solidFill>
                <a:latin typeface="Calibri"/>
              </a:rPr>
              <a:t>Closed corpus, enforced in code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Calibri"/>
              </a:rPr>
              <a:t>Scope is guarded by ALLOWED_KINDS, two runtime checks, a schema CHECK and the answering prompt — five separate guards, a matched 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2544" y="1298448"/>
            <a:ext cx="3584448" cy="142646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02   </a:t>
            </a:r>
            <a:r>
              <a:rPr sz="1450" b="1">
                <a:solidFill>
                  <a:srgbClr val="223A66"/>
                </a:solidFill>
                <a:latin typeface="Calibri"/>
              </a:rPr>
              <a:t>The validator, not the model, earns trust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Calibri"/>
              </a:rPr>
              <a:t>Every extracted rule is rejected unless its supporting quote is a verbatim substring of the judgment; statute sections not in the closed catalogue are nulled.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298448"/>
            <a:ext cx="3584448" cy="142646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03   </a:t>
            </a:r>
            <a:r>
              <a:rPr sz="1450" b="1">
                <a:solidFill>
                  <a:srgbClr val="223A66"/>
                </a:solidFill>
                <a:latin typeface="Calibri"/>
              </a:rPr>
              <a:t>Deterministic before 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Calibri"/>
              </a:rPr>
              <a:t>Regex and layout parsing run first; LLM calls are spent only on the residue, bounded by --max-llm-calls and resumable via a per-case cache.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07792"/>
            <a:ext cx="3584448" cy="142646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04   </a:t>
            </a:r>
            <a:r>
              <a:rPr sz="1450" b="1">
                <a:solidFill>
                  <a:srgbClr val="223A66"/>
                </a:solidFill>
                <a:latin typeface="Calibri"/>
              </a:rPr>
              <a:t>Content-addressed, reproducible artifacts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Calibri"/>
              </a:rPr>
              <a:t>The index is named from a fingerprint of its inputs; a stale fingerprint triggers a rebuild rather than serving drifted results. Build scripts re-run byte-identical.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907792"/>
            <a:ext cx="3584448" cy="142646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05   </a:t>
            </a:r>
            <a:r>
              <a:rPr sz="1450" b="1">
                <a:solidFill>
                  <a:srgbClr val="223A66"/>
                </a:solidFill>
                <a:latin typeface="Calibri"/>
              </a:rPr>
              <a:t>Abstain rather than approximate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Calibri"/>
              </a:rPr>
              <a:t>Answers cite retrieved section IDs or report insufficient authority. Extraction abstains rather than emit a non-rule.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907792"/>
            <a:ext cx="3584448" cy="142646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36576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06   </a:t>
            </a:r>
            <a:r>
              <a:rPr sz="1450" b="1">
                <a:solidFill>
                  <a:srgbClr val="223A66"/>
                </a:solidFill>
                <a:latin typeface="Calibri"/>
              </a:rPr>
              <a:t>Nothing is verified until a lawyer says so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270"/>
                </a:solidFill>
                <a:latin typeface="Calibri"/>
              </a:rPr>
              <a:t>Every artifact carries status = unverified; lawyer review is a scheduled work package with a pre-registered acceptance criterion.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431536"/>
            <a:ext cx="45720" cy="457200"/>
          </a:xfrm>
          <a:prstGeom prst="rect">
            <a:avLst/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31536"/>
            <a:ext cx="108996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270"/>
                </a:solidFill>
                <a:latin typeface="Calibri"/>
              </a:rPr>
              <a:t>Consequence: a cheap 8B model is trustworthy inside this pipeline, because the grounding gate — not the model — decides what survives.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System Architecture —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From proj-docs/SRS/diagrams/draftly_system_context.png (SRS v1.0)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draftly_system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955" y="1481328"/>
            <a:ext cx="5129784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16771" y="1481328"/>
            <a:ext cx="271439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BOUNDARY DECISIONS</a:t>
            </a: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Two human roles inside the loop — lawyer verifies and approves, clerk uploads and prepares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OCR is bought, not built: Google Document AI, so effort goes to verification and checks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Export is a boundary, not a feature — approved work products leave as DOCX/PDF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Content governance is a separate role: the legal corpus is curated, not crawled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System Architecture — Retrieval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Three independent channels fused by reciprocal-rank fusion, then gated before an answer is allowed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1828800" cy="2395728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Question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9C6DF"/>
                </a:solidFill>
                <a:latin typeface="Calibri"/>
              </a:rPr>
              <a:t>question_analysis.py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B9C6DF"/>
                </a:solidFill>
                <a:latin typeface="Calibri"/>
              </a:rPr>
              <a:t>intent · topic 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1481328"/>
            <a:ext cx="2487168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7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B7F6B"/>
                </a:solidFill>
                <a:latin typeface="Calibri"/>
              </a:rPr>
              <a:t>LEXICAL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E222B"/>
                </a:solidFill>
                <a:latin typeface="Calibri"/>
              </a:rPr>
              <a:t>SQLite FTS5 / BM25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Calibri"/>
              </a:rPr>
              <a:t>index.py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2286000"/>
            <a:ext cx="2487168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4A6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DENSE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E222B"/>
                </a:solidFill>
                <a:latin typeface="Calibri"/>
              </a:rPr>
              <a:t>Gemini embeddings, cached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Calibri"/>
              </a:rPr>
              <a:t>embeddings.py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3090672"/>
            <a:ext cx="2487168" cy="786384"/>
          </a:xfrm>
          <a:prstGeom prst="rect">
            <a:avLst/>
          </a:prstGeom>
          <a:solidFill>
            <a:srgbClr val="FFFFFF"/>
          </a:solidFill>
          <a:ln w="19050">
            <a:solidFill>
              <a:srgbClr val="B57A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B57A1C"/>
                </a:solidFill>
                <a:latin typeface="Calibri"/>
              </a:rPr>
              <a:t>GRAPH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E222B"/>
                </a:solidFill>
                <a:latin typeface="Calibri"/>
              </a:rPr>
              <a:t>Personalised PageRank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Calibri"/>
              </a:rPr>
              <a:t>graph.py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2976" y="1481328"/>
            <a:ext cx="1517904" cy="239572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23A66"/>
                </a:solidFill>
                <a:latin typeface="Calibri"/>
              </a:rPr>
              <a:t>FUSION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E222B"/>
                </a:solidFill>
                <a:latin typeface="Calibri"/>
              </a:rPr>
              <a:t>reciprocal-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E222B"/>
                </a:solidFill>
                <a:latin typeface="Calibri"/>
              </a:rPr>
              <a:t>rank fusion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E222B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A6270"/>
                </a:solidFill>
                <a:latin typeface="Calibri"/>
              </a:rPr>
              <a:t>search.py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51775" y="1481328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23A66"/>
                </a:solidFill>
                <a:latin typeface="Calibri"/>
              </a:rPr>
              <a:t>PER-PART EVIDENCE QUOTAS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270"/>
                </a:solidFill>
                <a:latin typeface="Calibri"/>
              </a:rPr>
              <a:t>every sub-question must be independently supported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51775" y="2089404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23A66"/>
                </a:solidFill>
                <a:latin typeface="Calibri"/>
              </a:rPr>
              <a:t>CITATION GATE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270"/>
                </a:solidFill>
                <a:latin typeface="Calibri"/>
              </a:rPr>
              <a:t>each claim must cite a retrieved section 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51775" y="2697480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23A66"/>
                </a:solidFill>
                <a:latin typeface="Calibri"/>
              </a:rPr>
              <a:t>ENTAILMENT VERIFIER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270"/>
                </a:solidFill>
                <a:latin typeface="Calibri"/>
              </a:rPr>
              <a:t>claim-level check against its own citations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1775" y="3305556"/>
            <a:ext cx="42793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23A66"/>
                </a:solidFill>
                <a:latin typeface="Calibri"/>
              </a:rPr>
              <a:t>BOUNDED CORRECTIVE RETRY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270"/>
                </a:solidFill>
                <a:latin typeface="Calibri"/>
              </a:rPr>
              <a:t>rewrite + re-retrieve, once, for unverified parts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3986784"/>
            <a:ext cx="4279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A6270"/>
                </a:solidFill>
                <a:latin typeface="Calibri"/>
              </a:rPr>
              <a:t>answering.py  —  gates, in order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32304" y="2487168"/>
            <a:ext cx="237744" cy="219456"/>
          </a:xfrm>
          <a:prstGeom prst="rightArrow">
            <a:avLst/>
          </a:prstGeom>
          <a:solidFill>
            <a:srgbClr val="9FA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266944" y="2487168"/>
            <a:ext cx="237744" cy="219456"/>
          </a:xfrm>
          <a:prstGeom prst="rightArrow">
            <a:avLst/>
          </a:prstGeom>
          <a:solidFill>
            <a:srgbClr val="9FA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114032" y="2487168"/>
            <a:ext cx="237744" cy="219456"/>
          </a:xfrm>
          <a:prstGeom prst="rightArrow">
            <a:avLst/>
          </a:prstGeom>
          <a:solidFill>
            <a:srgbClr val="9FA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370832"/>
            <a:ext cx="6473952" cy="822960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223A66"/>
                </a:solidFill>
                <a:latin typeface="Calibri"/>
              </a:rPr>
              <a:t>Cited answer  ·  or an explicit "insufficient authority"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A6270"/>
                </a:solidFill>
                <a:latin typeface="Calibri"/>
              </a:rPr>
              <a:t>Scope is enforced: 57 statutes + 18 amendments, no case law — five guards in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5" y="4370832"/>
            <a:ext cx="4279392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9B2C2C"/>
                </a:solidFill>
                <a:latin typeface="Calibri"/>
              </a:rPr>
              <a:t>Ablation switches for evaluation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A6270"/>
                </a:solidFill>
                <a:latin typeface="Calibri"/>
              </a:rPr>
              <a:t>DRAFTLY_DISABLE_DENSE · _GRAPH · SKIP_CORRECTIVE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45720" cy="457200"/>
          </a:xfrm>
          <a:prstGeom prst="rect">
            <a:avLst/>
          </a:prstGeom>
          <a:solidFill>
            <a:srgbClr val="4A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76672"/>
            <a:ext cx="108996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The index is content-addressed: corpus_fingerprint() hashes the version tag, metadata CSVs and every document's text, so a stale index rebuilds instead of serving drifted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Progress — Corpus and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Figures from README.md 'Corpus status'; both corpus artifacts are generated, and re-running produces byte-identical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722120" cy="93268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23A66"/>
                </a:solidFill>
                <a:latin typeface="Calibri"/>
              </a:rPr>
              <a:t>57 + 18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statutes + amendments in markdown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5352" y="1298448"/>
            <a:ext cx="1722120" cy="93268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23A66"/>
                </a:solidFill>
                <a:latin typeface="Calibri"/>
              </a:rPr>
              <a:t>5,770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sections indexed across 66 statutes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3776" y="1298448"/>
            <a:ext cx="1722120" cy="93268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23A66"/>
                </a:solidFill>
                <a:latin typeface="Calibri"/>
              </a:rPr>
              <a:t>872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amendment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98448"/>
            <a:ext cx="1722120" cy="93268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1B7F6B"/>
                </a:solidFill>
                <a:latin typeface="Calibri"/>
              </a:rPr>
              <a:t>3,703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reported judgments (NLR / SLR)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0624" y="1298448"/>
            <a:ext cx="1722120" cy="93268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1B7F6B"/>
                </a:solidFill>
                <a:latin typeface="Calibri"/>
              </a:rPr>
              <a:t>5,474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unreported SC / CoA judgments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9048" y="1298448"/>
            <a:ext cx="1722120" cy="932688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1B7F6B"/>
                </a:solidFill>
                <a:latin typeface="Calibri"/>
              </a:rPr>
              <a:t>14,665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case→statute mentions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450592"/>
            <a:ext cx="58064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F6B"/>
                </a:solidFill>
                <a:latin typeface="Calibri"/>
              </a:rPr>
              <a:t>BUILT AND WORKING</a:t>
            </a: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Two independent republishers cross-check each other, not two guesses — every entry records heading_source and present_in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50">
                <a:solidFill>
                  <a:srgbClr val="5A6270"/>
                </a:solidFill>
                <a:latin typeface="Calibri"/>
              </a:rPr>
              <a:t>–  That check already paid: one source returned 3 sections for the Marriage Registration Ordinance where the other returned 65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Licence-risk gate: 4,628 of 5,770 sections (80%) survive if the subscription source falls through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Reproducibility gate: 3,523 sections from official sources only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Temporal alignment measured across 1,845 verified links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50">
                <a:solidFill>
                  <a:srgbClr val="5A6270"/>
                </a:solidFill>
                <a:latin typeface="Calibri"/>
              </a:rPr>
              <a:t>–  67.0% applicable · 21.5% superseded since judgment · 11.5% history unknown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50592"/>
            <a:ext cx="495604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STATUTE LINK QUALITY — MOVEMENT THIS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52928"/>
            <a:ext cx="4956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270"/>
                </a:solidFill>
                <a:latin typeface="Calibri"/>
              </a:rPr>
              <a:t>GRADE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127248"/>
            <a:ext cx="4956048" cy="402336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l"/>
            <a:r>
              <a:rPr sz="1300">
                <a:solidFill>
                  <a:srgbClr val="1E222B"/>
                </a:solidFill>
                <a:latin typeface="Calibri"/>
              </a:rPr>
              <a:t>  in-index (section verified)</a:t>
            </a:r>
            <a:r>
              <a:rPr sz="1300" b="1">
                <a:solidFill>
                  <a:srgbClr val="1B7F6B"/>
                </a:solidFill>
                <a:latin typeface="Calibri"/>
              </a:rPr>
              <a:t>        970  →  1,845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584448"/>
            <a:ext cx="495604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l"/>
            <a:r>
              <a:rPr sz="1300">
                <a:solidFill>
                  <a:srgbClr val="1E222B"/>
                </a:solidFill>
                <a:latin typeface="Calibri"/>
              </a:rPr>
              <a:t>  gap-in-index</a:t>
            </a:r>
            <a:r>
              <a:rPr sz="1300" b="1">
                <a:solidFill>
                  <a:srgbClr val="1B7F6B"/>
                </a:solidFill>
                <a:latin typeface="Calibri"/>
              </a:rPr>
              <a:t>        525  →  94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041648"/>
            <a:ext cx="4956048" cy="402336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l"/>
            <a:r>
              <a:rPr sz="1300">
                <a:solidFill>
                  <a:srgbClr val="1E222B"/>
                </a:solidFill>
                <a:latin typeface="Calibri"/>
              </a:rPr>
              <a:t>  statute-not-indexed</a:t>
            </a:r>
            <a:r>
              <a:rPr sz="1300" b="1">
                <a:solidFill>
                  <a:srgbClr val="1B7F6B"/>
                </a:solidFill>
                <a:latin typeface="Calibri"/>
              </a:rPr>
              <a:t>        285  → 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498848"/>
            <a:ext cx="495604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l"/>
            <a:r>
              <a:rPr sz="1300">
                <a:solidFill>
                  <a:srgbClr val="1E222B"/>
                </a:solidFill>
                <a:latin typeface="Calibri"/>
              </a:rPr>
              <a:t>  out-of-range (now visible)</a:t>
            </a:r>
            <a:r>
              <a:rPr sz="1300" b="1">
                <a:solidFill>
                  <a:srgbClr val="B57A1C"/>
                </a:solidFill>
                <a:latin typeface="Calibri"/>
              </a:rPr>
              <a:t>        11  →  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5138928"/>
            <a:ext cx="45720" cy="786384"/>
          </a:xfrm>
          <a:prstGeom prst="rect">
            <a:avLst/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5138928"/>
            <a:ext cx="4791456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270"/>
                </a:solidFill>
                <a:latin typeface="Calibri"/>
              </a:rPr>
              <a:t>Links failing for want of an index entry fell from 810 to 94 — a reduction of 716 (88.4%), against a projected 700. Read the table as a work list, not a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Progress — Retrieval Engine and Rule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122 commits, 10 July – 16 August 2026 · the engine is the only running application in this repository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3602736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F6B"/>
                </a:solidFill>
                <a:latin typeface="Calibri"/>
              </a:rPr>
              <a:t>RETRIEVAL ENGINE  ·  complete</a:t>
            </a: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15 modules under src/draftly/retrieval/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Three-channel search with RRF fusion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Citation gate + entailment verifier + one bounded corrective retry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FastAPI service — /search, /answer, /topics, /sources, /health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Streamlit Q&amp;A demo over the statute corpus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CLI: build · search · ask · evaluate · evaluate-questions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298448"/>
            <a:ext cx="3602736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F6B"/>
                </a:solidFill>
                <a:latin typeface="Calibri"/>
              </a:rPr>
              <a:t>HEADNOTE RULE RECOVERY  ·  complete</a:t>
            </a: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3,521 of 3,703 judgments yield a rule — 95.1% — deterministic and verbatim, no LLM, $0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182 abstain and fall through to the bounded LLM track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531 section bundles: every judgment holding that a given section governs, in date order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00">
                <a:solidFill>
                  <a:srgbClr val="5A6270"/>
                </a:solidFill>
                <a:latin typeface="Calibri"/>
              </a:rPr>
              <a:t>–  Civil Procedure Code s.247 alone carries 46 judgments, 1895–1997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11,739-term topic index over 3,461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1298448"/>
            <a:ext cx="3456432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F6B"/>
                </a:solidFill>
                <a:latin typeface="Calibri"/>
              </a:rPr>
              <a:t>SUPREME COURT PIPELINE  ·  complete</a:t>
            </a: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2,150 judgment PDFs scraped from supremecourt.lk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Narrowed to 776 confirmed conveyancing cases, zero blank cells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principle_statement filled on 95.5% (741 / 776); disposition on 100%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Cost control: 405 cases skipped where regex already had the answer; anchored ~2,300-char windows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Local Ollama → NVIDIA NIM cut per-case latency ~29 s → ~1.4–2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14416"/>
            <a:ext cx="45720" cy="512064"/>
          </a:xfrm>
          <a:prstGeom prst="rect">
            <a:avLst/>
          </a:prstGeom>
          <a:solidFill>
            <a:srgbClr val="B5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14416"/>
            <a:ext cx="1089964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270"/>
                </a:solidFill>
                <a:latin typeface="Calibri"/>
              </a:rPr>
              <a:t>Documented honestly: 35 cases remain without a rule statement after two genuine attempts — recorded as an honest result, not a gap to keep chasing. One regex fix was built, measured, and reverted rather than risk a net-negative change to finalised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What runs today, and where the demo screenshots 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6547104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9B2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9B2C2C"/>
                </a:solidFill>
                <a:latin typeface="Calibri"/>
              </a:rPr>
              <a:t>SCREENSHOT PLACEHOLDER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A6270"/>
                </a:solidFill>
                <a:latin typeface="Calibri"/>
              </a:rPr>
              <a:t>Paste captures here from the draftly-platform repository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5A6270"/>
                </a:solidFill>
                <a:latin typeface="Calibri"/>
              </a:rPr>
              <a:t>(frontend is a separate repository — not in this research repo)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A6270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5A6270"/>
                </a:solidFill>
                <a:latin typeface="Calibri"/>
              </a:rPr>
              <a:t>Suggested: Streamlit Q&amp;A answering a question with citations  ·  FastAPI /answer response  ·  matter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298448"/>
            <a:ext cx="4224528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RUNNABLE TODAY</a:t>
            </a: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uv run python -m draftly.retrieval build</a:t>
            </a: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OCR benchmark harness — shared field schema, normalisation, privacy assertions in code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… ask "What makes a deed valid?"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… serve   (FastAPI, 5 endpoints)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uv run streamlit run apps/statute-retrieval/app.py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1E222B"/>
                </a:solidFill>
                <a:latin typeface="Calibri"/>
              </a:rPr>
              <a:t/>
            </a:r>
          </a:p>
          <a:p>
            <a:pPr algn="l">
              <a:spcBef>
                <a:spcPts val="1000"/>
              </a:spcBef>
              <a:spcAft>
                <a:spcPts val="10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SUPPORTING TOOLING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Layout-driven CommonLII parsers (src/parsers/)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40+ corpus build and harvest scripts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>
                <a:solidFill>
                  <a:srgbClr val="4A6394"/>
                </a:solidFill>
                <a:latin typeface="Calibri"/>
              </a:rPr>
              <a:t>▪  </a:t>
            </a:r>
            <a:r>
              <a:rPr sz="1300">
                <a:solidFill>
                  <a:srgbClr val="1E222B"/>
                </a:solidFill>
                <a:latin typeface="Calibri"/>
              </a:rPr>
              <a:t>7 analysis notebooks (EDA, baselines, rule recovery, extraction)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50992"/>
            <a:ext cx="45720" cy="457200"/>
          </a:xfrm>
          <a:prstGeom prst="rect">
            <a:avLst/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650992"/>
            <a:ext cx="108996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Both privacy rules are enforced in code, not policy: normalize.assert_no_raw_values() and config.assert_inputs_private() fail the run rather than leak client data into a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Testing and Results to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Machine-verified checks only — no legal-correctness claim is made at this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095804" cy="89611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1B7F6B"/>
                </a:solidFill>
                <a:latin typeface="Calibri"/>
              </a:rPr>
              <a:t>53 / 53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tests passing — tests/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9036" y="1298448"/>
            <a:ext cx="2095804" cy="89611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1B7F6B"/>
                </a:solidFill>
                <a:latin typeface="Calibri"/>
              </a:rPr>
              <a:t>34 + 10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OCR bench: passed + skipped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1144" y="1298448"/>
            <a:ext cx="2095804" cy="89611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1B7F6B"/>
                </a:solidFill>
                <a:latin typeface="Calibri"/>
              </a:rPr>
              <a:t>1.00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verbatim quote grounding, all arms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93252" y="1298448"/>
            <a:ext cx="2095804" cy="89611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23A66"/>
                </a:solidFill>
                <a:latin typeface="Calibri"/>
              </a:rPr>
              <a:t>83.3%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best arm accept rate (A)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35360" y="1298448"/>
            <a:ext cx="2095804" cy="89611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300" b="1">
                <a:solidFill>
                  <a:srgbClr val="223A66"/>
                </a:solidFill>
                <a:latin typeface="Calibri"/>
              </a:rPr>
              <a:t>18 / 18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A6270"/>
                </a:solidFill>
                <a:latin typeface="Calibri"/>
              </a:rPr>
              <a:t>exam questions answered, 0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95728"/>
            <a:ext cx="5806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CASE-LAW EXTRACTION ABLATION  ·  n = 30 per 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98064"/>
            <a:ext cx="5806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270"/>
                </a:solidFill>
                <a:latin typeface="Consolas"/>
              </a:rPr>
              <a:t>ARM    SPECIFICATION                                    ACCEPT      GROUNDED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72384"/>
            <a:ext cx="5806440" cy="420624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l"/>
            <a:r>
              <a:rPr sz="1150" b="1">
                <a:solidFill>
                  <a:srgbClr val="1B7F6B"/>
                </a:solidFill>
                <a:latin typeface="Consolas"/>
              </a:rPr>
              <a:t>  A     Llama 3.1 8B · naive head/tail        0.833      1.00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547872"/>
            <a:ext cx="5806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l"/>
            <a:r>
              <a:rPr sz="1150" b="0">
                <a:solidFill>
                  <a:srgbClr val="1E222B"/>
                </a:solidFill>
                <a:latin typeface="Consolas"/>
              </a:rPr>
              <a:t>  B     Llama 3.1 8B · cue-aware window       0.733      1.00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23360"/>
            <a:ext cx="5806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36576" bIns="36576"/>
          <a:lstStyle/>
          <a:p>
            <a:pPr algn="l"/>
            <a:r>
              <a:rPr sz="1150" b="0">
                <a:solidFill>
                  <a:srgbClr val="1E222B"/>
                </a:solidFill>
                <a:latin typeface="Consolas"/>
              </a:rPr>
              <a:t>  C     Llama 3.1 8B · full text              0.633      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90288"/>
            <a:ext cx="5806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Arm A wins on accept rate; grounding is 1.00 everywhere, which is the point — the validator holds regardless of window strategy, so the cheap model is safe to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395728"/>
            <a:ext cx="4956048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B2C2C"/>
                </a:solidFill>
                <a:latin typeface="Calibri"/>
              </a:rPr>
              <a:t>WHAT WE CANNOT YET CLAIM</a:t>
            </a: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9B2C2C"/>
                </a:solidFill>
                <a:latin typeface="Calibri"/>
              </a:rPr>
              <a:t>No accuracy scores exist. Every metrics.json reports scored_questions: 0 and labelled_answers: 0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evaluation/retrieval-gold.csv has zero rows; expected_case_ids is empty everywhere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Recovery rates (95.1%, 95.5%) are yield, not accuracy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Answer quality is machine checks only: 44 verified claims, part coverage 0.507, 4 parts returned insufficient authority</a:t>
            </a:r>
          </a:p>
          <a:p>
            <a:pPr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>
                <a:solidFill>
                  <a:srgbClr val="4A6394"/>
                </a:solidFill>
                <a:latin typeface="Calibri"/>
              </a:rPr>
              <a:t>▪  </a:t>
            </a:r>
            <a:r>
              <a:rPr sz="1350">
                <a:solidFill>
                  <a:srgbClr val="1E222B"/>
                </a:solidFill>
                <a:latin typeface="Calibri"/>
              </a:rPr>
              <a:t>74 lawyer-label rows and a 60-row review sample are still blank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358384"/>
            <a:ext cx="45720" cy="603504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58384"/>
            <a:ext cx="1089964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Pre-registered go criterion: lawyer_legal_precision ≥ 0.9 with strict quote grounding = 1.0. The full extraction run is gated behind it and has not been released.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Challenges and How They Were Addressed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969264"/>
            <a:ext cx="562356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23A66"/>
                </a:solidFill>
                <a:latin typeface="Calibri"/>
              </a:rPr>
              <a:t>No free source carries the missing statute 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270"/>
                </a:solidFill>
                <a:latin typeface="Calibri"/>
              </a:rPr>
              <a:t>documents.gov.lk serves a placeholder, lawnet.gov.lk returns an empty body, and the one republisher paywalls each article part-way through at an unmarked point.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57A1C"/>
                </a:solidFill>
                <a:latin typeface="Calibri"/>
              </a:rPr>
              <a:t>→  </a:t>
            </a:r>
            <a:r>
              <a:rPr sz="1150">
                <a:solidFill>
                  <a:srgbClr val="1E222B"/>
                </a:solidFill>
                <a:latin typeface="Calibri"/>
              </a:rPr>
              <a:t>18 of 20 fetched files stored with body_truncated: true and excluded from the corpus. A section missing from a truncated page is indistinguishable from one that does not exist — so only the arrangement and commencement dates are used.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69264"/>
            <a:ext cx="45720" cy="2139696"/>
          </a:xfrm>
          <a:prstGeom prst="rect">
            <a:avLst/>
          </a:prstGeom>
          <a:solidFill>
            <a:srgbClr val="B5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9944" y="969264"/>
            <a:ext cx="562356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23A66"/>
                </a:solidFill>
                <a:latin typeface="Calibri"/>
              </a:rPr>
              <a:t>Free-tier model quotas stalled two runs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270"/>
                </a:solidFill>
                <a:latin typeface="Calibri"/>
              </a:rPr>
              <a:t>The OCR benchmark and the SC/CoA extraction pilot both returned 401 UNAUTHENTICATED; zero fields scored, zero rules extracted from 5,474 judgments.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9B2C2C"/>
                </a:solidFill>
                <a:latin typeface="Calibri"/>
              </a:rPr>
              <a:t>→  </a:t>
            </a:r>
            <a:r>
              <a:rPr sz="1150">
                <a:solidFill>
                  <a:srgbClr val="1E222B"/>
                </a:solidFill>
                <a:latin typeface="Calibri"/>
              </a:rPr>
              <a:t>Recorded as failed runs rather than quietly dropped. Long evaluations moved early in each window and every stage checkpointed for resume. Credential fix is scheduled work, not a background hope.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9944" y="969264"/>
            <a:ext cx="45720" cy="2139696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291840"/>
            <a:ext cx="562356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23A66"/>
                </a:solidFill>
                <a:latin typeface="Calibri"/>
              </a:rPr>
              <a:t>Local LLM inference was too slow to be viable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270"/>
                </a:solidFill>
                <a:latin typeface="Calibri"/>
              </a:rPr>
              <a:t>Measured ~110 tok/s prefill and 19–20 tok/s generation — 45–70 s per case, projecting 27–42 hours for the backlog.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7F6B"/>
                </a:solidFill>
                <a:latin typeface="Calibri"/>
              </a:rPr>
              <a:t>→  </a:t>
            </a:r>
            <a:r>
              <a:rPr sz="1150">
                <a:solidFill>
                  <a:srgbClr val="1E222B"/>
                </a:solidFill>
                <a:latin typeface="Calibri"/>
              </a:rPr>
              <a:t>Targeted windows and skip-if-already-known cut it to ~29 s, then the move to NVIDIA NIM took it to ~1.4–2 s — 15–20× faster with the grounding gate unchanged.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91840"/>
            <a:ext cx="45720" cy="2139696"/>
          </a:xfrm>
          <a:prstGeom prst="rect">
            <a:avLst/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9944" y="3291840"/>
            <a:ext cx="5623560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28016" bIns="36576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23A66"/>
                </a:solidFill>
                <a:latin typeface="Calibri"/>
              </a:rPr>
              <a:t>Two extractions of the same PDF disagree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6270"/>
                </a:solidFill>
                <a:latin typeface="Calibri"/>
              </a:rPr>
              <a:t>The generated section index holds 801 Civil Procedure Code sections; the live retrieval index holds 103, all marked parsed.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57A1C"/>
                </a:solidFill>
                <a:latin typeface="Calibri"/>
              </a:rPr>
              <a:t>→  </a:t>
            </a:r>
            <a:r>
              <a:rPr sz="1150">
                <a:solidFill>
                  <a:srgbClr val="1E222B"/>
                </a:solidFill>
                <a:latin typeface="Calibri"/>
              </a:rPr>
              <a:t>The gap is now measurable rather than hidden, because every entry is source-labelled. Fix is next in the queue, with a build assertion so a thin index fails loudly instead of quietly.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9944" y="3291840"/>
            <a:ext cx="45720" cy="2139696"/>
          </a:xfrm>
          <a:prstGeom prst="rect">
            <a:avLst/>
          </a:prstGeom>
          <a:solidFill>
            <a:srgbClr val="B5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Remaining Work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Work packages and dates from proj-docs/project Management/grantt-blueprint.md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700784"/>
            <a:ext cx="3181883" cy="25603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23A66"/>
                </a:solidFill>
                <a:latin typeface="Calibri"/>
              </a:rPr>
              <a:t>AUGUST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011" y="1700784"/>
            <a:ext cx="3079242" cy="25603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23A66"/>
                </a:solidFill>
                <a:latin typeface="Calibri"/>
              </a:rPr>
              <a:t>SEPTEMBER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71253" y="1700784"/>
            <a:ext cx="1950186" cy="256032"/>
          </a:xfrm>
          <a:prstGeom prst="rect">
            <a:avLst/>
          </a:prstGeom>
          <a:solidFill>
            <a:srgbClr val="F4F6FA"/>
          </a:solidFill>
          <a:ln w="9525">
            <a:solidFill>
              <a:srgbClr val="DFE4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23A66"/>
                </a:solidFill>
                <a:latin typeface="Calibri"/>
              </a:rPr>
              <a:t>OCTOBER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2390" y="1700784"/>
            <a:ext cx="16459" cy="3968496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8342" y="5742432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2C2C"/>
                </a:solidFill>
                <a:latin typeface="Calibri"/>
              </a:rPr>
              <a:t>17 Aug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57399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A6394"/>
                </a:solidFill>
                <a:latin typeface="Calibri"/>
              </a:rPr>
              <a:t>R3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057399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Benchmark construction (~100 qs)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2039111"/>
            <a:ext cx="8211312" cy="256032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6542" y="2084831"/>
            <a:ext cx="2463393" cy="182880"/>
          </a:xfrm>
          <a:prstGeom prst="roundRect">
            <a:avLst>
              <a:gd name="adj" fmla="val 45000"/>
            </a:avLst>
          </a:prstGeom>
          <a:solidFill>
            <a:srgbClr val="4A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45435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A6394"/>
                </a:solidFill>
                <a:latin typeface="Calibri"/>
              </a:rPr>
              <a:t>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2345435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Gold labelling + agreement (κ)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2390" y="2372867"/>
            <a:ext cx="2566035" cy="182880"/>
          </a:xfrm>
          <a:prstGeom prst="roundRect">
            <a:avLst>
              <a:gd name="adj" fmla="val 45000"/>
            </a:avLst>
          </a:prstGeom>
          <a:solidFill>
            <a:srgbClr val="4A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633471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A6394"/>
                </a:solidFill>
                <a:latin typeface="Calibri"/>
              </a:rPr>
              <a:t>R5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2633471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Battle-testing and ablations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2615183"/>
            <a:ext cx="8211312" cy="256032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89370" y="2660903"/>
            <a:ext cx="2566035" cy="182880"/>
          </a:xfrm>
          <a:prstGeom prst="roundRect">
            <a:avLst>
              <a:gd name="adj" fmla="val 45000"/>
            </a:avLst>
          </a:prstGeom>
          <a:solidFill>
            <a:srgbClr val="4A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921507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A6394"/>
                </a:solidFill>
                <a:latin typeface="Calibri"/>
              </a:rPr>
              <a:t>R6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2921507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External baselines on our corpus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07859" y="2948939"/>
            <a:ext cx="1847545" cy="182880"/>
          </a:xfrm>
          <a:prstGeom prst="roundRect">
            <a:avLst>
              <a:gd name="adj" fmla="val 45000"/>
            </a:avLst>
          </a:prstGeom>
          <a:solidFill>
            <a:srgbClr val="4A6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209543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6B"/>
                </a:solidFill>
                <a:latin typeface="Calibri"/>
              </a:rPr>
              <a:t>P2–P4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" y="3209543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Platform wiring behind each surface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0128" y="3191255"/>
            <a:ext cx="8211312" cy="256032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33900" y="3236975"/>
            <a:ext cx="4003014" cy="182880"/>
          </a:xfrm>
          <a:prstGeom prst="roundRect">
            <a:avLst>
              <a:gd name="adj" fmla="val 45000"/>
            </a:avLst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497579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6B"/>
                </a:solidFill>
                <a:latin typeface="Calibri"/>
              </a:rPr>
              <a:t>P5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" y="3497579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Checks engine + rule catalogue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0880" y="3525011"/>
            <a:ext cx="2566035" cy="182880"/>
          </a:xfrm>
          <a:prstGeom prst="roundRect">
            <a:avLst>
              <a:gd name="adj" fmla="val 45000"/>
            </a:avLst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785615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B7F6B"/>
                </a:solidFill>
                <a:latin typeface="Calibri"/>
              </a:rPr>
              <a:t>P6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5296" y="3785615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Form 8, export, approval gate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0128" y="3767327"/>
            <a:ext cx="8211312" cy="256032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89370" y="3813047"/>
            <a:ext cx="1847545" cy="182880"/>
          </a:xfrm>
          <a:prstGeom prst="roundRect">
            <a:avLst>
              <a:gd name="adj" fmla="val 45000"/>
            </a:avLst>
          </a:prstGeom>
          <a:solidFill>
            <a:srgbClr val="1B7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073651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57A1C"/>
                </a:solidFill>
                <a:latin typeface="Calibri"/>
              </a:rPr>
              <a:t>X2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4073651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Document AI field extraction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52390" y="4101083"/>
            <a:ext cx="3284524" cy="182880"/>
          </a:xfrm>
          <a:prstGeom prst="roundRect">
            <a:avLst>
              <a:gd name="adj" fmla="val 45000"/>
            </a:avLst>
          </a:prstGeom>
          <a:solidFill>
            <a:srgbClr val="B5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4361687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B2C2C"/>
                </a:solidFill>
                <a:latin typeface="Calibri"/>
              </a:rPr>
              <a:t>I1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5296" y="4361687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P0 demo path end to 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4343399"/>
            <a:ext cx="8211312" cy="256032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07859" y="4389119"/>
            <a:ext cx="1847545" cy="182880"/>
          </a:xfrm>
          <a:prstGeom prst="roundRect">
            <a:avLst>
              <a:gd name="adj" fmla="val 45000"/>
            </a:avLst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4649723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B2C2C"/>
                </a:solidFill>
                <a:latin typeface="Calibri"/>
              </a:rPr>
              <a:t>I3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5296" y="4649723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Holdout evaluation + 11 gates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26349" y="4677155"/>
            <a:ext cx="1334338" cy="182880"/>
          </a:xfrm>
          <a:prstGeom prst="roundRect">
            <a:avLst>
              <a:gd name="adj" fmla="val 45000"/>
            </a:avLst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4937759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270"/>
                </a:solidFill>
                <a:latin typeface="Calibri"/>
              </a:rPr>
              <a:t>D9–D10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5296" y="4937759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Test plan → test report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10128" y="4919471"/>
            <a:ext cx="8211312" cy="256032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07859" y="4965191"/>
            <a:ext cx="1847545" cy="182880"/>
          </a:xfrm>
          <a:prstGeom prst="roundRect">
            <a:avLst>
              <a:gd name="adj" fmla="val 45000"/>
            </a:avLst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5225795"/>
            <a:ext cx="658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270"/>
                </a:solidFill>
                <a:latin typeface="Calibri"/>
              </a:rPr>
              <a:t>D11–D12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5296" y="5225795"/>
            <a:ext cx="2029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222B"/>
                </a:solidFill>
                <a:latin typeface="Calibri"/>
              </a:rPr>
              <a:t>Final report, demo, viva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44839" y="5253227"/>
            <a:ext cx="2873959" cy="182880"/>
          </a:xfrm>
          <a:prstGeom prst="roundRect">
            <a:avLst>
              <a:gd name="adj" fmla="val 45000"/>
            </a:avLst>
          </a:prstGeom>
          <a:solidFill>
            <a:srgbClr val="5A6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92011" y="2011680"/>
            <a:ext cx="9144" cy="3657600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71253" y="2011680"/>
            <a:ext cx="9144" cy="3657600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5724144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4A6394"/>
                </a:solidFill>
                <a:latin typeface="Calibri"/>
              </a:rPr>
              <a:t>■ Research   </a:t>
            </a:r>
            <a:r>
              <a:rPr sz="1000" b="1">
                <a:solidFill>
                  <a:srgbClr val="1B7F6B"/>
                </a:solidFill>
                <a:latin typeface="Calibri"/>
              </a:rPr>
              <a:t>■ Platform   </a:t>
            </a:r>
            <a:r>
              <a:rPr sz="1000" b="1">
                <a:solidFill>
                  <a:srgbClr val="B57A1C"/>
                </a:solidFill>
                <a:latin typeface="Calibri"/>
              </a:rPr>
              <a:t>■ Extraction   </a:t>
            </a:r>
            <a:r>
              <a:rPr sz="1000" b="1">
                <a:solidFill>
                  <a:srgbClr val="9B2C2C"/>
                </a:solidFill>
                <a:latin typeface="Calibri"/>
              </a:rPr>
              <a:t>■ Integration   </a:t>
            </a:r>
            <a:r>
              <a:rPr sz="1000" b="1">
                <a:solidFill>
                  <a:srgbClr val="5A6270"/>
                </a:solidFill>
                <a:latin typeface="Calibri"/>
              </a:rPr>
              <a:t>■ Documentation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705856"/>
            <a:ext cx="34015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A6270"/>
                </a:solidFill>
                <a:latin typeface="Calibri"/>
              </a:rPr>
              <a:t>Viva 28 Sep – 2 Oct (fixed) · final artefacts to 19 Oct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Conclusion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69264"/>
            <a:ext cx="56235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7F6B"/>
                </a:solidFill>
                <a:latin typeface="Calibri"/>
              </a:rPr>
              <a:t>WHERE WE STAND</a:t>
            </a: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The data layer is built and reproducible — the corpus, section index and amendment actions all regenerate byte-identically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The retrieval engine runs end to end, with scope and grounding enforced in code rather than by convention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Rule extraction works on both tracks: deterministic recovery at 95.1% yield, and a bounded LLM track whose validator holds at 1.00 grounding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>
                <a:solidFill>
                  <a:srgbClr val="4A6394"/>
                </a:solidFill>
                <a:latin typeface="Calibri"/>
              </a:rPr>
              <a:t>▪  </a:t>
            </a:r>
            <a:r>
              <a:rPr sz="1450">
                <a:solidFill>
                  <a:srgbClr val="1E222B"/>
                </a:solidFill>
                <a:latin typeface="Calibri"/>
              </a:rPr>
              <a:t>The project's honesty discipline is intact — every unmeasured thing is labelled unmeasured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969264"/>
            <a:ext cx="513892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IMMEDIATE NEXT STEPS  ·  ordered by what unblocks what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1.  </a:t>
            </a:r>
            <a:r>
              <a:rPr sz="1450">
                <a:solidFill>
                  <a:srgbClr val="1E222B"/>
                </a:solidFill>
                <a:latin typeface="Calibri"/>
              </a:rPr>
              <a:t>Build the evaluation gold set (~50 questions) — nothing can be measured, tuned or reported until this exists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2.  </a:t>
            </a:r>
            <a:r>
              <a:rPr sz="1450">
                <a:solidFill>
                  <a:srgbClr val="1E222B"/>
                </a:solidFill>
                <a:latin typeface="Calibri"/>
              </a:rPr>
              <a:t>Fix section_parser.py against the Civil Procedure Code, with a build assertion so a thin index fails loudly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3.  </a:t>
            </a:r>
            <a:r>
              <a:rPr sz="1450">
                <a:solidFill>
                  <a:srgbClr val="1E222B"/>
                </a:solidFill>
                <a:latin typeface="Calibri"/>
              </a:rPr>
              <a:t>Get lawyer sign-off against the pre-registered criterion; the full extraction run is gated behind it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4.  </a:t>
            </a:r>
            <a:r>
              <a:rPr sz="1450">
                <a:solidFill>
                  <a:srgbClr val="1E222B"/>
                </a:solidFill>
                <a:latin typeface="Calibri"/>
              </a:rPr>
              <a:t>Fix credentials, re-run the SC/CoA pilot, and confirm the gate rejects an injected fabricated quote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450" b="1">
                <a:solidFill>
                  <a:srgbClr val="C9A227"/>
                </a:solidFill>
                <a:latin typeface="Calibri"/>
              </a:rPr>
              <a:t>5.  </a:t>
            </a:r>
            <a:r>
              <a:rPr sz="1450">
                <a:solidFill>
                  <a:srgbClr val="1E222B"/>
                </a:solidFill>
                <a:latin typeface="Calibri"/>
              </a:rPr>
              <a:t>Build authority ranking — the most novel component relative to the literature, and currently unbuilt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504688"/>
            <a:ext cx="45720" cy="548640"/>
          </a:xfrm>
          <a:prstGeom prst="rect">
            <a:avLst/>
          </a:prstGeom>
          <a:solidFill>
            <a:srgbClr val="B57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04688"/>
            <a:ext cx="108996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A6270"/>
                </a:solidFill>
                <a:latin typeface="Calibri"/>
              </a:rPr>
              <a:t>Risk we are managing: mentor availability paces every verification gate. Review packs are batched into three checkpoints and booked in advance; if a pack slips, the dependent work package slips with it — nothing unverified is promoted in its place.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50292" cy="420624"/>
          </a:xfrm>
          <a:prstGeom prst="rect">
            <a:avLst/>
          </a:prstGeom>
          <a:solidFill>
            <a:srgbClr val="22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6576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23A66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A6270"/>
                </a:solidFill>
                <a:latin typeface="Calibri"/>
              </a:rPr>
              <a:t>As recorded in proj-docs/project Management/retrieval-engine-methodology.md and the project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199632"/>
            <a:ext cx="11064240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09360"/>
            <a:ext cx="9692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270"/>
                </a:solidFill>
                <a:latin typeface="Calibri"/>
              </a:rPr>
              <a:t>In23-S5-CS3501 (130134)  ·  Progress Evaluation  · 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09360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3A66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56235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METHOD AND EVALUATION LITERATURE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[1]  </a:t>
            </a:r>
            <a:r>
              <a:rPr sz="1250">
                <a:solidFill>
                  <a:srgbClr val="1E222B"/>
                </a:solidFill>
                <a:latin typeface="Calibri"/>
              </a:rPr>
              <a:t>HippoRAG — personalised PageRank over a citation graph for multi-hop retrieval. arXiv:2405.14831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[2]  </a:t>
            </a:r>
            <a:r>
              <a:rPr sz="1250">
                <a:solidFill>
                  <a:srgbClr val="1E222B"/>
                </a:solidFill>
                <a:latin typeface="Calibri"/>
              </a:rPr>
              <a:t>CLERC — mask-a-citation gold sets and closed-corpus hallucination metrics for legal retrieval. arXiv:2406.17186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[3]  </a:t>
            </a:r>
            <a:r>
              <a:rPr sz="1250">
                <a:solidFill>
                  <a:srgbClr val="1E222B"/>
                </a:solidFill>
                <a:latin typeface="Calibri"/>
              </a:rPr>
              <a:t>NyayGraph — knowledge-graph expansion for Indian legal statute retrieval. Proc. NLLP, 2025.nllp-1.11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[4]  </a:t>
            </a:r>
            <a:r>
              <a:rPr sz="1250">
                <a:solidFill>
                  <a:srgbClr val="1E222B"/>
                </a:solidFill>
                <a:latin typeface="Calibri"/>
              </a:rPr>
              <a:t>IL-PCSR — cross-task injection for prior-case and statute retrieval. arXiv:2511.00268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[5]  </a:t>
            </a:r>
            <a:r>
              <a:rPr sz="1250">
                <a:solidFill>
                  <a:srgbClr val="1E222B"/>
                </a:solidFill>
                <a:latin typeface="Calibri"/>
              </a:rPr>
              <a:t>RAPTOR — recursive abstractive processing for tree-organised retrieval. arXiv:2401.18059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[6]  </a:t>
            </a:r>
            <a:r>
              <a:rPr sz="1250">
                <a:solidFill>
                  <a:srgbClr val="1E222B"/>
                </a:solidFill>
                <a:latin typeface="Calibri"/>
              </a:rPr>
              <a:t>Topic-partitioned sub-indexes for scope-first retrieval. arXiv:2502.20364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[7]  </a:t>
            </a:r>
            <a:r>
              <a:rPr sz="1250">
                <a:solidFill>
                  <a:srgbClr val="1E222B"/>
                </a:solidFill>
                <a:latin typeface="Calibri"/>
              </a:rPr>
              <a:t>Dated section-versions and amendment events as first-class records. arXiv:2505.00039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[8]  </a:t>
            </a:r>
            <a:r>
              <a:rPr sz="1250">
                <a:solidFill>
                  <a:srgbClr val="1E222B"/>
                </a:solidFill>
                <a:latin typeface="Calibri"/>
              </a:rPr>
              <a:t>Metadata-as-nodes for multi-hop traversal and authority ranking. arXiv:2506.22165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98448"/>
            <a:ext cx="5138928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223A66"/>
                </a:solidFill>
                <a:latin typeface="Calibri"/>
              </a:rPr>
              <a:t>LEGAL SOURCES AND COMPARABLE SYSTEMS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[9]  </a:t>
            </a:r>
            <a:r>
              <a:rPr sz="1250">
                <a:solidFill>
                  <a:srgbClr val="1E222B"/>
                </a:solidFill>
                <a:latin typeface="Calibri"/>
              </a:rPr>
              <a:t>Registration of Title Act, No. 21 of 1998 (Sri Lanka) — the "Bim Saviya" title-registration programme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[10]  </a:t>
            </a:r>
            <a:r>
              <a:rPr sz="1250">
                <a:solidFill>
                  <a:srgbClr val="1E222B"/>
                </a:solidFill>
                <a:latin typeface="Calibri"/>
              </a:rPr>
              <a:t>Legislative Enactments of Sri Lanka — statute text and arrangement of sections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[11]  </a:t>
            </a:r>
            <a:r>
              <a:rPr sz="1250">
                <a:solidFill>
                  <a:srgbClr val="1E222B"/>
                </a:solidFill>
                <a:latin typeface="Calibri"/>
              </a:rPr>
              <a:t>CommonLII — New Law Reports and Sri Lanka Law Reports archive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[12]  </a:t>
            </a:r>
            <a:r>
              <a:rPr sz="1250">
                <a:solidFill>
                  <a:srgbClr val="1E222B"/>
                </a:solidFill>
                <a:latin typeface="Calibri"/>
              </a:rPr>
              <a:t>Supreme Court of Sri Lanka — supremecourt.lk judgment archive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[13]  </a:t>
            </a:r>
            <a:r>
              <a:rPr sz="1250">
                <a:solidFill>
                  <a:srgbClr val="1E222B"/>
                </a:solidFill>
                <a:latin typeface="Calibri"/>
              </a:rPr>
              <a:t>LawLanka; LawCeylon; Paralegal.lk; AI PAZZ — Sri Lankan legal research platforms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[14]  </a:t>
            </a:r>
            <a:r>
              <a:rPr sz="1250">
                <a:solidFill>
                  <a:srgbClr val="1E222B"/>
                </a:solidFill>
                <a:latin typeface="Calibri"/>
              </a:rPr>
              <a:t>Harvey (harvey.ai) — international AI-assisted legal workspace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[15]  </a:t>
            </a:r>
            <a:r>
              <a:rPr sz="1250">
                <a:solidFill>
                  <a:srgbClr val="1E222B"/>
                </a:solidFill>
                <a:latin typeface="Calibri"/>
              </a:rPr>
              <a:t>Legora aOS — agentic operating system for legal work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50" b="1">
                <a:solidFill>
                  <a:srgbClr val="4A6394"/>
                </a:solidFill>
                <a:latin typeface="Calibri"/>
              </a:rPr>
              <a:t>[16]  </a:t>
            </a:r>
            <a:r>
              <a:rPr sz="1250">
                <a:solidFill>
                  <a:srgbClr val="1E222B"/>
                </a:solidFill>
                <a:latin typeface="Calibri"/>
              </a:rPr>
              <a:t>Orbital Copilot — title and survey workflow 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541264"/>
            <a:ext cx="45720" cy="457200"/>
          </a:xfrm>
          <a:prstGeom prst="rect">
            <a:avLst/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41264"/>
            <a:ext cx="108996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270"/>
                </a:solidFill>
                <a:latin typeface="Calibri"/>
              </a:rPr>
              <a:t>Citation keys are reproduced as recorded in the project's methodology document. Expand to the module's required citation style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