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charset="1" panose="00000500000000000000"/>
      <p:regular r:id="rId19"/>
    </p:embeddedFont>
    <p:embeddedFont>
      <p:font typeface="Open Sauce Bold" charset="1" panose="00000800000000000000"/>
      <p:regular r:id="rId20"/>
    </p:embeddedFont>
    <p:embeddedFont>
      <p:font typeface="Open Sauce Italic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Final Project</a:t>
            </a:r>
          </a:p>
          <a:p>
            <a:pPr algn="l">
              <a:lnSpc>
                <a:spcPts val="13040"/>
              </a:lnSpc>
            </a:pPr>
            <a:r>
              <a:rPr lang="en-US" sz="13040" spc="-782">
                <a:solidFill>
                  <a:srgbClr val="331B0D"/>
                </a:solidFill>
                <a:latin typeface="Open Sauce"/>
                <a:ea typeface="Open Sauce"/>
                <a:cs typeface="Open Sauce"/>
                <a:sym typeface="Open Sauce"/>
              </a:rPr>
              <a:t>Presentation</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A</a:t>
            </a:r>
          </a:p>
        </p:txBody>
      </p:sp>
      <p:sp>
        <p:nvSpPr>
          <p:cNvPr name="TextBox 4" id="4"/>
          <p:cNvSpPr txBox="true"/>
          <p:nvPr/>
        </p:nvSpPr>
        <p:spPr>
          <a:xfrm rot="0">
            <a:off x="12698616" y="7778115"/>
            <a:ext cx="4560684" cy="1480185"/>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rPr>
              <a:t>Drew Feig</a:t>
            </a:r>
          </a:p>
          <a:p>
            <a:pPr algn="r">
              <a:lnSpc>
                <a:spcPts val="2940"/>
              </a:lnSpc>
            </a:pPr>
            <a:r>
              <a:rPr lang="en-US" sz="2100">
                <a:solidFill>
                  <a:srgbClr val="331B0D"/>
                </a:solidFill>
                <a:latin typeface="Open Sauce"/>
                <a:ea typeface="Open Sauce"/>
                <a:cs typeface="Open Sauce"/>
                <a:sym typeface="Open Sauce"/>
              </a:rPr>
              <a:t>Eleanor Fitzgerald</a:t>
            </a:r>
          </a:p>
          <a:p>
            <a:pPr algn="r">
              <a:lnSpc>
                <a:spcPts val="2940"/>
              </a:lnSpc>
            </a:pPr>
            <a:r>
              <a:rPr lang="en-US" sz="2100">
                <a:solidFill>
                  <a:srgbClr val="331B0D"/>
                </a:solidFill>
                <a:latin typeface="Open Sauce"/>
                <a:ea typeface="Open Sauce"/>
                <a:cs typeface="Open Sauce"/>
                <a:sym typeface="Open Sauce"/>
              </a:rPr>
              <a:t>Estelle Darcy</a:t>
            </a:r>
          </a:p>
          <a:p>
            <a:pPr algn="r">
              <a:lnSpc>
                <a:spcPts val="2940"/>
              </a:lnSpc>
            </a:pPr>
            <a:r>
              <a:rPr lang="en-US" sz="2100">
                <a:solidFill>
                  <a:srgbClr val="331B0D"/>
                </a:solidFill>
                <a:latin typeface="Open Sauce"/>
                <a:ea typeface="Open Sauce"/>
                <a:cs typeface="Open Sauce"/>
                <a:sym typeface="Open Sauce"/>
              </a:rPr>
              <a:t>Donna Stroupe</a:t>
            </a:r>
          </a:p>
        </p:txBody>
      </p:sp>
      <p:sp>
        <p:nvSpPr>
          <p:cNvPr name="TextBox 5" id="5"/>
          <p:cNvSpPr txBox="true"/>
          <p:nvPr/>
        </p:nvSpPr>
        <p:spPr>
          <a:xfrm rot="0">
            <a:off x="1028700" y="1057275"/>
            <a:ext cx="4560684"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Studio Shodw</a:t>
            </a:r>
            <a:r>
              <a:rPr lang="en-US" b="true" sz="1800" spc="179">
                <a:solidFill>
                  <a:srgbClr val="8C7753"/>
                </a:solidFill>
                <a:latin typeface="Open Sauce Bold"/>
                <a:ea typeface="Open Sauce Bold"/>
                <a:cs typeface="Open Sauce Bold"/>
                <a:sym typeface="Open Sauce Bold"/>
              </a:rPr>
              <a: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860684"/>
            <a:ext cx="1050505" cy="1263766"/>
          </a:xfrm>
          <a:custGeom>
            <a:avLst/>
            <a:gdLst/>
            <a:ahLst/>
            <a:cxnLst/>
            <a:rect r="r" b="b" t="t" l="l"/>
            <a:pathLst>
              <a:path h="1263766" w="1050505">
                <a:moveTo>
                  <a:pt x="0" y="0"/>
                </a:moveTo>
                <a:lnTo>
                  <a:pt x="1050505" y="0"/>
                </a:lnTo>
                <a:lnTo>
                  <a:pt x="1050505" y="1263766"/>
                </a:lnTo>
                <a:lnTo>
                  <a:pt x="0" y="1263766"/>
                </a:lnTo>
                <a:lnTo>
                  <a:pt x="0" y="0"/>
                </a:lnTo>
                <a:close/>
              </a:path>
            </a:pathLst>
          </a:custGeom>
          <a:blipFill>
            <a:blip r:embed="rId2"/>
            <a:stretch>
              <a:fillRect l="0" t="0" r="0" b="0"/>
            </a:stretch>
          </a:blipFill>
        </p:spPr>
      </p:sp>
      <p:sp>
        <p:nvSpPr>
          <p:cNvPr name="Freeform 3" id="3"/>
          <p:cNvSpPr/>
          <p:nvPr/>
        </p:nvSpPr>
        <p:spPr>
          <a:xfrm flipH="false" flipV="false" rot="0">
            <a:off x="12949128" y="3365384"/>
            <a:ext cx="811369" cy="1759066"/>
          </a:xfrm>
          <a:custGeom>
            <a:avLst/>
            <a:gdLst/>
            <a:ahLst/>
            <a:cxnLst/>
            <a:rect r="r" b="b" t="t" l="l"/>
            <a:pathLst>
              <a:path h="1759066" w="811369">
                <a:moveTo>
                  <a:pt x="0" y="0"/>
                </a:moveTo>
                <a:lnTo>
                  <a:pt x="811369" y="0"/>
                </a:lnTo>
                <a:lnTo>
                  <a:pt x="811369" y="1759066"/>
                </a:lnTo>
                <a:lnTo>
                  <a:pt x="0" y="1759066"/>
                </a:lnTo>
                <a:lnTo>
                  <a:pt x="0" y="0"/>
                </a:lnTo>
                <a:close/>
              </a:path>
            </a:pathLst>
          </a:custGeom>
          <a:blipFill>
            <a:blip r:embed="rId3"/>
            <a:stretch>
              <a:fillRect l="0" t="0" r="0" b="0"/>
            </a:stretch>
          </a:blipFill>
        </p:spPr>
      </p:sp>
      <p:sp>
        <p:nvSpPr>
          <p:cNvPr name="Freeform 4" id="4"/>
          <p:cNvSpPr/>
          <p:nvPr/>
        </p:nvSpPr>
        <p:spPr>
          <a:xfrm flipH="false" flipV="false" rot="0">
            <a:off x="6988914" y="3860684"/>
            <a:ext cx="1117351" cy="1151414"/>
          </a:xfrm>
          <a:custGeom>
            <a:avLst/>
            <a:gdLst/>
            <a:ahLst/>
            <a:cxnLst/>
            <a:rect r="r" b="b" t="t" l="l"/>
            <a:pathLst>
              <a:path h="1151414" w="1117351">
                <a:moveTo>
                  <a:pt x="0" y="0"/>
                </a:moveTo>
                <a:lnTo>
                  <a:pt x="1117351" y="0"/>
                </a:lnTo>
                <a:lnTo>
                  <a:pt x="1117351" y="1151414"/>
                </a:lnTo>
                <a:lnTo>
                  <a:pt x="0" y="1151414"/>
                </a:lnTo>
                <a:lnTo>
                  <a:pt x="0" y="0"/>
                </a:lnTo>
                <a:close/>
              </a:path>
            </a:pathLst>
          </a:custGeom>
          <a:blipFill>
            <a:blip r:embed="rId4"/>
            <a:stretch>
              <a:fillRect l="0" t="0" r="0" b="0"/>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Overview</a:t>
            </a:r>
          </a:p>
        </p:txBody>
      </p:sp>
      <p:sp>
        <p:nvSpPr>
          <p:cNvPr name="TextBox 6" id="6"/>
          <p:cNvSpPr txBox="true"/>
          <p:nvPr/>
        </p:nvSpPr>
        <p:spPr>
          <a:xfrm rot="0">
            <a:off x="1028700"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a:t>
            </a:r>
            <a:r>
              <a:rPr lang="en-US" sz="2400">
                <a:solidFill>
                  <a:srgbClr val="8C7753"/>
                </a:solidFill>
                <a:latin typeface="Open Sauce"/>
                <a:ea typeface="Open Sauce"/>
                <a:cs typeface="Open Sauce"/>
                <a:sym typeface="Open Sauce"/>
              </a:rPr>
              <a:t>roblem</a:t>
            </a:r>
          </a:p>
        </p:txBody>
      </p:sp>
      <p:sp>
        <p:nvSpPr>
          <p:cNvPr name="TextBox 7" id="7"/>
          <p:cNvSpPr txBox="true"/>
          <p:nvPr/>
        </p:nvSpPr>
        <p:spPr>
          <a:xfrm rot="0">
            <a:off x="1028700"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n</a:t>
            </a:r>
            <a:r>
              <a:rPr lang="en-US" sz="2100">
                <a:solidFill>
                  <a:srgbClr val="331B0D"/>
                </a:solidFill>
                <a:latin typeface="Open Sauce"/>
                <a:ea typeface="Open Sauce"/>
                <a:cs typeface="Open Sauce"/>
                <a:sym typeface="Open Sauce"/>
              </a:rPr>
              <a:t>oticed that many students struggle with staying organized during final exams, leading to stress and missed deadlines.</a:t>
            </a:r>
          </a:p>
        </p:txBody>
      </p:sp>
      <p:sp>
        <p:nvSpPr>
          <p:cNvPr name="TextBox 8" id="8"/>
          <p:cNvSpPr txBox="true"/>
          <p:nvPr/>
        </p:nvSpPr>
        <p:spPr>
          <a:xfrm rot="0">
            <a:off x="6988914"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Solution</a:t>
            </a:r>
          </a:p>
        </p:txBody>
      </p:sp>
      <p:sp>
        <p:nvSpPr>
          <p:cNvPr name="TextBox 9" id="9"/>
          <p:cNvSpPr txBox="true"/>
          <p:nvPr/>
        </p:nvSpPr>
        <p:spPr>
          <a:xfrm rot="0">
            <a:off x="6988914" y="6425565"/>
            <a:ext cx="4310172" cy="18516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design</a:t>
            </a:r>
            <a:r>
              <a:rPr lang="en-US" sz="2100">
                <a:solidFill>
                  <a:srgbClr val="331B0D"/>
                </a:solidFill>
                <a:latin typeface="Open Sauce"/>
                <a:ea typeface="Open Sauce"/>
                <a:cs typeface="Open Sauce"/>
                <a:sym typeface="Open Sauce"/>
              </a:rPr>
              <a:t>ed a digital planner system specifically for university students to help manage tasks, track deadlines, and reduce stress.</a:t>
            </a:r>
          </a:p>
        </p:txBody>
      </p:sp>
      <p:sp>
        <p:nvSpPr>
          <p:cNvPr name="TextBox 10" id="10"/>
          <p:cNvSpPr txBox="true"/>
          <p:nvPr/>
        </p:nvSpPr>
        <p:spPr>
          <a:xfrm rot="0">
            <a:off x="12949128"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Why It Matte</a:t>
            </a:r>
            <a:r>
              <a:rPr lang="en-US" sz="2400">
                <a:solidFill>
                  <a:srgbClr val="8C7753"/>
                </a:solidFill>
                <a:latin typeface="Open Sauce"/>
                <a:ea typeface="Open Sauce"/>
                <a:cs typeface="Open Sauce"/>
                <a:sym typeface="Open Sauce"/>
              </a:rPr>
              <a:t>rs</a:t>
            </a:r>
          </a:p>
        </p:txBody>
      </p:sp>
      <p:sp>
        <p:nvSpPr>
          <p:cNvPr name="TextBox 11" id="11"/>
          <p:cNvSpPr txBox="true"/>
          <p:nvPr/>
        </p:nvSpPr>
        <p:spPr>
          <a:xfrm rot="0">
            <a:off x="12949128"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By making </a:t>
            </a:r>
            <a:r>
              <a:rPr lang="en-US" sz="2100">
                <a:solidFill>
                  <a:srgbClr val="331B0D"/>
                </a:solidFill>
                <a:latin typeface="Open Sauce"/>
                <a:ea typeface="Open Sauce"/>
                <a:cs typeface="Open Sauce"/>
                <a:sym typeface="Open Sauce"/>
              </a:rPr>
              <a:t>organization intuitive and accessible, this tool supports academic success and improves student well-being.</a:t>
            </a:r>
          </a:p>
        </p:txBody>
      </p:sp>
      <p:sp>
        <p:nvSpPr>
          <p:cNvPr name="TextBox 12" id="1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name="TextBox 13" id="13"/>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14" id="1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18211" t="0" r="-50327" b="0"/>
            </a:stretch>
          </a:blipFill>
        </p:spPr>
      </p:sp>
      <p:sp>
        <p:nvSpPr>
          <p:cNvPr name="TextBox 3" id="3"/>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Objective</a:t>
            </a:r>
          </a:p>
        </p:txBody>
      </p:sp>
      <p:sp>
        <p:nvSpPr>
          <p:cNvPr name="TextBox 4" id="4"/>
          <p:cNvSpPr txBox="true"/>
          <p:nvPr/>
        </p:nvSpPr>
        <p:spPr>
          <a:xfrm rot="0">
            <a:off x="1028700" y="307372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Main G</a:t>
            </a:r>
            <a:r>
              <a:rPr lang="en-US" sz="2400">
                <a:solidFill>
                  <a:srgbClr val="8C7753"/>
                </a:solidFill>
                <a:latin typeface="Open Sauce"/>
                <a:ea typeface="Open Sauce"/>
                <a:cs typeface="Open Sauce"/>
                <a:sym typeface="Open Sauce"/>
              </a:rPr>
              <a:t>oal</a:t>
            </a:r>
          </a:p>
        </p:txBody>
      </p:sp>
      <p:sp>
        <p:nvSpPr>
          <p:cNvPr name="TextBox 5" id="5"/>
          <p:cNvSpPr txBox="true"/>
          <p:nvPr/>
        </p:nvSpPr>
        <p:spPr>
          <a:xfrm rot="0">
            <a:off x="1028700"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To </a:t>
            </a:r>
            <a:r>
              <a:rPr lang="en-US" sz="2100">
                <a:solidFill>
                  <a:srgbClr val="331B0D"/>
                </a:solidFill>
                <a:latin typeface="Open Sauce"/>
                <a:ea typeface="Open Sauce"/>
                <a:cs typeface="Open Sauce"/>
                <a:sym typeface="Open Sauce"/>
              </a:rPr>
              <a:t>create a simple, user-friendly planner that helps students manage deadlines, reduce stress, and stay focused during exam periods.</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7" id="7"/>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9" id="9"/>
          <p:cNvSpPr txBox="true"/>
          <p:nvPr/>
        </p:nvSpPr>
        <p:spPr>
          <a:xfrm rot="0">
            <a:off x="1028700"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Supporting Objectives</a:t>
            </a:r>
          </a:p>
        </p:txBody>
      </p:sp>
      <p:sp>
        <p:nvSpPr>
          <p:cNvPr name="TextBox 10" id="10"/>
          <p:cNvSpPr txBox="true"/>
          <p:nvPr/>
        </p:nvSpPr>
        <p:spPr>
          <a:xfrm rot="0">
            <a:off x="1028700" y="6460812"/>
            <a:ext cx="7342398"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Design </a:t>
            </a:r>
            <a:r>
              <a:rPr lang="en-US" sz="2100">
                <a:solidFill>
                  <a:srgbClr val="331B0D"/>
                </a:solidFill>
                <a:latin typeface="Open Sauce"/>
                <a:ea typeface="Open Sauce"/>
                <a:cs typeface="Open Sauce"/>
                <a:sym typeface="Open Sauce"/>
              </a:rPr>
              <a:t>an intuitive interface suitable for mobile and desktop use</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Include task tracking, reminders, and time-blocking features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Keep the system lightweight, offline-friendly, and distraction-free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76250"/>
            <a:ext cx="18288000" cy="7614470"/>
            <a:chOff x="0" y="0"/>
            <a:chExt cx="1811948" cy="754430"/>
          </a:xfrm>
        </p:grpSpPr>
        <p:sp>
          <p:nvSpPr>
            <p:cNvPr name="Freeform 3" id="3"/>
            <p:cNvSpPr/>
            <p:nvPr/>
          </p:nvSpPr>
          <p:spPr>
            <a:xfrm flipH="false" flipV="false" rot="0">
              <a:off x="0" y="0"/>
              <a:ext cx="1811948" cy="754430"/>
            </a:xfrm>
            <a:custGeom>
              <a:avLst/>
              <a:gdLst/>
              <a:ahLst/>
              <a:cxnLst/>
              <a:rect r="r" b="b" t="t" l="l"/>
              <a:pathLst>
                <a:path h="754430" w="1811948">
                  <a:moveTo>
                    <a:pt x="1811948" y="0"/>
                  </a:moveTo>
                  <a:lnTo>
                    <a:pt x="1811948" y="640130"/>
                  </a:lnTo>
                  <a:lnTo>
                    <a:pt x="905974" y="754430"/>
                  </a:lnTo>
                  <a:lnTo>
                    <a:pt x="0" y="640130"/>
                  </a:lnTo>
                  <a:lnTo>
                    <a:pt x="0" y="0"/>
                  </a:lnTo>
                  <a:lnTo>
                    <a:pt x="1811948" y="0"/>
                  </a:lnTo>
                  <a:close/>
                </a:path>
              </a:pathLst>
            </a:custGeom>
            <a:solidFill>
              <a:srgbClr val="FAF7F0"/>
            </a:solidFill>
          </p:spPr>
        </p:sp>
        <p:sp>
          <p:nvSpPr>
            <p:cNvPr name="TextBox 4" id="4"/>
            <p:cNvSpPr txBox="true"/>
            <p:nvPr/>
          </p:nvSpPr>
          <p:spPr>
            <a:xfrm>
              <a:off x="0" y="-47625"/>
              <a:ext cx="1811948" cy="68775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Found</a:t>
            </a:r>
          </a:p>
        </p:txBody>
      </p:sp>
      <p:sp>
        <p:nvSpPr>
          <p:cNvPr name="TextBox 6" id="6"/>
          <p:cNvSpPr txBox="true"/>
          <p:nvPr/>
        </p:nvSpPr>
        <p:spPr>
          <a:xfrm rot="0">
            <a:off x="1028700" y="4113212"/>
            <a:ext cx="4238166" cy="110871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2/3</a:t>
            </a:r>
            <a:r>
              <a:rPr lang="en-US" sz="2100">
                <a:solidFill>
                  <a:srgbClr val="331B0D"/>
                </a:solidFill>
                <a:latin typeface="Open Sauce"/>
                <a:ea typeface="Open Sauce"/>
                <a:cs typeface="Open Sauce"/>
                <a:sym typeface="Open Sauce"/>
              </a:rPr>
              <a:t> of students we surveyed said they feel “overwhelmed” during finals.</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8" id="8"/>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Background Research</a:t>
            </a:r>
          </a:p>
        </p:txBody>
      </p:sp>
      <p:sp>
        <p:nvSpPr>
          <p:cNvPr name="TextBox 9" id="9"/>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10" id="10"/>
          <p:cNvSpPr txBox="true"/>
          <p:nvPr/>
        </p:nvSpPr>
        <p:spPr>
          <a:xfrm rot="0">
            <a:off x="7024917" y="4113212"/>
            <a:ext cx="4238166" cy="1480185"/>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1-on-1 interviews revealed students want a system that feels personal, not overwhelming.</a:t>
            </a:r>
          </a:p>
        </p:txBody>
      </p:sp>
      <p:sp>
        <p:nvSpPr>
          <p:cNvPr name="TextBox 11" id="11"/>
          <p:cNvSpPr txBox="true"/>
          <p:nvPr/>
        </p:nvSpPr>
        <p:spPr>
          <a:xfrm rot="0">
            <a:off x="13025208" y="4113212"/>
            <a:ext cx="4238166" cy="110871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M</a:t>
            </a:r>
            <a:r>
              <a:rPr lang="en-US" sz="2100">
                <a:solidFill>
                  <a:srgbClr val="331B0D"/>
                </a:solidFill>
                <a:latin typeface="Open Sauce"/>
                <a:ea typeface="Open Sauce"/>
                <a:cs typeface="Open Sauce"/>
                <a:sym typeface="Open Sauce"/>
              </a:rPr>
              <a:t>ost rely on scattered notes or mobile reminders, which often get ignored.</a:t>
            </a:r>
          </a:p>
        </p:txBody>
      </p:sp>
      <p:sp>
        <p:nvSpPr>
          <p:cNvPr name="TextBox 12" id="12"/>
          <p:cNvSpPr txBox="true"/>
          <p:nvPr/>
        </p:nvSpPr>
        <p:spPr>
          <a:xfrm rot="0">
            <a:off x="7708748" y="7658100"/>
            <a:ext cx="2870504" cy="405765"/>
          </a:xfrm>
          <a:prstGeom prst="rect">
            <a:avLst/>
          </a:prstGeom>
        </p:spPr>
        <p:txBody>
          <a:bodyPr anchor="t" rtlCol="false" tIns="0" lIns="0" bIns="0" rIns="0">
            <a:spAutoFit/>
          </a:bodyPr>
          <a:lstStyle/>
          <a:p>
            <a:pPr algn="ctr">
              <a:lnSpc>
                <a:spcPts val="3359"/>
              </a:lnSpc>
              <a:spcBef>
                <a:spcPct val="0"/>
              </a:spcBef>
            </a:pPr>
            <a:r>
              <a:rPr lang="en-US" sz="2400" i="true">
                <a:solidFill>
                  <a:srgbClr val="8C7753"/>
                </a:solidFill>
                <a:latin typeface="Open Sauce Italics"/>
                <a:ea typeface="Open Sauce Italics"/>
                <a:cs typeface="Open Sauce Italics"/>
                <a:sym typeface="Open Sauce Italics"/>
              </a:rPr>
              <a:t>Key Insight</a:t>
            </a:r>
          </a:p>
        </p:txBody>
      </p:sp>
      <p:sp>
        <p:nvSpPr>
          <p:cNvPr name="TextBox 13" id="13"/>
          <p:cNvSpPr txBox="true"/>
          <p:nvPr/>
        </p:nvSpPr>
        <p:spPr>
          <a:xfrm rot="0">
            <a:off x="4026809" y="8416290"/>
            <a:ext cx="10234383" cy="365760"/>
          </a:xfrm>
          <a:prstGeom prst="rect">
            <a:avLst/>
          </a:prstGeom>
        </p:spPr>
        <p:txBody>
          <a:bodyPr anchor="t" rtlCol="false" tIns="0" lIns="0" bIns="0" rIns="0">
            <a:spAutoFit/>
          </a:bodyPr>
          <a:lstStyle/>
          <a:p>
            <a:pPr algn="ctr">
              <a:lnSpc>
                <a:spcPts val="2940"/>
              </a:lnSpc>
              <a:spcBef>
                <a:spcPct val="0"/>
              </a:spcBef>
            </a:pPr>
            <a:r>
              <a:rPr lang="en-US" sz="2100" i="true">
                <a:solidFill>
                  <a:srgbClr val="331B0D"/>
                </a:solidFill>
                <a:latin typeface="Open Sauce Italics"/>
                <a:ea typeface="Open Sauce Italics"/>
                <a:cs typeface="Open Sauce Italics"/>
                <a:sym typeface="Open Sauce Italics"/>
              </a:rPr>
              <a:t>S</a:t>
            </a:r>
            <a:r>
              <a:rPr lang="en-US" sz="2100" i="true">
                <a:solidFill>
                  <a:srgbClr val="331B0D"/>
                </a:solidFill>
                <a:latin typeface="Open Sauce Italics"/>
                <a:ea typeface="Open Sauce Italics"/>
                <a:cs typeface="Open Sauce Italics"/>
                <a:sym typeface="Open Sauce Italics"/>
              </a:rPr>
              <a:t>tudents don’t lack tools — they lack tools that work the way they think.</a:t>
            </a:r>
          </a:p>
        </p:txBody>
      </p:sp>
      <p:sp>
        <p:nvSpPr>
          <p:cNvPr name="TextBox 14" id="14"/>
          <p:cNvSpPr txBox="true"/>
          <p:nvPr/>
        </p:nvSpPr>
        <p:spPr>
          <a:xfrm rot="0">
            <a:off x="1712531"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1</a:t>
            </a:r>
          </a:p>
        </p:txBody>
      </p:sp>
      <p:sp>
        <p:nvSpPr>
          <p:cNvPr name="TextBox 15" id="15"/>
          <p:cNvSpPr txBox="true"/>
          <p:nvPr/>
        </p:nvSpPr>
        <p:spPr>
          <a:xfrm rot="0">
            <a:off x="7708748"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2</a:t>
            </a:r>
          </a:p>
        </p:txBody>
      </p:sp>
      <p:sp>
        <p:nvSpPr>
          <p:cNvPr name="TextBox 16" id="16"/>
          <p:cNvSpPr txBox="true"/>
          <p:nvPr/>
        </p:nvSpPr>
        <p:spPr>
          <a:xfrm rot="0">
            <a:off x="13709039"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4632" y="3702372"/>
            <a:ext cx="1706721" cy="1733445"/>
          </a:xfrm>
          <a:custGeom>
            <a:avLst/>
            <a:gdLst/>
            <a:ahLst/>
            <a:cxnLst/>
            <a:rect r="r" b="b" t="t" l="l"/>
            <a:pathLst>
              <a:path h="1733445" w="1706721">
                <a:moveTo>
                  <a:pt x="0" y="0"/>
                </a:moveTo>
                <a:lnTo>
                  <a:pt x="1706721" y="0"/>
                </a:lnTo>
                <a:lnTo>
                  <a:pt x="1706721" y="1733445"/>
                </a:lnTo>
                <a:lnTo>
                  <a:pt x="0" y="1733445"/>
                </a:lnTo>
                <a:lnTo>
                  <a:pt x="0" y="0"/>
                </a:lnTo>
                <a:close/>
              </a:path>
            </a:pathLst>
          </a:custGeom>
          <a:blipFill>
            <a:blip r:embed="rId2"/>
            <a:stretch>
              <a:fillRect l="0" t="0" r="0" b="0"/>
            </a:stretch>
          </a:blipFill>
        </p:spPr>
      </p:sp>
      <p:sp>
        <p:nvSpPr>
          <p:cNvPr name="Freeform 3" id="3"/>
          <p:cNvSpPr/>
          <p:nvPr/>
        </p:nvSpPr>
        <p:spPr>
          <a:xfrm flipH="false" flipV="false" rot="0">
            <a:off x="9276000" y="3597597"/>
            <a:ext cx="1675859" cy="2022153"/>
          </a:xfrm>
          <a:custGeom>
            <a:avLst/>
            <a:gdLst/>
            <a:ahLst/>
            <a:cxnLst/>
            <a:rect r="r" b="b" t="t" l="l"/>
            <a:pathLst>
              <a:path h="2022153" w="1675859">
                <a:moveTo>
                  <a:pt x="0" y="0"/>
                </a:moveTo>
                <a:lnTo>
                  <a:pt x="1675859" y="0"/>
                </a:lnTo>
                <a:lnTo>
                  <a:pt x="1675859" y="2022153"/>
                </a:lnTo>
                <a:lnTo>
                  <a:pt x="0" y="2022153"/>
                </a:lnTo>
                <a:lnTo>
                  <a:pt x="0" y="0"/>
                </a:lnTo>
                <a:close/>
              </a:path>
            </a:pathLst>
          </a:custGeom>
          <a:blipFill>
            <a:blip r:embed="rId3"/>
            <a:stretch>
              <a:fillRect l="0" t="0" r="0" b="0"/>
            </a:stretch>
          </a:blipFill>
        </p:spPr>
      </p:sp>
      <p:sp>
        <p:nvSpPr>
          <p:cNvPr name="Freeform 4" id="4"/>
          <p:cNvSpPr/>
          <p:nvPr/>
        </p:nvSpPr>
        <p:spPr>
          <a:xfrm flipH="false" flipV="false" rot="0">
            <a:off x="0" y="7607622"/>
            <a:ext cx="18288000" cy="2679378"/>
          </a:xfrm>
          <a:custGeom>
            <a:avLst/>
            <a:gdLst/>
            <a:ahLst/>
            <a:cxnLst/>
            <a:rect r="r" b="b" t="t" l="l"/>
            <a:pathLst>
              <a:path h="2679378" w="18288000">
                <a:moveTo>
                  <a:pt x="0" y="0"/>
                </a:moveTo>
                <a:lnTo>
                  <a:pt x="18288000" y="0"/>
                </a:lnTo>
                <a:lnTo>
                  <a:pt x="18288000" y="2679378"/>
                </a:lnTo>
                <a:lnTo>
                  <a:pt x="0" y="2679378"/>
                </a:lnTo>
                <a:lnTo>
                  <a:pt x="0" y="0"/>
                </a:lnTo>
                <a:close/>
              </a:path>
            </a:pathLst>
          </a:custGeom>
          <a:blipFill>
            <a:blip r:embed="rId4"/>
            <a:stretch>
              <a:fillRect l="0" t="-79715" r="0" b="-275315"/>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7" id="7"/>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Target Audience</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9" id="9"/>
          <p:cNvSpPr txBox="true"/>
          <p:nvPr/>
        </p:nvSpPr>
        <p:spPr>
          <a:xfrm rot="0">
            <a:off x="3149424" y="354997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Target User</a:t>
            </a:r>
          </a:p>
        </p:txBody>
      </p:sp>
      <p:sp>
        <p:nvSpPr>
          <p:cNvPr name="TextBox 10" id="10"/>
          <p:cNvSpPr txBox="true"/>
          <p:nvPr/>
        </p:nvSpPr>
        <p:spPr>
          <a:xfrm rot="0">
            <a:off x="3149424" y="4308162"/>
            <a:ext cx="435574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Coll</a:t>
            </a:r>
            <a:r>
              <a:rPr lang="en-US" sz="2100">
                <a:solidFill>
                  <a:srgbClr val="331B0D"/>
                </a:solidFill>
                <a:latin typeface="Open Sauce"/>
                <a:ea typeface="Open Sauce"/>
                <a:cs typeface="Open Sauce"/>
                <a:sym typeface="Open Sauce"/>
              </a:rPr>
              <a:t>ege students between 18–24 years old, balancing academics, part-time jobs, and personal life.</a:t>
            </a:r>
          </a:p>
        </p:txBody>
      </p:sp>
      <p:sp>
        <p:nvSpPr>
          <p:cNvPr name="TextBox 11" id="11"/>
          <p:cNvSpPr txBox="true"/>
          <p:nvPr/>
        </p:nvSpPr>
        <p:spPr>
          <a:xfrm rot="0">
            <a:off x="11425565" y="3549972"/>
            <a:ext cx="27926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Their Challenges</a:t>
            </a:r>
          </a:p>
        </p:txBody>
      </p:sp>
      <p:sp>
        <p:nvSpPr>
          <p:cNvPr name="TextBox 12" id="12"/>
          <p:cNvSpPr txBox="true"/>
          <p:nvPr/>
        </p:nvSpPr>
        <p:spPr>
          <a:xfrm rot="0">
            <a:off x="11425565" y="4308162"/>
            <a:ext cx="5152170"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Struggl</a:t>
            </a:r>
            <a:r>
              <a:rPr lang="en-US" sz="2100">
                <a:solidFill>
                  <a:srgbClr val="331B0D"/>
                </a:solidFill>
                <a:latin typeface="Open Sauce"/>
                <a:ea typeface="Open Sauce"/>
                <a:cs typeface="Open Sauce"/>
                <a:sym typeface="Open Sauce"/>
              </a:rPr>
              <a:t>e with managing time and deadlines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Easily distracted by phones or unstructured routines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Feel overwhelmed by traditional productivity apps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Concept Development</a:t>
            </a:r>
          </a:p>
        </p:txBody>
      </p:sp>
      <p:sp>
        <p:nvSpPr>
          <p:cNvPr name="TextBox 5" id="5"/>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grpSp>
        <p:nvGrpSpPr>
          <p:cNvPr name="Group 6" id="6"/>
          <p:cNvGrpSpPr/>
          <p:nvPr/>
        </p:nvGrpSpPr>
        <p:grpSpPr>
          <a:xfrm rot="0">
            <a:off x="0" y="3600450"/>
            <a:ext cx="6817607" cy="1543050"/>
            <a:chOff x="0" y="0"/>
            <a:chExt cx="1795584" cy="406400"/>
          </a:xfrm>
        </p:grpSpPr>
        <p:sp>
          <p:nvSpPr>
            <p:cNvPr name="Freeform 7" id="7"/>
            <p:cNvSpPr/>
            <p:nvPr/>
          </p:nvSpPr>
          <p:spPr>
            <a:xfrm flipH="false" flipV="false" rot="0">
              <a:off x="0" y="0"/>
              <a:ext cx="1795584" cy="406400"/>
            </a:xfrm>
            <a:custGeom>
              <a:avLst/>
              <a:gdLst/>
              <a:ahLst/>
              <a:cxnLst/>
              <a:rect r="r" b="b" t="t" l="l"/>
              <a:pathLst>
                <a:path h="406400" w="1795584">
                  <a:moveTo>
                    <a:pt x="1592384" y="0"/>
                  </a:moveTo>
                  <a:lnTo>
                    <a:pt x="0" y="0"/>
                  </a:lnTo>
                  <a:lnTo>
                    <a:pt x="0" y="406400"/>
                  </a:lnTo>
                  <a:lnTo>
                    <a:pt x="1592384" y="406400"/>
                  </a:lnTo>
                  <a:lnTo>
                    <a:pt x="1795584" y="203200"/>
                  </a:lnTo>
                  <a:lnTo>
                    <a:pt x="1592384" y="0"/>
                  </a:lnTo>
                  <a:close/>
                </a:path>
              </a:pathLst>
            </a:custGeom>
            <a:solidFill>
              <a:srgbClr val="8C7753"/>
            </a:solidFill>
          </p:spPr>
        </p:sp>
        <p:sp>
          <p:nvSpPr>
            <p:cNvPr name="TextBox 8" id="8"/>
            <p:cNvSpPr txBox="true"/>
            <p:nvPr/>
          </p:nvSpPr>
          <p:spPr>
            <a:xfrm>
              <a:off x="0" y="-47625"/>
              <a:ext cx="1681284" cy="454025"/>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6074871" y="3600450"/>
            <a:ext cx="3811973" cy="1543050"/>
            <a:chOff x="0" y="0"/>
            <a:chExt cx="1003976" cy="406400"/>
          </a:xfrm>
        </p:grpSpPr>
        <p:sp>
          <p:nvSpPr>
            <p:cNvPr name="Freeform 10" id="10"/>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80000"/>
              </a:srgbClr>
            </a:solidFill>
          </p:spPr>
        </p:sp>
        <p:sp>
          <p:nvSpPr>
            <p:cNvPr name="TextBox 11" id="11"/>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9144107" y="3600450"/>
            <a:ext cx="3811973" cy="1543050"/>
            <a:chOff x="0" y="0"/>
            <a:chExt cx="1003976" cy="406400"/>
          </a:xfrm>
        </p:grpSpPr>
        <p:sp>
          <p:nvSpPr>
            <p:cNvPr name="Freeform 13" id="13"/>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60000"/>
              </a:srgbClr>
            </a:solidFill>
          </p:spPr>
        </p:sp>
        <p:sp>
          <p:nvSpPr>
            <p:cNvPr name="TextBox 14" id="14"/>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2213343" y="3600450"/>
            <a:ext cx="7311622" cy="1543050"/>
            <a:chOff x="0" y="0"/>
            <a:chExt cx="1925695" cy="406400"/>
          </a:xfrm>
        </p:grpSpPr>
        <p:sp>
          <p:nvSpPr>
            <p:cNvPr name="Freeform 16" id="16"/>
            <p:cNvSpPr/>
            <p:nvPr/>
          </p:nvSpPr>
          <p:spPr>
            <a:xfrm flipH="false" flipV="false" rot="0">
              <a:off x="0" y="0"/>
              <a:ext cx="1925695" cy="406400"/>
            </a:xfrm>
            <a:custGeom>
              <a:avLst/>
              <a:gdLst/>
              <a:ahLst/>
              <a:cxnLst/>
              <a:rect r="r" b="b" t="t" l="l"/>
              <a:pathLst>
                <a:path h="406400" w="1925695">
                  <a:moveTo>
                    <a:pt x="0" y="0"/>
                  </a:moveTo>
                  <a:lnTo>
                    <a:pt x="1722495" y="0"/>
                  </a:lnTo>
                  <a:lnTo>
                    <a:pt x="1925695" y="203200"/>
                  </a:lnTo>
                  <a:lnTo>
                    <a:pt x="1722495" y="406400"/>
                  </a:lnTo>
                  <a:lnTo>
                    <a:pt x="0" y="406400"/>
                  </a:lnTo>
                  <a:lnTo>
                    <a:pt x="203200" y="203200"/>
                  </a:lnTo>
                  <a:lnTo>
                    <a:pt x="0" y="0"/>
                  </a:lnTo>
                  <a:close/>
                </a:path>
              </a:pathLst>
            </a:custGeom>
            <a:solidFill>
              <a:srgbClr val="8C7753">
                <a:alpha val="40000"/>
              </a:srgbClr>
            </a:solidFill>
          </p:spPr>
        </p:sp>
        <p:sp>
          <p:nvSpPr>
            <p:cNvPr name="TextBox 17" id="17"/>
            <p:cNvSpPr txBox="true"/>
            <p:nvPr/>
          </p:nvSpPr>
          <p:spPr>
            <a:xfrm>
              <a:off x="177800" y="-47625"/>
              <a:ext cx="1671695" cy="454025"/>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3506547" y="4149094"/>
            <a:ext cx="2810148"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B</a:t>
            </a:r>
            <a:r>
              <a:rPr lang="en-US" sz="2100">
                <a:solidFill>
                  <a:srgbClr val="FFFFFF"/>
                </a:solidFill>
                <a:latin typeface="Open Sauce"/>
                <a:ea typeface="Open Sauce"/>
                <a:cs typeface="Open Sauce"/>
                <a:sym typeface="Open Sauce"/>
              </a:rPr>
              <a:t>rainstorm</a:t>
            </a:r>
          </a:p>
        </p:txBody>
      </p:sp>
      <p:sp>
        <p:nvSpPr>
          <p:cNvPr name="TextBox 19" id="19"/>
          <p:cNvSpPr txBox="true"/>
          <p:nvPr/>
        </p:nvSpPr>
        <p:spPr>
          <a:xfrm rot="0">
            <a:off x="7340385"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Use</a:t>
            </a:r>
            <a:r>
              <a:rPr lang="en-US" sz="2100">
                <a:solidFill>
                  <a:srgbClr val="FFFFFF"/>
                </a:solidFill>
                <a:latin typeface="Open Sauce"/>
                <a:ea typeface="Open Sauce"/>
                <a:cs typeface="Open Sauce"/>
                <a:sym typeface="Open Sauce"/>
              </a:rPr>
              <a:t>r Feedback</a:t>
            </a:r>
          </a:p>
        </p:txBody>
      </p:sp>
      <p:sp>
        <p:nvSpPr>
          <p:cNvPr name="TextBox 20" id="20"/>
          <p:cNvSpPr txBox="true"/>
          <p:nvPr/>
        </p:nvSpPr>
        <p:spPr>
          <a:xfrm rot="0">
            <a:off x="10404519"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Concept</a:t>
            </a:r>
            <a:r>
              <a:rPr lang="en-US" sz="2100">
                <a:solidFill>
                  <a:srgbClr val="FFFFFF"/>
                </a:solidFill>
                <a:latin typeface="Open Sauce"/>
                <a:ea typeface="Open Sauce"/>
                <a:cs typeface="Open Sauce"/>
                <a:sym typeface="Open Sauce"/>
              </a:rPr>
              <a:t> Sketches</a:t>
            </a:r>
          </a:p>
        </p:txBody>
      </p:sp>
      <p:sp>
        <p:nvSpPr>
          <p:cNvPr name="TextBox 21" id="21"/>
          <p:cNvSpPr txBox="true"/>
          <p:nvPr/>
        </p:nvSpPr>
        <p:spPr>
          <a:xfrm rot="0">
            <a:off x="13473755" y="4149094"/>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Final</a:t>
            </a:r>
            <a:r>
              <a:rPr lang="en-US" sz="2100">
                <a:solidFill>
                  <a:srgbClr val="331B0D"/>
                </a:solidFill>
                <a:latin typeface="Open Sauce"/>
                <a:ea typeface="Open Sauce"/>
                <a:cs typeface="Open Sauce"/>
                <a:sym typeface="Open Sauce"/>
              </a:rPr>
              <a:t> Idea</a:t>
            </a:r>
          </a:p>
        </p:txBody>
      </p:sp>
      <p:sp>
        <p:nvSpPr>
          <p:cNvPr name="TextBox 22" id="22"/>
          <p:cNvSpPr txBox="true"/>
          <p:nvPr/>
        </p:nvSpPr>
        <p:spPr>
          <a:xfrm rot="0">
            <a:off x="1028700" y="6261188"/>
            <a:ext cx="435574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Our</a:t>
            </a:r>
            <a:r>
              <a:rPr lang="en-US" sz="2100">
                <a:solidFill>
                  <a:srgbClr val="331B0D"/>
                </a:solidFill>
                <a:latin typeface="Open Sauce"/>
                <a:ea typeface="Open Sauce"/>
                <a:cs typeface="Open Sauce"/>
                <a:sym typeface="Open Sauce"/>
              </a:rPr>
              <a:t> initial concept was a simple planner app to help students track assignments.</a:t>
            </a:r>
          </a:p>
        </p:txBody>
      </p:sp>
      <p:sp>
        <p:nvSpPr>
          <p:cNvPr name="TextBox 23" id="23"/>
          <p:cNvSpPr txBox="true"/>
          <p:nvPr/>
        </p:nvSpPr>
        <p:spPr>
          <a:xfrm rot="0">
            <a:off x="6966130" y="6261188"/>
            <a:ext cx="4355740" cy="296608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Feedback showed students felt overwhelmed</a:t>
            </a:r>
            <a:r>
              <a:rPr lang="en-US" sz="2100">
                <a:solidFill>
                  <a:srgbClr val="331B0D"/>
                </a:solidFill>
                <a:latin typeface="Open Sauce"/>
                <a:ea typeface="Open Sauce"/>
                <a:cs typeface="Open Sauce"/>
                <a:sym typeface="Open Sauce"/>
              </a:rPr>
              <a:t> by typical apps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We explored visual and tactile planning tools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Inspiration from bullet journaling, habit tracking, and minimal design</a:t>
            </a:r>
          </a:p>
        </p:txBody>
      </p:sp>
      <p:sp>
        <p:nvSpPr>
          <p:cNvPr name="TextBox 24" id="24"/>
          <p:cNvSpPr txBox="true"/>
          <p:nvPr/>
        </p:nvSpPr>
        <p:spPr>
          <a:xfrm rot="0">
            <a:off x="12903560" y="6261188"/>
            <a:ext cx="4355740"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a:t>
            </a:r>
            <a:r>
              <a:rPr lang="en-US" sz="2100">
                <a:solidFill>
                  <a:srgbClr val="331B0D"/>
                </a:solidFill>
                <a:latin typeface="Open Sauce"/>
                <a:ea typeface="Open Sauce"/>
                <a:cs typeface="Open Sauce"/>
                <a:sym typeface="Open Sauce"/>
              </a:rPr>
              <a:t> flexible digital planner that uses visual blocks and subtle reminders to help students stay on track without pressure.</a:t>
            </a:r>
          </a:p>
        </p:txBody>
      </p:sp>
      <p:sp>
        <p:nvSpPr>
          <p:cNvPr name="AutoShape 25" id="25"/>
          <p:cNvSpPr/>
          <p:nvPr/>
        </p:nvSpPr>
        <p:spPr>
          <a:xfrm>
            <a:off x="4141460" y="5143500"/>
            <a:ext cx="0" cy="861252"/>
          </a:xfrm>
          <a:prstGeom prst="line">
            <a:avLst/>
          </a:prstGeom>
          <a:ln cap="flat" w="38100">
            <a:solidFill>
              <a:srgbClr val="8C7753"/>
            </a:solidFill>
            <a:prstDash val="solid"/>
            <a:headEnd type="none" len="sm" w="sm"/>
            <a:tailEnd type="arrow" len="sm" w="med"/>
          </a:ln>
        </p:spPr>
      </p:sp>
      <p:sp>
        <p:nvSpPr>
          <p:cNvPr name="AutoShape 26" id="26"/>
          <p:cNvSpPr/>
          <p:nvPr/>
        </p:nvSpPr>
        <p:spPr>
          <a:xfrm>
            <a:off x="9144000" y="5143500"/>
            <a:ext cx="0" cy="861252"/>
          </a:xfrm>
          <a:prstGeom prst="line">
            <a:avLst/>
          </a:prstGeom>
          <a:ln cap="flat" w="38100">
            <a:solidFill>
              <a:srgbClr val="8C7753">
                <a:alpha val="69804"/>
              </a:srgbClr>
            </a:solidFill>
            <a:prstDash val="solid"/>
            <a:headEnd type="none" len="sm" w="sm"/>
            <a:tailEnd type="arrow" len="sm" w="med"/>
          </a:ln>
        </p:spPr>
      </p:sp>
      <p:sp>
        <p:nvSpPr>
          <p:cNvPr name="AutoShape 27" id="27"/>
          <p:cNvSpPr/>
          <p:nvPr/>
        </p:nvSpPr>
        <p:spPr>
          <a:xfrm>
            <a:off x="14146540" y="5143500"/>
            <a:ext cx="0" cy="861252"/>
          </a:xfrm>
          <a:prstGeom prst="line">
            <a:avLst/>
          </a:prstGeom>
          <a:ln cap="flat" w="38100">
            <a:solidFill>
              <a:srgbClr val="8C7753">
                <a:alpha val="40000"/>
              </a:srgbClr>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Methodology</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Concept Development</a:t>
            </a:r>
          </a:p>
        </p:txBody>
      </p:sp>
      <p:sp>
        <p:nvSpPr>
          <p:cNvPr name="TextBox 5" id="5"/>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6" id="6"/>
          <p:cNvSpPr txBox="true"/>
          <p:nvPr/>
        </p:nvSpPr>
        <p:spPr>
          <a:xfrm rot="0">
            <a:off x="1651528"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Re</a:t>
            </a:r>
            <a:r>
              <a:rPr lang="en-US" sz="2400" strike="noStrike" u="none">
                <a:solidFill>
                  <a:srgbClr val="8C7753"/>
                </a:solidFill>
                <a:latin typeface="Open Sauce"/>
                <a:ea typeface="Open Sauce"/>
                <a:cs typeface="Open Sauce"/>
                <a:sym typeface="Open Sauce"/>
              </a:rPr>
              <a:t>se</a:t>
            </a:r>
            <a:r>
              <a:rPr lang="en-US" sz="2400" strike="noStrike" u="none">
                <a:solidFill>
                  <a:srgbClr val="8C7753"/>
                </a:solidFill>
                <a:latin typeface="Open Sauce"/>
                <a:ea typeface="Open Sauce"/>
                <a:cs typeface="Open Sauce"/>
                <a:sym typeface="Open Sauce"/>
              </a:rPr>
              <a:t>arch</a:t>
            </a:r>
          </a:p>
        </p:txBody>
      </p:sp>
      <p:sp>
        <p:nvSpPr>
          <p:cNvPr name="TextBox 7" id="7"/>
          <p:cNvSpPr txBox="true"/>
          <p:nvPr/>
        </p:nvSpPr>
        <p:spPr>
          <a:xfrm rot="0">
            <a:off x="1651528" y="4202924"/>
            <a:ext cx="4502359"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cond</a:t>
            </a:r>
            <a:r>
              <a:rPr lang="en-US" sz="2100" strike="noStrike" u="none">
                <a:solidFill>
                  <a:srgbClr val="331B0D"/>
                </a:solidFill>
                <a:latin typeface="Open Sauce"/>
                <a:ea typeface="Open Sauce"/>
                <a:cs typeface="Open Sauce"/>
                <a:sym typeface="Open Sauce"/>
              </a:rPr>
              <a:t>u</a:t>
            </a:r>
            <a:r>
              <a:rPr lang="en-US" sz="2100" strike="noStrike" u="none">
                <a:solidFill>
                  <a:srgbClr val="331B0D"/>
                </a:solidFill>
                <a:latin typeface="Open Sauce"/>
                <a:ea typeface="Open Sauce"/>
                <a:cs typeface="Open Sauce"/>
                <a:sym typeface="Open Sauce"/>
              </a:rPr>
              <a:t>cte</a:t>
            </a:r>
            <a:r>
              <a:rPr lang="en-US" sz="2100" strike="noStrike" u="none">
                <a:solidFill>
                  <a:srgbClr val="331B0D"/>
                </a:solidFill>
                <a:latin typeface="Open Sauce"/>
                <a:ea typeface="Open Sauce"/>
                <a:cs typeface="Open Sauce"/>
                <a:sym typeface="Open Sauce"/>
              </a:rPr>
              <a:t>d </a:t>
            </a:r>
            <a:r>
              <a:rPr lang="en-US" sz="2100" strike="noStrike" u="none">
                <a:solidFill>
                  <a:srgbClr val="331B0D"/>
                </a:solidFill>
                <a:latin typeface="Open Sauce"/>
                <a:ea typeface="Open Sauce"/>
                <a:cs typeface="Open Sauce"/>
                <a:sym typeface="Open Sauce"/>
              </a:rPr>
              <a:t>su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veys and in</a:t>
            </a:r>
            <a:r>
              <a:rPr lang="en-US" sz="2100" strike="noStrike" u="none">
                <a:solidFill>
                  <a:srgbClr val="331B0D"/>
                </a:solidFill>
                <a:latin typeface="Open Sauce"/>
                <a:ea typeface="Open Sauce"/>
                <a:cs typeface="Open Sauce"/>
                <a:sym typeface="Open Sauce"/>
              </a:rPr>
              <a:t>fo</a:t>
            </a:r>
            <a:r>
              <a:rPr lang="en-US" sz="2100" strike="noStrike" u="none">
                <a:solidFill>
                  <a:srgbClr val="331B0D"/>
                </a:solidFill>
                <a:latin typeface="Open Sauce"/>
                <a:ea typeface="Open Sauce"/>
                <a:cs typeface="Open Sauce"/>
                <a:sym typeface="Open Sauce"/>
              </a:rPr>
              <a:t>rma</a:t>
            </a:r>
            <a:r>
              <a:rPr lang="en-US" sz="2100" strike="noStrike" u="none">
                <a:solidFill>
                  <a:srgbClr val="331B0D"/>
                </a:solidFill>
                <a:latin typeface="Open Sauce"/>
                <a:ea typeface="Open Sauce"/>
                <a:cs typeface="Open Sauce"/>
                <a:sym typeface="Open Sauce"/>
              </a:rPr>
              <a:t>l</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nterviews</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to</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under</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tand</a:t>
            </a:r>
            <a:r>
              <a:rPr lang="en-US" sz="2100" strike="noStrike" u="none">
                <a:solidFill>
                  <a:srgbClr val="331B0D"/>
                </a:solidFill>
                <a:latin typeface="Open Sauce"/>
                <a:ea typeface="Open Sauce"/>
                <a:cs typeface="Open Sauce"/>
                <a:sym typeface="Open Sauce"/>
              </a:rPr>
              <a:t> stude</a:t>
            </a:r>
            <a:r>
              <a:rPr lang="en-US" sz="2100" strike="noStrike" u="none">
                <a:solidFill>
                  <a:srgbClr val="331B0D"/>
                </a:solidFill>
                <a:latin typeface="Open Sauce"/>
                <a:ea typeface="Open Sauce"/>
                <a:cs typeface="Open Sauce"/>
                <a:sym typeface="Open Sauce"/>
              </a:rPr>
              <a:t>nt pain point</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t>
            </a:r>
          </a:p>
        </p:txBody>
      </p:sp>
      <p:sp>
        <p:nvSpPr>
          <p:cNvPr name="AutoShape 8" id="8"/>
          <p:cNvSpPr/>
          <p:nvPr/>
        </p:nvSpPr>
        <p:spPr>
          <a:xfrm>
            <a:off x="1028700" y="5715000"/>
            <a:ext cx="16230600" cy="0"/>
          </a:xfrm>
          <a:prstGeom prst="line">
            <a:avLst/>
          </a:prstGeom>
          <a:ln cap="flat" w="76200">
            <a:solidFill>
              <a:srgbClr val="8C7753"/>
            </a:solidFill>
            <a:prstDash val="solid"/>
            <a:headEnd type="none" len="sm" w="sm"/>
            <a:tailEnd type="arrow" len="sm" w="med"/>
          </a:ln>
        </p:spPr>
      </p:sp>
      <p:sp>
        <p:nvSpPr>
          <p:cNvPr name="AutoShape 9" id="9"/>
          <p:cNvSpPr/>
          <p:nvPr/>
        </p:nvSpPr>
        <p:spPr>
          <a:xfrm>
            <a:off x="1331126" y="3774335"/>
            <a:ext cx="0" cy="1940701"/>
          </a:xfrm>
          <a:prstGeom prst="line">
            <a:avLst/>
          </a:prstGeom>
          <a:ln cap="rnd" w="19050">
            <a:solidFill>
              <a:srgbClr val="8C7753"/>
            </a:solidFill>
            <a:prstDash val="solid"/>
            <a:headEnd type="oval" len="lg" w="lg"/>
            <a:tailEnd type="none" len="sm" w="sm"/>
          </a:ln>
        </p:spPr>
      </p:sp>
      <p:sp>
        <p:nvSpPr>
          <p:cNvPr name="TextBox 10" id="10"/>
          <p:cNvSpPr txBox="true"/>
          <p:nvPr/>
        </p:nvSpPr>
        <p:spPr>
          <a:xfrm rot="0">
            <a:off x="4757823" y="6715125"/>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Ide</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tion</a:t>
            </a:r>
          </a:p>
        </p:txBody>
      </p:sp>
      <p:sp>
        <p:nvSpPr>
          <p:cNvPr name="TextBox 11" id="11"/>
          <p:cNvSpPr txBox="true"/>
          <p:nvPr/>
        </p:nvSpPr>
        <p:spPr>
          <a:xfrm rot="0">
            <a:off x="4757823" y="7341870"/>
            <a:ext cx="3763021"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Br</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instorming sessio</a:t>
            </a:r>
            <a:r>
              <a:rPr lang="en-US" sz="2100" strike="noStrike" u="none">
                <a:solidFill>
                  <a:srgbClr val="331B0D"/>
                </a:solidFill>
                <a:latin typeface="Open Sauce"/>
                <a:ea typeface="Open Sauce"/>
                <a:cs typeface="Open Sauce"/>
                <a:sym typeface="Open Sauce"/>
              </a:rPr>
              <a:t>n</a:t>
            </a:r>
            <a:r>
              <a:rPr lang="en-US" sz="2100" strike="noStrike" u="none">
                <a:solidFill>
                  <a:srgbClr val="331B0D"/>
                </a:solidFill>
                <a:latin typeface="Open Sauce"/>
                <a:ea typeface="Open Sauce"/>
                <a:cs typeface="Open Sauce"/>
                <a:sym typeface="Open Sauce"/>
              </a:rPr>
              <a:t>s wit</a:t>
            </a:r>
            <a:r>
              <a:rPr lang="en-US" sz="2100" strike="noStrike" u="none">
                <a:solidFill>
                  <a:srgbClr val="331B0D"/>
                </a:solidFill>
                <a:latin typeface="Open Sauce"/>
                <a:ea typeface="Open Sauce"/>
                <a:cs typeface="Open Sauce"/>
                <a:sym typeface="Open Sauce"/>
              </a:rPr>
              <a:t>h m</a:t>
            </a:r>
            <a:r>
              <a:rPr lang="en-US" sz="2100" strike="noStrike" u="none">
                <a:solidFill>
                  <a:srgbClr val="331B0D"/>
                </a:solidFill>
                <a:latin typeface="Open Sauce"/>
                <a:ea typeface="Open Sauce"/>
                <a:cs typeface="Open Sauce"/>
                <a:sym typeface="Open Sauce"/>
              </a:rPr>
              <a:t>oodbo</a:t>
            </a:r>
            <a:r>
              <a:rPr lang="en-US" sz="2100" strike="noStrike" u="none">
                <a:solidFill>
                  <a:srgbClr val="331B0D"/>
                </a:solidFill>
                <a:latin typeface="Open Sauce"/>
                <a:ea typeface="Open Sauce"/>
                <a:cs typeface="Open Sauce"/>
                <a:sym typeface="Open Sauce"/>
              </a:rPr>
              <a:t>ar</a:t>
            </a:r>
            <a:r>
              <a:rPr lang="en-US" sz="2100" strike="noStrike" u="none">
                <a:solidFill>
                  <a:srgbClr val="331B0D"/>
                </a:solidFill>
                <a:latin typeface="Open Sauce"/>
                <a:ea typeface="Open Sauce"/>
                <a:cs typeface="Open Sauce"/>
                <a:sym typeface="Open Sauce"/>
              </a:rPr>
              <a:t>ds and concept s</a:t>
            </a:r>
            <a:r>
              <a:rPr lang="en-US" sz="2100" strike="noStrike" u="none">
                <a:solidFill>
                  <a:srgbClr val="331B0D"/>
                </a:solidFill>
                <a:latin typeface="Open Sauce"/>
                <a:ea typeface="Open Sauce"/>
                <a:cs typeface="Open Sauce"/>
                <a:sym typeface="Open Sauce"/>
              </a:rPr>
              <a:t>ket</a:t>
            </a:r>
            <a:r>
              <a:rPr lang="en-US" sz="2100" strike="noStrike" u="none">
                <a:solidFill>
                  <a:srgbClr val="331B0D"/>
                </a:solidFill>
                <a:latin typeface="Open Sauce"/>
                <a:ea typeface="Open Sauce"/>
                <a:cs typeface="Open Sauce"/>
                <a:sym typeface="Open Sauce"/>
              </a:rPr>
              <a:t>ches</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helped us narro</a:t>
            </a:r>
            <a:r>
              <a:rPr lang="en-US" sz="2100" strike="noStrike" u="none">
                <a:solidFill>
                  <a:srgbClr val="331B0D"/>
                </a:solidFill>
                <a:latin typeface="Open Sauce"/>
                <a:ea typeface="Open Sauce"/>
                <a:cs typeface="Open Sauce"/>
                <a:sym typeface="Open Sauce"/>
              </a:rPr>
              <a:t>w</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 f</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cu</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t>
            </a:r>
          </a:p>
        </p:txBody>
      </p:sp>
      <p:sp>
        <p:nvSpPr>
          <p:cNvPr name="AutoShape 12" id="12"/>
          <p:cNvSpPr/>
          <p:nvPr/>
        </p:nvSpPr>
        <p:spPr>
          <a:xfrm>
            <a:off x="4437421" y="5703712"/>
            <a:ext cx="0" cy="1940701"/>
          </a:xfrm>
          <a:prstGeom prst="line">
            <a:avLst/>
          </a:prstGeom>
          <a:ln cap="rnd" w="19050">
            <a:solidFill>
              <a:srgbClr val="8C7753"/>
            </a:solidFill>
            <a:prstDash val="solid"/>
            <a:headEnd type="none" len="sm" w="sm"/>
            <a:tailEnd type="oval" len="lg" w="lg"/>
          </a:ln>
        </p:spPr>
      </p:sp>
      <p:sp>
        <p:nvSpPr>
          <p:cNvPr name="AutoShape 13" id="13"/>
          <p:cNvSpPr/>
          <p:nvPr/>
        </p:nvSpPr>
        <p:spPr>
          <a:xfrm>
            <a:off x="8196993" y="3774335"/>
            <a:ext cx="0" cy="1940701"/>
          </a:xfrm>
          <a:prstGeom prst="line">
            <a:avLst/>
          </a:prstGeom>
          <a:ln cap="rnd" w="19050">
            <a:solidFill>
              <a:srgbClr val="8C7753"/>
            </a:solidFill>
            <a:prstDash val="solid"/>
            <a:headEnd type="oval" len="lg" w="lg"/>
            <a:tailEnd type="none" len="sm" w="sm"/>
          </a:ln>
        </p:spPr>
      </p:sp>
      <p:sp>
        <p:nvSpPr>
          <p:cNvPr name="AutoShape 14" id="14"/>
          <p:cNvSpPr/>
          <p:nvPr/>
        </p:nvSpPr>
        <p:spPr>
          <a:xfrm>
            <a:off x="11303288" y="5703712"/>
            <a:ext cx="0" cy="1940701"/>
          </a:xfrm>
          <a:prstGeom prst="line">
            <a:avLst/>
          </a:prstGeom>
          <a:ln cap="rnd" w="19050">
            <a:solidFill>
              <a:srgbClr val="8C7753"/>
            </a:solidFill>
            <a:prstDash val="solid"/>
            <a:headEnd type="none" len="sm" w="sm"/>
            <a:tailEnd type="oval" len="lg" w="lg"/>
          </a:ln>
        </p:spPr>
      </p:sp>
      <p:sp>
        <p:nvSpPr>
          <p:cNvPr name="AutoShape 15" id="15"/>
          <p:cNvSpPr/>
          <p:nvPr/>
        </p:nvSpPr>
        <p:spPr>
          <a:xfrm>
            <a:off x="15070109" y="3774335"/>
            <a:ext cx="0" cy="1940701"/>
          </a:xfrm>
          <a:prstGeom prst="line">
            <a:avLst/>
          </a:prstGeom>
          <a:ln cap="rnd" w="19050">
            <a:solidFill>
              <a:srgbClr val="8C7753"/>
            </a:solidFill>
            <a:prstDash val="solid"/>
            <a:headEnd type="oval" len="lg" w="lg"/>
            <a:tailEnd type="none" len="sm" w="sm"/>
          </a:ln>
        </p:spPr>
      </p:sp>
      <p:sp>
        <p:nvSpPr>
          <p:cNvPr name="TextBox 16" id="16"/>
          <p:cNvSpPr txBox="true"/>
          <p:nvPr/>
        </p:nvSpPr>
        <p:spPr>
          <a:xfrm rot="0">
            <a:off x="8520843"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8C7753"/>
                </a:solidFill>
                <a:latin typeface="Open Sauce"/>
                <a:ea typeface="Open Sauce"/>
                <a:cs typeface="Open Sauce"/>
                <a:sym typeface="Open Sauce"/>
              </a:rPr>
              <a:t>P</a:t>
            </a:r>
            <a:r>
              <a:rPr lang="en-US" sz="2400" strike="noStrike" u="none">
                <a:solidFill>
                  <a:srgbClr val="8C7753"/>
                </a:solidFill>
                <a:latin typeface="Open Sauce"/>
                <a:ea typeface="Open Sauce"/>
                <a:cs typeface="Open Sauce"/>
                <a:sym typeface="Open Sauce"/>
              </a:rPr>
              <a:t>rototyping</a:t>
            </a:r>
          </a:p>
        </p:txBody>
      </p:sp>
      <p:sp>
        <p:nvSpPr>
          <p:cNvPr name="TextBox 17" id="17"/>
          <p:cNvSpPr txBox="true"/>
          <p:nvPr/>
        </p:nvSpPr>
        <p:spPr>
          <a:xfrm rot="0">
            <a:off x="8520843" y="4202924"/>
            <a:ext cx="3987272"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created w</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reframes an</a:t>
            </a:r>
            <a:r>
              <a:rPr lang="en-US" sz="2100" strike="noStrike" u="none">
                <a:solidFill>
                  <a:srgbClr val="331B0D"/>
                </a:solidFill>
                <a:latin typeface="Open Sauce"/>
                <a:ea typeface="Open Sauce"/>
                <a:cs typeface="Open Sauce"/>
                <a:sym typeface="Open Sauce"/>
              </a:rPr>
              <a:t>d </a:t>
            </a:r>
            <a:r>
              <a:rPr lang="en-US" sz="2100" strike="noStrike" u="none">
                <a:solidFill>
                  <a:srgbClr val="331B0D"/>
                </a:solidFill>
                <a:latin typeface="Open Sauce"/>
                <a:ea typeface="Open Sauce"/>
                <a:cs typeface="Open Sauce"/>
                <a:sym typeface="Open Sauce"/>
              </a:rPr>
              <a:t>mocku</a:t>
            </a:r>
            <a:r>
              <a:rPr lang="en-US" sz="2100" strike="noStrike" u="none">
                <a:solidFill>
                  <a:srgbClr val="331B0D"/>
                </a:solidFill>
                <a:latin typeface="Open Sauce"/>
                <a:ea typeface="Open Sauce"/>
                <a:cs typeface="Open Sauce"/>
                <a:sym typeface="Open Sauce"/>
              </a:rPr>
              <a:t>p</a:t>
            </a:r>
            <a:r>
              <a:rPr lang="en-US" sz="2100" strike="noStrike" u="none">
                <a:solidFill>
                  <a:srgbClr val="331B0D"/>
                </a:solidFill>
                <a:latin typeface="Open Sauce"/>
                <a:ea typeface="Open Sauce"/>
                <a:cs typeface="Open Sauce"/>
                <a:sym typeface="Open Sauce"/>
              </a:rPr>
              <a:t>s t</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 visualize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he user </a:t>
            </a:r>
            <a:r>
              <a:rPr lang="en-US" sz="2100" strike="noStrike" u="none">
                <a:solidFill>
                  <a:srgbClr val="331B0D"/>
                </a:solidFill>
                <a:latin typeface="Open Sauce"/>
                <a:ea typeface="Open Sauce"/>
                <a:cs typeface="Open Sauce"/>
                <a:sym typeface="Open Sauce"/>
              </a:rPr>
              <a:t>flo</a:t>
            </a:r>
            <a:r>
              <a:rPr lang="en-US" sz="2100" strike="noStrike" u="none">
                <a:solidFill>
                  <a:srgbClr val="331B0D"/>
                </a:solidFill>
                <a:latin typeface="Open Sauce"/>
                <a:ea typeface="Open Sauce"/>
                <a:cs typeface="Open Sauce"/>
                <a:sym typeface="Open Sauce"/>
              </a:rPr>
              <a:t>w</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and</a:t>
            </a:r>
            <a:r>
              <a:rPr lang="en-US" sz="2100" strike="noStrike" u="none">
                <a:solidFill>
                  <a:srgbClr val="331B0D"/>
                </a:solidFill>
                <a:latin typeface="Open Sauce"/>
                <a:ea typeface="Open Sauce"/>
                <a:cs typeface="Open Sauce"/>
                <a:sym typeface="Open Sauce"/>
              </a:rPr>
              <a:t> c</a:t>
            </a:r>
            <a:r>
              <a:rPr lang="en-US" sz="2100" strike="noStrike" u="none">
                <a:solidFill>
                  <a:srgbClr val="331B0D"/>
                </a:solidFill>
                <a:latin typeface="Open Sauce"/>
                <a:ea typeface="Open Sauce"/>
                <a:cs typeface="Open Sauce"/>
                <a:sym typeface="Open Sauce"/>
              </a:rPr>
              <a:t>or</a:t>
            </a:r>
            <a:r>
              <a:rPr lang="en-US" sz="2100" strike="noStrike" u="none">
                <a:solidFill>
                  <a:srgbClr val="331B0D"/>
                </a:solidFill>
                <a:latin typeface="Open Sauce"/>
                <a:ea typeface="Open Sauce"/>
                <a:cs typeface="Open Sauce"/>
                <a:sym typeface="Open Sauce"/>
              </a:rPr>
              <a:t>e </a:t>
            </a:r>
            <a:r>
              <a:rPr lang="en-US" sz="2100" strike="noStrike" u="none">
                <a:solidFill>
                  <a:srgbClr val="331B0D"/>
                </a:solidFill>
                <a:latin typeface="Open Sauce"/>
                <a:ea typeface="Open Sauce"/>
                <a:cs typeface="Open Sauce"/>
                <a:sym typeface="Open Sauce"/>
              </a:rPr>
              <a:t>fea</a:t>
            </a:r>
            <a:r>
              <a:rPr lang="en-US" sz="2100" strike="noStrike" u="none">
                <a:solidFill>
                  <a:srgbClr val="331B0D"/>
                </a:solidFill>
                <a:latin typeface="Open Sauce"/>
                <a:ea typeface="Open Sauce"/>
                <a:cs typeface="Open Sauce"/>
                <a:sym typeface="Open Sauce"/>
              </a:rPr>
              <a:t>tu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es</a:t>
            </a:r>
            <a:r>
              <a:rPr lang="en-US" sz="2100" strike="noStrike" u="none">
                <a:solidFill>
                  <a:srgbClr val="331B0D"/>
                </a:solidFill>
                <a:latin typeface="Open Sauce"/>
                <a:ea typeface="Open Sauce"/>
                <a:cs typeface="Open Sauce"/>
                <a:sym typeface="Open Sauce"/>
              </a:rPr>
              <a:t>.</a:t>
            </a:r>
          </a:p>
        </p:txBody>
      </p:sp>
      <p:sp>
        <p:nvSpPr>
          <p:cNvPr name="TextBox 18" id="18"/>
          <p:cNvSpPr txBox="true"/>
          <p:nvPr/>
        </p:nvSpPr>
        <p:spPr>
          <a:xfrm rot="0">
            <a:off x="11627138" y="6715125"/>
            <a:ext cx="3763021"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Feedb</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ck &amp; Revi</a:t>
            </a:r>
            <a:r>
              <a:rPr lang="en-US" sz="2400" strike="noStrike" u="none">
                <a:solidFill>
                  <a:srgbClr val="8C7753"/>
                </a:solidFill>
                <a:latin typeface="Open Sauce"/>
                <a:ea typeface="Open Sauce"/>
                <a:cs typeface="Open Sauce"/>
                <a:sym typeface="Open Sauce"/>
              </a:rPr>
              <a:t>s</a:t>
            </a:r>
            <a:r>
              <a:rPr lang="en-US" sz="2400" strike="noStrike" u="none">
                <a:solidFill>
                  <a:srgbClr val="8C7753"/>
                </a:solidFill>
                <a:latin typeface="Open Sauce"/>
                <a:ea typeface="Open Sauce"/>
                <a:cs typeface="Open Sauce"/>
                <a:sym typeface="Open Sauce"/>
              </a:rPr>
              <a:t>ions</a:t>
            </a:r>
          </a:p>
        </p:txBody>
      </p:sp>
      <p:sp>
        <p:nvSpPr>
          <p:cNvPr name="TextBox 19" id="19"/>
          <p:cNvSpPr txBox="true"/>
          <p:nvPr/>
        </p:nvSpPr>
        <p:spPr>
          <a:xfrm rot="0">
            <a:off x="11627138" y="7341870"/>
            <a:ext cx="3763021"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gathered peer feedb</a:t>
            </a:r>
            <a:r>
              <a:rPr lang="en-US" sz="2100" strike="noStrike" u="none">
                <a:solidFill>
                  <a:srgbClr val="331B0D"/>
                </a:solidFill>
                <a:latin typeface="Open Sauce"/>
                <a:ea typeface="Open Sauce"/>
                <a:cs typeface="Open Sauce"/>
                <a:sym typeface="Open Sauce"/>
              </a:rPr>
              <a:t>ac</a:t>
            </a:r>
            <a:r>
              <a:rPr lang="en-US" sz="2100" strike="noStrike" u="none">
                <a:solidFill>
                  <a:srgbClr val="331B0D"/>
                </a:solidFill>
                <a:latin typeface="Open Sauce"/>
                <a:ea typeface="Open Sauce"/>
                <a:cs typeface="Open Sauce"/>
                <a:sym typeface="Open Sauce"/>
              </a:rPr>
              <a:t>k</a:t>
            </a:r>
            <a:r>
              <a:rPr lang="en-US" sz="2100" strike="noStrike" u="none">
                <a:solidFill>
                  <a:srgbClr val="331B0D"/>
                </a:solidFill>
                <a:latin typeface="Open Sauce"/>
                <a:ea typeface="Open Sauce"/>
                <a:cs typeface="Open Sauce"/>
                <a:sym typeface="Open Sauce"/>
              </a:rPr>
              <a:t> a</a:t>
            </a:r>
            <a:r>
              <a:rPr lang="en-US" sz="2100" strike="noStrike" u="none">
                <a:solidFill>
                  <a:srgbClr val="331B0D"/>
                </a:solidFill>
                <a:latin typeface="Open Sauce"/>
                <a:ea typeface="Open Sauce"/>
                <a:cs typeface="Open Sauce"/>
                <a:sym typeface="Open Sauce"/>
              </a:rPr>
              <a:t>nd </a:t>
            </a:r>
            <a:r>
              <a:rPr lang="en-US" sz="2100" strike="noStrike" u="none">
                <a:solidFill>
                  <a:srgbClr val="331B0D"/>
                </a:solidFill>
                <a:latin typeface="Open Sauce"/>
                <a:ea typeface="Open Sauce"/>
                <a:cs typeface="Open Sauce"/>
                <a:sym typeface="Open Sauce"/>
              </a:rPr>
              <a:t>re</a:t>
            </a:r>
            <a:r>
              <a:rPr lang="en-US" sz="2100" strike="noStrike" u="none">
                <a:solidFill>
                  <a:srgbClr val="331B0D"/>
                </a:solidFill>
                <a:latin typeface="Open Sauce"/>
                <a:ea typeface="Open Sauce"/>
                <a:cs typeface="Open Sauce"/>
                <a:sym typeface="Open Sauce"/>
              </a:rPr>
              <a:t>f</a:t>
            </a:r>
            <a:r>
              <a:rPr lang="en-US" sz="2100" strike="noStrike" u="none">
                <a:solidFill>
                  <a:srgbClr val="331B0D"/>
                </a:solidFill>
                <a:latin typeface="Open Sauce"/>
                <a:ea typeface="Open Sauce"/>
                <a:cs typeface="Open Sauce"/>
                <a:sym typeface="Open Sauce"/>
              </a:rPr>
              <a:t>in</a:t>
            </a:r>
            <a:r>
              <a:rPr lang="en-US" sz="2100" strike="noStrike" u="none">
                <a:solidFill>
                  <a:srgbClr val="331B0D"/>
                </a:solidFill>
                <a:latin typeface="Open Sauce"/>
                <a:ea typeface="Open Sauce"/>
                <a:cs typeface="Open Sauce"/>
                <a:sym typeface="Open Sauce"/>
              </a:rPr>
              <a:t>ed</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h</a:t>
            </a:r>
            <a:r>
              <a:rPr lang="en-US" sz="2100" strike="noStrike" u="none">
                <a:solidFill>
                  <a:srgbClr val="331B0D"/>
                </a:solidFill>
                <a:latin typeface="Open Sauce"/>
                <a:ea typeface="Open Sauce"/>
                <a:cs typeface="Open Sauce"/>
                <a:sym typeface="Open Sauce"/>
              </a:rPr>
              <a:t>e lay</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ut to im</a:t>
            </a:r>
            <a:r>
              <a:rPr lang="en-US" sz="2100" strike="noStrike" u="none">
                <a:solidFill>
                  <a:srgbClr val="331B0D"/>
                </a:solidFill>
                <a:latin typeface="Open Sauce"/>
                <a:ea typeface="Open Sauce"/>
                <a:cs typeface="Open Sauce"/>
                <a:sym typeface="Open Sauce"/>
              </a:rPr>
              <a:t>p</a:t>
            </a:r>
            <a:r>
              <a:rPr lang="en-US" sz="2100" strike="noStrike" u="none">
                <a:solidFill>
                  <a:srgbClr val="331B0D"/>
                </a:solidFill>
                <a:latin typeface="Open Sauce"/>
                <a:ea typeface="Open Sauce"/>
                <a:cs typeface="Open Sauce"/>
                <a:sym typeface="Open Sauce"/>
              </a:rPr>
              <a:t>rove clarity and u</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ability.</a:t>
            </a:r>
          </a:p>
        </p:txBody>
      </p:sp>
      <p:sp>
        <p:nvSpPr>
          <p:cNvPr name="TextBox 20" id="20"/>
          <p:cNvSpPr txBox="true"/>
          <p:nvPr/>
        </p:nvSpPr>
        <p:spPr>
          <a:xfrm rot="0">
            <a:off x="15390158" y="3576179"/>
            <a:ext cx="1678642"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Fin</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l</a:t>
            </a:r>
            <a:r>
              <a:rPr lang="en-US" b="true" sz="2400" strike="noStrike" u="none">
                <a:solidFill>
                  <a:srgbClr val="8C7753"/>
                </a:solidFill>
                <a:latin typeface="Open Sauce Bold"/>
                <a:ea typeface="Open Sauce Bold"/>
                <a:cs typeface="Open Sauce Bold"/>
                <a:sym typeface="Open Sauce Bold"/>
              </a:rPr>
              <a:t> </a:t>
            </a:r>
            <a:r>
              <a:rPr lang="en-US" b="true" sz="2400" strike="noStrike" u="none">
                <a:solidFill>
                  <a:srgbClr val="8C7753"/>
                </a:solidFill>
                <a:latin typeface="Open Sauce Bold"/>
                <a:ea typeface="Open Sauce Bold"/>
                <a:cs typeface="Open Sauce Bold"/>
                <a:sym typeface="Open Sauce Bold"/>
              </a:rPr>
              <a:t>Build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34427" t="0" r="-34427" b="0"/>
            </a:stretch>
          </a:blipFill>
        </p:spPr>
      </p:sp>
      <p:sp>
        <p:nvSpPr>
          <p:cNvPr name="TextBox 3" id="3"/>
          <p:cNvSpPr txBox="true"/>
          <p:nvPr/>
        </p:nvSpPr>
        <p:spPr>
          <a:xfrm rot="0">
            <a:off x="9912749" y="1989777"/>
            <a:ext cx="7342398"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Summary</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5" id="5"/>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FFFFF"/>
                </a:solidFill>
                <a:latin typeface="Open Sauce Bold"/>
                <a:ea typeface="Open Sauce Bold"/>
                <a:cs typeface="Open Sauce Bold"/>
                <a:sym typeface="Open Sauce Bold"/>
              </a:rPr>
              <a:t>Solution Overview</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7" id="7"/>
          <p:cNvSpPr txBox="true"/>
          <p:nvPr/>
        </p:nvSpPr>
        <p:spPr>
          <a:xfrm rot="0">
            <a:off x="9912749" y="3073722"/>
            <a:ext cx="367119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We Cre</a:t>
            </a:r>
            <a:r>
              <a:rPr lang="en-US" sz="2400">
                <a:solidFill>
                  <a:srgbClr val="8C7753"/>
                </a:solidFill>
                <a:latin typeface="Open Sauce"/>
                <a:ea typeface="Open Sauce"/>
                <a:cs typeface="Open Sauce"/>
                <a:sym typeface="Open Sauce"/>
              </a:rPr>
              <a:t>ated</a:t>
            </a:r>
          </a:p>
        </p:txBody>
      </p:sp>
      <p:sp>
        <p:nvSpPr>
          <p:cNvPr name="TextBox 8" id="8"/>
          <p:cNvSpPr txBox="true"/>
          <p:nvPr/>
        </p:nvSpPr>
        <p:spPr>
          <a:xfrm rot="0">
            <a:off x="9912749"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d</a:t>
            </a:r>
            <a:r>
              <a:rPr lang="en-US" sz="2100">
                <a:solidFill>
                  <a:srgbClr val="331B0D"/>
                </a:solidFill>
                <a:latin typeface="Open Sauce"/>
                <a:ea typeface="Open Sauce"/>
                <a:cs typeface="Open Sauce"/>
                <a:sym typeface="Open Sauce"/>
              </a:rPr>
              <a:t>esigned a lightweight digital planner made for students who want to stay organized without feeling overwhelmed.</a:t>
            </a:r>
          </a:p>
        </p:txBody>
      </p:sp>
      <p:sp>
        <p:nvSpPr>
          <p:cNvPr name="TextBox 9" id="9"/>
          <p:cNvSpPr txBox="true"/>
          <p:nvPr/>
        </p:nvSpPr>
        <p:spPr>
          <a:xfrm rot="0">
            <a:off x="9912749"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It Does</a:t>
            </a:r>
          </a:p>
        </p:txBody>
      </p:sp>
      <p:sp>
        <p:nvSpPr>
          <p:cNvPr name="TextBox 10" id="10"/>
          <p:cNvSpPr txBox="true"/>
          <p:nvPr/>
        </p:nvSpPr>
        <p:spPr>
          <a:xfrm rot="0">
            <a:off x="9912749" y="6460812"/>
            <a:ext cx="7342398"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Allows users to cre</a:t>
            </a:r>
            <a:r>
              <a:rPr lang="en-US" sz="2100">
                <a:solidFill>
                  <a:srgbClr val="331B0D"/>
                </a:solidFill>
                <a:latin typeface="Open Sauce"/>
                <a:ea typeface="Open Sauce"/>
                <a:cs typeface="Open Sauce"/>
                <a:sym typeface="Open Sauce"/>
              </a:rPr>
              <a:t>ate and manage tasks effortlessly</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Off</a:t>
            </a:r>
            <a:r>
              <a:rPr lang="en-US" sz="2100">
                <a:solidFill>
                  <a:srgbClr val="331B0D"/>
                </a:solidFill>
                <a:latin typeface="Open Sauce"/>
                <a:ea typeface="Open Sauce"/>
                <a:cs typeface="Open Sauce"/>
                <a:sym typeface="Open Sauce"/>
              </a:rPr>
              <a:t>ers a distraction-free “focus mode” for study or work</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Provides customizable reminders and alerts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Syncs data across multiple devices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Supp</a:t>
            </a:r>
            <a:r>
              <a:rPr lang="en-US" sz="2100">
                <a:solidFill>
                  <a:srgbClr val="331B0D"/>
                </a:solidFill>
                <a:latin typeface="Open Sauce"/>
                <a:ea typeface="Open Sauce"/>
                <a:cs typeface="Open Sauce"/>
                <a:sym typeface="Open Sauce"/>
              </a:rPr>
              <a:t>orts offline access for uninterrupted use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Key Features</a:t>
            </a:r>
          </a:p>
        </p:txBody>
      </p:sp>
      <p:sp>
        <p:nvSpPr>
          <p:cNvPr name="TextBox 3" id="3"/>
          <p:cNvSpPr txBox="true"/>
          <p:nvPr/>
        </p:nvSpPr>
        <p:spPr>
          <a:xfrm rot="0">
            <a:off x="1028700" y="4219448"/>
            <a:ext cx="6999640" cy="4345305"/>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Ou</a:t>
            </a:r>
            <a:r>
              <a:rPr lang="en-US" sz="2400">
                <a:solidFill>
                  <a:srgbClr val="331B0D"/>
                </a:solidFill>
                <a:latin typeface="Open Sauce"/>
                <a:ea typeface="Open Sauce"/>
                <a:cs typeface="Open Sauce"/>
                <a:sym typeface="Open Sauce"/>
              </a:rPr>
              <a:t>r final design includes a set of focused features aimed at enhancing usability and effectiveness. These include a clean visual layout for easy navigation, a drag-and-drop task scheduler, gentle reminders to reduce stress, and an offline mode for uninterrupted access. Each component was chosen to support the user’s productivity while keeping the interface simple and distraction-free.</a:t>
            </a:r>
          </a:p>
        </p:txBody>
      </p:sp>
      <p:sp>
        <p:nvSpPr>
          <p:cNvPr name="Freeform 4" id="4"/>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63065" t="0" r="-63065"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6" id="6"/>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Key Features</a:t>
            </a:r>
          </a:p>
        </p:txBody>
      </p:sp>
      <p:sp>
        <p:nvSpPr>
          <p:cNvPr name="TextBox 7" id="7"/>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6455618"/>
          </a:xfrm>
          <a:custGeom>
            <a:avLst/>
            <a:gdLst/>
            <a:ahLst/>
            <a:cxnLst/>
            <a:rect r="r" b="b" t="t" l="l"/>
            <a:pathLst>
              <a:path h="6455618" w="18288000">
                <a:moveTo>
                  <a:pt x="0" y="0"/>
                </a:moveTo>
                <a:lnTo>
                  <a:pt x="18288000" y="0"/>
                </a:lnTo>
                <a:lnTo>
                  <a:pt x="18288000" y="6455618"/>
                </a:lnTo>
                <a:lnTo>
                  <a:pt x="0" y="6455618"/>
                </a:lnTo>
                <a:lnTo>
                  <a:pt x="0" y="0"/>
                </a:lnTo>
                <a:close/>
              </a:path>
            </a:pathLst>
          </a:custGeom>
          <a:blipFill>
            <a:blip r:embed="rId2"/>
            <a:stretch>
              <a:fillRect l="0" t="-29674" r="0" b="-29674"/>
            </a:stretch>
          </a:blipFill>
        </p:spPr>
      </p:sp>
      <p:sp>
        <p:nvSpPr>
          <p:cNvPr name="TextBox 3" id="3"/>
          <p:cNvSpPr txBox="true"/>
          <p:nvPr/>
        </p:nvSpPr>
        <p:spPr>
          <a:xfrm rot="0">
            <a:off x="1028700"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S</a:t>
            </a:r>
            <a:r>
              <a:rPr lang="en-US" sz="2400">
                <a:solidFill>
                  <a:srgbClr val="331B0D"/>
                </a:solidFill>
                <a:latin typeface="Open Sauce"/>
                <a:ea typeface="Open Sauce"/>
                <a:cs typeface="Open Sauce"/>
                <a:sym typeface="Open Sauce"/>
              </a:rPr>
              <a:t>imple layout with today’s tasks and quick notes</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5" id="5"/>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AF7F0"/>
                </a:solidFill>
                <a:latin typeface="Open Sauce Bold"/>
                <a:ea typeface="Open Sauce Bold"/>
                <a:cs typeface="Open Sauce Bold"/>
                <a:sym typeface="Open Sauce Bold"/>
              </a:rPr>
              <a:t>Prototype</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FAF7F0"/>
                </a:solidFill>
                <a:latin typeface="Open Sauce Bold"/>
                <a:ea typeface="Open Sauce Bold"/>
                <a:cs typeface="Open Sauce Bold"/>
                <a:sym typeface="Open Sauce Bold"/>
              </a:rPr>
              <a:t>Team A</a:t>
            </a:r>
          </a:p>
        </p:txBody>
      </p:sp>
      <p:sp>
        <p:nvSpPr>
          <p:cNvPr name="TextBox 7" id="7"/>
          <p:cNvSpPr txBox="true"/>
          <p:nvPr/>
        </p:nvSpPr>
        <p:spPr>
          <a:xfrm rot="0">
            <a:off x="7115551"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Dr</a:t>
            </a:r>
            <a:r>
              <a:rPr lang="en-US" sz="2400">
                <a:solidFill>
                  <a:srgbClr val="331B0D"/>
                </a:solidFill>
                <a:latin typeface="Open Sauce"/>
                <a:ea typeface="Open Sauce"/>
                <a:cs typeface="Open Sauce"/>
                <a:sym typeface="Open Sauce"/>
              </a:rPr>
              <a:t>ag-and-drop interface to organize your week</a:t>
            </a:r>
          </a:p>
        </p:txBody>
      </p:sp>
      <p:sp>
        <p:nvSpPr>
          <p:cNvPr name="TextBox 8" id="8"/>
          <p:cNvSpPr txBox="true"/>
          <p:nvPr/>
        </p:nvSpPr>
        <p:spPr>
          <a:xfrm rot="0">
            <a:off x="13202402"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Min</a:t>
            </a:r>
            <a:r>
              <a:rPr lang="en-US" sz="2400">
                <a:solidFill>
                  <a:srgbClr val="331B0D"/>
                </a:solidFill>
                <a:latin typeface="Open Sauce"/>
                <a:ea typeface="Open Sauce"/>
                <a:cs typeface="Open Sauce"/>
                <a:sym typeface="Open Sauce"/>
              </a:rPr>
              <a:t>imal screen with timer and soft reminders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Challenges Faced</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1028700" y="5019961"/>
            <a:ext cx="367746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N</a:t>
            </a:r>
            <a:r>
              <a:rPr lang="en-US" b="true" sz="2400" strike="noStrike" u="none">
                <a:solidFill>
                  <a:srgbClr val="8C7753"/>
                </a:solidFill>
                <a:latin typeface="Open Sauce Bold"/>
                <a:ea typeface="Open Sauce Bold"/>
                <a:cs typeface="Open Sauce Bold"/>
                <a:sym typeface="Open Sauce Bold"/>
              </a:rPr>
              <a:t>arrowing t</a:t>
            </a:r>
            <a:r>
              <a:rPr lang="en-US" b="true" sz="2400" strike="noStrike" u="none">
                <a:solidFill>
                  <a:srgbClr val="8C7753"/>
                </a:solidFill>
                <a:latin typeface="Open Sauce Bold"/>
                <a:ea typeface="Open Sauce Bold"/>
                <a:cs typeface="Open Sauce Bold"/>
                <a:sym typeface="Open Sauce Bold"/>
              </a:rPr>
              <a:t>he Sc</a:t>
            </a:r>
            <a:r>
              <a:rPr lang="en-US" b="true" sz="2400" strike="noStrike" u="none">
                <a:solidFill>
                  <a:srgbClr val="8C7753"/>
                </a:solidFill>
                <a:latin typeface="Open Sauce Bold"/>
                <a:ea typeface="Open Sauce Bold"/>
                <a:cs typeface="Open Sauce Bold"/>
                <a:sym typeface="Open Sauce Bold"/>
              </a:rPr>
              <a:t>o</a:t>
            </a:r>
            <a:r>
              <a:rPr lang="en-US" b="true" sz="2400" strike="noStrike" u="none">
                <a:solidFill>
                  <a:srgbClr val="8C7753"/>
                </a:solidFill>
                <a:latin typeface="Open Sauce Bold"/>
                <a:ea typeface="Open Sauce Bold"/>
                <a:cs typeface="Open Sauce Bold"/>
                <a:sym typeface="Open Sauce Bold"/>
              </a:rPr>
              <a:t>pe</a:t>
            </a:r>
          </a:p>
        </p:txBody>
      </p:sp>
      <p:sp>
        <p:nvSpPr>
          <p:cNvPr name="TextBox 6" id="6"/>
          <p:cNvSpPr txBox="true"/>
          <p:nvPr/>
        </p:nvSpPr>
        <p:spPr>
          <a:xfrm rot="0">
            <a:off x="1028700" y="5599081"/>
            <a:ext cx="5606820" cy="2402205"/>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We started with too many ideas and had to make hard decisions about what to keep and what to let go. Prioritizing the most valuable features helped us stay focused.</a:t>
            </a:r>
          </a:p>
        </p:txBody>
      </p:sp>
      <p:sp>
        <p:nvSpPr>
          <p:cNvPr name="TextBox 7" id="7"/>
          <p:cNvSpPr txBox="true"/>
          <p:nvPr/>
        </p:nvSpPr>
        <p:spPr>
          <a:xfrm rot="0">
            <a:off x="1028700"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Challenge 1</a:t>
            </a:r>
          </a:p>
        </p:txBody>
      </p:sp>
      <p:sp>
        <p:nvSpPr>
          <p:cNvPr name="TextBox 8" id="8"/>
          <p:cNvSpPr txBox="true"/>
          <p:nvPr/>
        </p:nvSpPr>
        <p:spPr>
          <a:xfrm rot="0">
            <a:off x="9372138" y="5019961"/>
            <a:ext cx="367746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Use</a:t>
            </a:r>
            <a:r>
              <a:rPr lang="en-US" b="true" sz="2400" strike="noStrike" u="none">
                <a:solidFill>
                  <a:srgbClr val="8C7753"/>
                </a:solidFill>
                <a:latin typeface="Open Sauce Bold"/>
                <a:ea typeface="Open Sauce Bold"/>
                <a:cs typeface="Open Sauce Bold"/>
                <a:sym typeface="Open Sauce Bold"/>
              </a:rPr>
              <a:t>r Testing Fee</a:t>
            </a:r>
            <a:r>
              <a:rPr lang="en-US" b="true" sz="2400" strike="noStrike" u="none">
                <a:solidFill>
                  <a:srgbClr val="8C7753"/>
                </a:solidFill>
                <a:latin typeface="Open Sauce Bold"/>
                <a:ea typeface="Open Sauce Bold"/>
                <a:cs typeface="Open Sauce Bold"/>
                <a:sym typeface="Open Sauce Bold"/>
              </a:rPr>
              <a:t>dba</a:t>
            </a:r>
            <a:r>
              <a:rPr lang="en-US" b="true" sz="2400" strike="noStrike" u="none">
                <a:solidFill>
                  <a:srgbClr val="8C7753"/>
                </a:solidFill>
                <a:latin typeface="Open Sauce Bold"/>
                <a:ea typeface="Open Sauce Bold"/>
                <a:cs typeface="Open Sauce Bold"/>
                <a:sym typeface="Open Sauce Bold"/>
              </a:rPr>
              <a:t>c</a:t>
            </a:r>
            <a:r>
              <a:rPr lang="en-US" b="true" sz="2400" strike="noStrike" u="none">
                <a:solidFill>
                  <a:srgbClr val="8C7753"/>
                </a:solidFill>
                <a:latin typeface="Open Sauce Bold"/>
                <a:ea typeface="Open Sauce Bold"/>
                <a:cs typeface="Open Sauce Bold"/>
                <a:sym typeface="Open Sauce Bold"/>
              </a:rPr>
              <a:t>k</a:t>
            </a:r>
          </a:p>
        </p:txBody>
      </p:sp>
      <p:sp>
        <p:nvSpPr>
          <p:cNvPr name="TextBox 9" id="9"/>
          <p:cNvSpPr txBox="true"/>
          <p:nvPr/>
        </p:nvSpPr>
        <p:spPr>
          <a:xfrm rot="0">
            <a:off x="9372138" y="5599081"/>
            <a:ext cx="5606820" cy="288798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Som</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feedb</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ck conflic</a:t>
            </a:r>
            <a:r>
              <a:rPr lang="en-US" sz="2400" strike="noStrike" u="none">
                <a:solidFill>
                  <a:srgbClr val="331B0D"/>
                </a:solidFill>
                <a:latin typeface="Open Sauce"/>
                <a:ea typeface="Open Sauce"/>
                <a:cs typeface="Open Sauce"/>
                <a:sym typeface="Open Sauce"/>
              </a:rPr>
              <a:t>ted with o</a:t>
            </a:r>
            <a:r>
              <a:rPr lang="en-US" sz="2400" strike="noStrike" u="none">
                <a:solidFill>
                  <a:srgbClr val="331B0D"/>
                </a:solidFill>
                <a:latin typeface="Open Sauce"/>
                <a:ea typeface="Open Sauce"/>
                <a:cs typeface="Open Sauce"/>
                <a:sym typeface="Open Sauce"/>
              </a:rPr>
              <a:t>ur</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or</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gin</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pl</a:t>
            </a:r>
            <a:r>
              <a:rPr lang="en-US" sz="2400" strike="noStrike" u="none">
                <a:solidFill>
                  <a:srgbClr val="331B0D"/>
                </a:solidFill>
                <a:latin typeface="Open Sauce"/>
                <a:ea typeface="Open Sauce"/>
                <a:cs typeface="Open Sauce"/>
                <a:sym typeface="Open Sauce"/>
              </a:rPr>
              <a:t>an</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ha</a:t>
            </a:r>
            <a:r>
              <a:rPr lang="en-US" sz="2400" strike="noStrike" u="none">
                <a:solidFill>
                  <a:srgbClr val="331B0D"/>
                </a:solidFill>
                <a:latin typeface="Open Sauce"/>
                <a:ea typeface="Open Sauce"/>
                <a:cs typeface="Open Sauce"/>
                <a:sym typeface="Open Sauce"/>
              </a:rPr>
              <a:t>ll</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ng</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ng t</a:t>
            </a:r>
            <a:r>
              <a:rPr lang="en-US" sz="2400" strike="noStrike" u="none">
                <a:solidFill>
                  <a:srgbClr val="331B0D"/>
                </a:solidFill>
                <a:latin typeface="Open Sauce"/>
                <a:ea typeface="Open Sauce"/>
                <a:cs typeface="Open Sauce"/>
                <a:sym typeface="Open Sauce"/>
              </a:rPr>
              <a:t>o a</a:t>
            </a:r>
            <a:r>
              <a:rPr lang="en-US" sz="2400" strike="noStrike" u="none">
                <a:solidFill>
                  <a:srgbClr val="331B0D"/>
                </a:solidFill>
                <a:latin typeface="Open Sauce"/>
                <a:ea typeface="Open Sauce"/>
                <a:cs typeface="Open Sauce"/>
                <a:sym typeface="Open Sauce"/>
              </a:rPr>
              <a:t>dj</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t w</a:t>
            </a:r>
            <a:r>
              <a:rPr lang="en-US" sz="2400" strike="noStrike" u="none">
                <a:solidFill>
                  <a:srgbClr val="331B0D"/>
                </a:solidFill>
                <a:latin typeface="Open Sauce"/>
                <a:ea typeface="Open Sauce"/>
                <a:cs typeface="Open Sauce"/>
                <a:sym typeface="Open Sauce"/>
              </a:rPr>
              <a:t>it</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ou</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sing</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our cor</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co</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cep</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bu</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ch</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se</a:t>
            </a:r>
            <a:r>
              <a:rPr lang="en-US" sz="2400" strike="noStrike" u="none">
                <a:solidFill>
                  <a:srgbClr val="331B0D"/>
                </a:solidFill>
                <a:latin typeface="Open Sauce"/>
                <a:ea typeface="Open Sauce"/>
                <a:cs typeface="Open Sauce"/>
                <a:sym typeface="Open Sauce"/>
              </a:rPr>
              <a:t> the su</a:t>
            </a:r>
            <a:r>
              <a:rPr lang="en-US" sz="2400" strike="noStrike" u="none">
                <a:solidFill>
                  <a:srgbClr val="331B0D"/>
                </a:solidFill>
                <a:latin typeface="Open Sauce"/>
                <a:ea typeface="Open Sauce"/>
                <a:cs typeface="Open Sauce"/>
                <a:sym typeface="Open Sauce"/>
              </a:rPr>
              <a:t>gg</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stions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th</a:t>
            </a:r>
            <a:r>
              <a:rPr lang="en-US" sz="2400" strike="noStrike" u="none">
                <a:solidFill>
                  <a:srgbClr val="331B0D"/>
                </a:solidFill>
                <a:latin typeface="Open Sauce"/>
                <a:ea typeface="Open Sauce"/>
                <a:cs typeface="Open Sauce"/>
                <a:sym typeface="Open Sauce"/>
              </a:rPr>
              <a:t>at</a:t>
            </a:r>
            <a:r>
              <a:rPr lang="en-US" sz="2400" strike="noStrike" u="none">
                <a:solidFill>
                  <a:srgbClr val="331B0D"/>
                </a:solidFill>
                <a:latin typeface="Open Sauce"/>
                <a:ea typeface="Open Sauce"/>
                <a:cs typeface="Open Sauce"/>
                <a:sym typeface="Open Sauce"/>
              </a:rPr>
              <a:t> b</a:t>
            </a:r>
            <a:r>
              <a:rPr lang="en-US" sz="2400" strike="noStrike" u="none">
                <a:solidFill>
                  <a:srgbClr val="331B0D"/>
                </a:solidFill>
                <a:latin typeface="Open Sauce"/>
                <a:ea typeface="Open Sauce"/>
                <a:cs typeface="Open Sauce"/>
                <a:sym typeface="Open Sauce"/>
              </a:rPr>
              <a:t>es</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su</a:t>
            </a:r>
            <a:r>
              <a:rPr lang="en-US" sz="2400" strike="noStrike" u="none">
                <a:solidFill>
                  <a:srgbClr val="331B0D"/>
                </a:solidFill>
                <a:latin typeface="Open Sauce"/>
                <a:ea typeface="Open Sauce"/>
                <a:cs typeface="Open Sauce"/>
                <a:sym typeface="Open Sauce"/>
              </a:rPr>
              <a:t>p</a:t>
            </a:r>
            <a:r>
              <a:rPr lang="en-US" sz="2400" strike="noStrike" u="none">
                <a:solidFill>
                  <a:srgbClr val="331B0D"/>
                </a:solidFill>
                <a:latin typeface="Open Sauce"/>
                <a:ea typeface="Open Sauce"/>
                <a:cs typeface="Open Sauce"/>
                <a:sym typeface="Open Sauce"/>
              </a:rPr>
              <a:t>port</a:t>
            </a:r>
            <a:r>
              <a:rPr lang="en-US" sz="2400" strike="noStrike" u="none">
                <a:solidFill>
                  <a:srgbClr val="331B0D"/>
                </a:solidFill>
                <a:latin typeface="Open Sauce"/>
                <a:ea typeface="Open Sauce"/>
                <a:cs typeface="Open Sauce"/>
                <a:sym typeface="Open Sauce"/>
              </a:rPr>
              <a:t>ed </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go</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s.</a:t>
            </a:r>
          </a:p>
        </p:txBody>
      </p:sp>
      <p:sp>
        <p:nvSpPr>
          <p:cNvPr name="TextBox 10" id="10"/>
          <p:cNvSpPr txBox="true"/>
          <p:nvPr/>
        </p:nvSpPr>
        <p:spPr>
          <a:xfrm rot="0">
            <a:off x="9372138"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Challenge 2</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12</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Reflections &amp; Growth</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76909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Pe</a:t>
            </a:r>
            <a:r>
              <a:rPr lang="en-US" b="true" sz="2400" strike="noStrike" u="none">
                <a:solidFill>
                  <a:srgbClr val="8C7753"/>
                </a:solidFill>
                <a:latin typeface="Open Sauce Bold"/>
                <a:ea typeface="Open Sauce Bold"/>
                <a:cs typeface="Open Sauce Bold"/>
                <a:sym typeface="Open Sauce Bold"/>
              </a:rPr>
              <a:t>rsonal Skills </a:t>
            </a:r>
            <a:r>
              <a:rPr lang="en-US" b="true" sz="2400" strike="noStrike" u="none">
                <a:solidFill>
                  <a:srgbClr val="8C7753"/>
                </a:solidFill>
                <a:latin typeface="Open Sauce Bold"/>
                <a:ea typeface="Open Sauce Bold"/>
                <a:cs typeface="Open Sauce Bold"/>
                <a:sym typeface="Open Sauce Bold"/>
              </a:rPr>
              <a:t>Gain</a:t>
            </a:r>
            <a:r>
              <a:rPr lang="en-US" b="true" sz="2400" strike="noStrike" u="none">
                <a:solidFill>
                  <a:srgbClr val="8C7753"/>
                </a:solidFill>
                <a:latin typeface="Open Sauce Bold"/>
                <a:ea typeface="Open Sauce Bold"/>
                <a:cs typeface="Open Sauce Bold"/>
                <a:sym typeface="Open Sauce Bold"/>
              </a:rPr>
              <a:t>e</a:t>
            </a:r>
            <a:r>
              <a:rPr lang="en-US" b="true" sz="2400" strike="noStrike" u="none">
                <a:solidFill>
                  <a:srgbClr val="8C7753"/>
                </a:solidFill>
                <a:latin typeface="Open Sauce Bold"/>
                <a:ea typeface="Open Sauce Bold"/>
                <a:cs typeface="Open Sauce Bold"/>
                <a:sym typeface="Open Sauce Bold"/>
              </a:rPr>
              <a:t>d</a:t>
            </a:r>
          </a:p>
        </p:txBody>
      </p:sp>
      <p:sp>
        <p:nvSpPr>
          <p:cNvPr name="TextBox 6" id="6"/>
          <p:cNvSpPr txBox="true"/>
          <p:nvPr/>
        </p:nvSpPr>
        <p:spPr>
          <a:xfrm rot="0">
            <a:off x="5769090" y="322707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le</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d h</a:t>
            </a:r>
            <a:r>
              <a:rPr lang="en-US" sz="2400" strike="noStrike" u="none">
                <a:solidFill>
                  <a:srgbClr val="331B0D"/>
                </a:solidFill>
                <a:latin typeface="Open Sauce"/>
                <a:ea typeface="Open Sauce"/>
                <a:cs typeface="Open Sauce"/>
                <a:sym typeface="Open Sauce"/>
              </a:rPr>
              <a:t>ow</a:t>
            </a:r>
            <a:r>
              <a:rPr lang="en-US" sz="2400" strike="noStrike" u="none">
                <a:solidFill>
                  <a:srgbClr val="331B0D"/>
                </a:solidFill>
                <a:latin typeface="Open Sauce"/>
                <a:ea typeface="Open Sauce"/>
                <a:cs typeface="Open Sauce"/>
                <a:sym typeface="Open Sauce"/>
              </a:rPr>
              <a:t> to ma</a:t>
            </a:r>
            <a:r>
              <a:rPr lang="en-US" sz="2400" strike="noStrike" u="none">
                <a:solidFill>
                  <a:srgbClr val="331B0D"/>
                </a:solidFill>
                <a:latin typeface="Open Sauce"/>
                <a:ea typeface="Open Sauce"/>
                <a:cs typeface="Open Sauce"/>
                <a:sym typeface="Open Sauce"/>
              </a:rPr>
              <a:t>nag</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time</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eff</a:t>
            </a:r>
            <a:r>
              <a:rPr lang="en-US" sz="2400" strike="noStrike" u="none">
                <a:solidFill>
                  <a:srgbClr val="331B0D"/>
                </a:solidFill>
                <a:latin typeface="Open Sauce"/>
                <a:ea typeface="Open Sauce"/>
                <a:cs typeface="Open Sauce"/>
                <a:sym typeface="Open Sauce"/>
              </a:rPr>
              <a:t>ec</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vely,</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mm</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nic</a:t>
            </a:r>
            <a:r>
              <a:rPr lang="en-US" sz="2400" strike="noStrike" u="none">
                <a:solidFill>
                  <a:srgbClr val="331B0D"/>
                </a:solidFill>
                <a:latin typeface="Open Sauce"/>
                <a:ea typeface="Open Sauce"/>
                <a:cs typeface="Open Sauce"/>
                <a:sym typeface="Open Sauce"/>
              </a:rPr>
              <a:t>at</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id</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as cl</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arly,</a:t>
            </a:r>
            <a:r>
              <a:rPr lang="en-US" sz="2400" strike="noStrike" u="none">
                <a:solidFill>
                  <a:srgbClr val="331B0D"/>
                </a:solidFill>
                <a:latin typeface="Open Sauce"/>
                <a:ea typeface="Open Sauce"/>
                <a:cs typeface="Open Sauce"/>
                <a:sym typeface="Open Sauce"/>
              </a:rPr>
              <a:t> and </a:t>
            </a:r>
            <a:r>
              <a:rPr lang="en-US" sz="2400" strike="noStrike" u="none">
                <a:solidFill>
                  <a:srgbClr val="331B0D"/>
                </a:solidFill>
                <a:latin typeface="Open Sauce"/>
                <a:ea typeface="Open Sauce"/>
                <a:cs typeface="Open Sauce"/>
                <a:sym typeface="Open Sauce"/>
              </a:rPr>
              <a:t>st</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y</a:t>
            </a:r>
            <a:r>
              <a:rPr lang="en-US" sz="2400" strike="noStrike" u="none">
                <a:solidFill>
                  <a:srgbClr val="331B0D"/>
                </a:solidFill>
                <a:latin typeface="Open Sauce"/>
                <a:ea typeface="Open Sauce"/>
                <a:cs typeface="Open Sauce"/>
                <a:sym typeface="Open Sauce"/>
              </a:rPr>
              <a:t> o</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g</a:t>
            </a:r>
            <a:r>
              <a:rPr lang="en-US" sz="2400" strike="noStrike" u="none">
                <a:solidFill>
                  <a:srgbClr val="331B0D"/>
                </a:solidFill>
                <a:latin typeface="Open Sauce"/>
                <a:ea typeface="Open Sauce"/>
                <a:cs typeface="Open Sauce"/>
                <a:sym typeface="Open Sauce"/>
              </a:rPr>
              <a:t>an</a:t>
            </a:r>
            <a:r>
              <a:rPr lang="en-US" sz="2400" strike="noStrike" u="none">
                <a:solidFill>
                  <a:srgbClr val="331B0D"/>
                </a:solidFill>
                <a:latin typeface="Open Sauce"/>
                <a:ea typeface="Open Sauce"/>
                <a:cs typeface="Open Sauce"/>
                <a:sym typeface="Open Sauce"/>
              </a:rPr>
              <a:t>ize</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u</a:t>
            </a:r>
            <a:r>
              <a:rPr lang="en-US" sz="2400" strike="noStrike" u="none">
                <a:solidFill>
                  <a:srgbClr val="331B0D"/>
                </a:solidFill>
                <a:latin typeface="Open Sauce"/>
                <a:ea typeface="Open Sauce"/>
                <a:cs typeface="Open Sauce"/>
                <a:sym typeface="Open Sauce"/>
              </a:rPr>
              <a:t>nd</a:t>
            </a:r>
            <a:r>
              <a:rPr lang="en-US" sz="2400" strike="noStrike" u="none">
                <a:solidFill>
                  <a:srgbClr val="331B0D"/>
                </a:solidFill>
                <a:latin typeface="Open Sauce"/>
                <a:ea typeface="Open Sauce"/>
                <a:cs typeface="Open Sauce"/>
                <a:sym typeface="Open Sauce"/>
              </a:rPr>
              <a:t>er p</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essu</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a:t>
            </a:r>
          </a:p>
        </p:txBody>
      </p:sp>
      <p:sp>
        <p:nvSpPr>
          <p:cNvPr name="TextBox 7" id="7"/>
          <p:cNvSpPr txBox="true"/>
          <p:nvPr/>
        </p:nvSpPr>
        <p:spPr>
          <a:xfrm rot="0">
            <a:off x="1165248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Te</a:t>
            </a:r>
            <a:r>
              <a:rPr lang="en-US" b="true" sz="2400" strike="noStrike" u="none">
                <a:solidFill>
                  <a:srgbClr val="8C7753"/>
                </a:solidFill>
                <a:latin typeface="Open Sauce Bold"/>
                <a:ea typeface="Open Sauce Bold"/>
                <a:cs typeface="Open Sauce Bold"/>
                <a:sym typeface="Open Sauce Bold"/>
              </a:rPr>
              <a:t>am Colla</a:t>
            </a:r>
            <a:r>
              <a:rPr lang="en-US" b="true" sz="2400" strike="noStrike" u="none">
                <a:solidFill>
                  <a:srgbClr val="8C7753"/>
                </a:solidFill>
                <a:latin typeface="Open Sauce Bold"/>
                <a:ea typeface="Open Sauce Bold"/>
                <a:cs typeface="Open Sauce Bold"/>
                <a:sym typeface="Open Sauce Bold"/>
              </a:rPr>
              <a:t>borat</a:t>
            </a:r>
            <a:r>
              <a:rPr lang="en-US" b="true" sz="2400" strike="noStrike" u="none">
                <a:solidFill>
                  <a:srgbClr val="8C7753"/>
                </a:solidFill>
                <a:latin typeface="Open Sauce Bold"/>
                <a:ea typeface="Open Sauce Bold"/>
                <a:cs typeface="Open Sauce Bold"/>
                <a:sym typeface="Open Sauce Bold"/>
              </a:rPr>
              <a:t>i</a:t>
            </a:r>
            <a:r>
              <a:rPr lang="en-US" b="true" sz="2400" strike="noStrike" u="none">
                <a:solidFill>
                  <a:srgbClr val="8C7753"/>
                </a:solidFill>
                <a:latin typeface="Open Sauce Bold"/>
                <a:ea typeface="Open Sauce Bold"/>
                <a:cs typeface="Open Sauce Bold"/>
                <a:sym typeface="Open Sauce Bold"/>
              </a:rPr>
              <a:t>o</a:t>
            </a:r>
            <a:r>
              <a:rPr lang="en-US" b="true" sz="2400" strike="noStrike" u="none">
                <a:solidFill>
                  <a:srgbClr val="8C7753"/>
                </a:solidFill>
                <a:latin typeface="Open Sauce Bold"/>
                <a:ea typeface="Open Sauce Bold"/>
                <a:cs typeface="Open Sauce Bold"/>
                <a:sym typeface="Open Sauce Bold"/>
              </a:rPr>
              <a:t>n</a:t>
            </a:r>
            <a:r>
              <a:rPr lang="en-US" b="true" sz="2400" strike="noStrike" u="none">
                <a:solidFill>
                  <a:srgbClr val="8C7753"/>
                </a:solidFill>
                <a:latin typeface="Open Sauce Bold"/>
                <a:ea typeface="Open Sauce Bold"/>
                <a:cs typeface="Open Sauce Bold"/>
                <a:sym typeface="Open Sauce Bold"/>
              </a:rPr>
              <a:t> L</a:t>
            </a:r>
            <a:r>
              <a:rPr lang="en-US" b="true" sz="2400" strike="noStrike" u="none">
                <a:solidFill>
                  <a:srgbClr val="8C7753"/>
                </a:solidFill>
                <a:latin typeface="Open Sauce Bold"/>
                <a:ea typeface="Open Sauce Bold"/>
                <a:cs typeface="Open Sauce Bold"/>
                <a:sym typeface="Open Sauce Bold"/>
              </a:rPr>
              <a:t>essons</a:t>
            </a:r>
          </a:p>
        </p:txBody>
      </p:sp>
      <p:sp>
        <p:nvSpPr>
          <p:cNvPr name="TextBox 8" id="8"/>
          <p:cNvSpPr txBox="true"/>
          <p:nvPr/>
        </p:nvSpPr>
        <p:spPr>
          <a:xfrm rot="0">
            <a:off x="11652480" y="322707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We realized the importance of dividing t</a:t>
            </a:r>
            <a:r>
              <a:rPr lang="en-US" sz="2400" strike="noStrike" u="none">
                <a:solidFill>
                  <a:srgbClr val="331B0D"/>
                </a:solidFill>
                <a:latin typeface="Open Sauce"/>
                <a:ea typeface="Open Sauce"/>
                <a:cs typeface="Open Sauce"/>
                <a:sym typeface="Open Sauce"/>
              </a:rPr>
              <a:t>asks bas</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on each member’s st</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ngths</a:t>
            </a:r>
            <a:r>
              <a:rPr lang="en-US" sz="2400" strike="noStrike" u="none">
                <a:solidFill>
                  <a:srgbClr val="331B0D"/>
                </a:solidFill>
                <a:latin typeface="Open Sauce"/>
                <a:ea typeface="Open Sauce"/>
                <a:cs typeface="Open Sauce"/>
                <a:sym typeface="Open Sauce"/>
              </a:rPr>
              <a:t> an</a:t>
            </a:r>
            <a:r>
              <a:rPr lang="en-US" sz="2400" strike="noStrike" u="none">
                <a:solidFill>
                  <a:srgbClr val="331B0D"/>
                </a:solidFill>
                <a:latin typeface="Open Sauce"/>
                <a:ea typeface="Open Sauce"/>
                <a:cs typeface="Open Sauce"/>
                <a:sym typeface="Open Sauce"/>
              </a:rPr>
              <a:t>d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cking</a:t>
            </a:r>
            <a:r>
              <a:rPr lang="en-US" sz="2400" strike="noStrike" u="none">
                <a:solidFill>
                  <a:srgbClr val="331B0D"/>
                </a:solidFill>
                <a:latin typeface="Open Sauce"/>
                <a:ea typeface="Open Sauce"/>
                <a:cs typeface="Open Sauce"/>
                <a:sym typeface="Open Sauce"/>
              </a:rPr>
              <a:t> i</a:t>
            </a:r>
            <a:r>
              <a:rPr lang="en-US" sz="2400" strike="noStrike" u="none">
                <a:solidFill>
                  <a:srgbClr val="331B0D"/>
                </a:solidFill>
                <a:latin typeface="Open Sauce"/>
                <a:ea typeface="Open Sauce"/>
                <a:cs typeface="Open Sauce"/>
                <a:sym typeface="Open Sauce"/>
              </a:rPr>
              <a:t>n r</a:t>
            </a:r>
            <a:r>
              <a:rPr lang="en-US" sz="2400" strike="noStrike" u="none">
                <a:solidFill>
                  <a:srgbClr val="331B0D"/>
                </a:solidFill>
                <a:latin typeface="Open Sauce"/>
                <a:ea typeface="Open Sauce"/>
                <a:cs typeface="Open Sauce"/>
                <a:sym typeface="Open Sauce"/>
              </a:rPr>
              <a:t>egularly to avoid misunderstandings.</a:t>
            </a:r>
          </a:p>
        </p:txBody>
      </p:sp>
      <p:sp>
        <p:nvSpPr>
          <p:cNvPr name="TextBox 9" id="9"/>
          <p:cNvSpPr txBox="true"/>
          <p:nvPr/>
        </p:nvSpPr>
        <p:spPr>
          <a:xfrm rot="0">
            <a:off x="576909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8C7753"/>
                </a:solidFill>
                <a:latin typeface="Open Sauce Bold"/>
                <a:ea typeface="Open Sauce Bold"/>
                <a:cs typeface="Open Sauce Bold"/>
                <a:sym typeface="Open Sauce Bold"/>
              </a:rPr>
              <a:t>Problem-Solvin</a:t>
            </a:r>
            <a:r>
              <a:rPr lang="en-US" b="true" sz="2400" strike="noStrike" u="none">
                <a:solidFill>
                  <a:srgbClr val="8C7753"/>
                </a:solidFill>
                <a:latin typeface="Open Sauce Bold"/>
                <a:ea typeface="Open Sauce Bold"/>
                <a:cs typeface="Open Sauce Bold"/>
                <a:sym typeface="Open Sauce Bold"/>
              </a:rPr>
              <a:t>g Insights</a:t>
            </a:r>
          </a:p>
        </p:txBody>
      </p:sp>
      <p:sp>
        <p:nvSpPr>
          <p:cNvPr name="TextBox 10" id="10"/>
          <p:cNvSpPr txBox="true"/>
          <p:nvPr/>
        </p:nvSpPr>
        <p:spPr>
          <a:xfrm rot="0">
            <a:off x="5769090" y="639064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Through us</a:t>
            </a:r>
            <a:r>
              <a:rPr lang="en-US" sz="2400" strike="noStrike" u="none">
                <a:solidFill>
                  <a:srgbClr val="331B0D"/>
                </a:solidFill>
                <a:latin typeface="Open Sauce"/>
                <a:ea typeface="Open Sauce"/>
                <a:cs typeface="Open Sauce"/>
                <a:sym typeface="Open Sauce"/>
              </a:rPr>
              <a:t>er fee</a:t>
            </a:r>
            <a:r>
              <a:rPr lang="en-US" sz="2400" strike="noStrike" u="none">
                <a:solidFill>
                  <a:srgbClr val="331B0D"/>
                </a:solidFill>
                <a:latin typeface="Open Sauce"/>
                <a:ea typeface="Open Sauce"/>
                <a:cs typeface="Open Sauce"/>
                <a:sym typeface="Open Sauce"/>
              </a:rPr>
              <a:t>db</a:t>
            </a:r>
            <a:r>
              <a:rPr lang="en-US" sz="2400" strike="noStrike" u="none">
                <a:solidFill>
                  <a:srgbClr val="331B0D"/>
                </a:solidFill>
                <a:latin typeface="Open Sauce"/>
                <a:ea typeface="Open Sauce"/>
                <a:cs typeface="Open Sauce"/>
                <a:sym typeface="Open Sauce"/>
              </a:rPr>
              <a:t>ack and iteration, we learned t</a:t>
            </a:r>
            <a:r>
              <a:rPr lang="en-US" sz="2400" strike="noStrike" u="none">
                <a:solidFill>
                  <a:srgbClr val="331B0D"/>
                </a:solidFill>
                <a:latin typeface="Open Sauce"/>
                <a:ea typeface="Open Sauce"/>
                <a:cs typeface="Open Sauce"/>
                <a:sym typeface="Open Sauce"/>
              </a:rPr>
              <a:t>hat s</a:t>
            </a:r>
            <a:r>
              <a:rPr lang="en-US" sz="2400" strike="noStrike" u="none">
                <a:solidFill>
                  <a:srgbClr val="331B0D"/>
                </a:solidFill>
                <a:latin typeface="Open Sauce"/>
                <a:ea typeface="Open Sauce"/>
                <a:cs typeface="Open Sauce"/>
                <a:sym typeface="Open Sauce"/>
              </a:rPr>
              <a:t>im</a:t>
            </a:r>
            <a:r>
              <a:rPr lang="en-US" sz="2400" strike="noStrike" u="none">
                <a:solidFill>
                  <a:srgbClr val="331B0D"/>
                </a:solidFill>
                <a:latin typeface="Open Sauce"/>
                <a:ea typeface="Open Sauce"/>
                <a:cs typeface="Open Sauce"/>
                <a:sym typeface="Open Sauce"/>
              </a:rPr>
              <a:t>pl</a:t>
            </a:r>
            <a:r>
              <a:rPr lang="en-US" sz="2400" strike="noStrike" u="none">
                <a:solidFill>
                  <a:srgbClr val="331B0D"/>
                </a:solidFill>
                <a:latin typeface="Open Sauce"/>
                <a:ea typeface="Open Sauce"/>
                <a:cs typeface="Open Sauce"/>
                <a:sym typeface="Open Sauce"/>
              </a:rPr>
              <a:t>e solution</a:t>
            </a:r>
            <a:r>
              <a:rPr lang="en-US" sz="2400" strike="noStrike" u="none">
                <a:solidFill>
                  <a:srgbClr val="331B0D"/>
                </a:solidFill>
                <a:latin typeface="Open Sauce"/>
                <a:ea typeface="Open Sauce"/>
                <a:cs typeface="Open Sauce"/>
                <a:sym typeface="Open Sauce"/>
              </a:rPr>
              <a:t>s of</a:t>
            </a:r>
            <a:r>
              <a:rPr lang="en-US" sz="2400" strike="noStrike" u="none">
                <a:solidFill>
                  <a:srgbClr val="331B0D"/>
                </a:solidFill>
                <a:latin typeface="Open Sauce"/>
                <a:ea typeface="Open Sauce"/>
                <a:cs typeface="Open Sauce"/>
                <a:sym typeface="Open Sauce"/>
              </a:rPr>
              <a:t>te</a:t>
            </a:r>
            <a:r>
              <a:rPr lang="en-US" sz="2400" strike="noStrike" u="none">
                <a:solidFill>
                  <a:srgbClr val="331B0D"/>
                </a:solidFill>
                <a:latin typeface="Open Sauce"/>
                <a:ea typeface="Open Sauce"/>
                <a:cs typeface="Open Sauce"/>
                <a:sym typeface="Open Sauce"/>
              </a:rPr>
              <a:t>n work</a:t>
            </a:r>
            <a:r>
              <a:rPr lang="en-US" sz="2400" strike="noStrike" u="none">
                <a:solidFill>
                  <a:srgbClr val="331B0D"/>
                </a:solidFill>
                <a:latin typeface="Open Sauce"/>
                <a:ea typeface="Open Sauce"/>
                <a:cs typeface="Open Sauce"/>
                <a:sym typeface="Open Sauce"/>
              </a:rPr>
              <a:t> better tha</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 c</a:t>
            </a:r>
            <a:r>
              <a:rPr lang="en-US" sz="2400" strike="noStrike" u="none">
                <a:solidFill>
                  <a:srgbClr val="331B0D"/>
                </a:solidFill>
                <a:latin typeface="Open Sauce"/>
                <a:ea typeface="Open Sauce"/>
                <a:cs typeface="Open Sauce"/>
                <a:sym typeface="Open Sauce"/>
              </a:rPr>
              <a:t>omp</a:t>
            </a:r>
            <a:r>
              <a:rPr lang="en-US" sz="2400" strike="noStrike" u="none">
                <a:solidFill>
                  <a:srgbClr val="331B0D"/>
                </a:solidFill>
                <a:latin typeface="Open Sauce"/>
                <a:ea typeface="Open Sauce"/>
                <a:cs typeface="Open Sauce"/>
                <a:sym typeface="Open Sauce"/>
              </a:rPr>
              <a:t>lex ones. List</a:t>
            </a:r>
            <a:r>
              <a:rPr lang="en-US" sz="2400" strike="noStrike" u="none">
                <a:solidFill>
                  <a:srgbClr val="331B0D"/>
                </a:solidFill>
                <a:latin typeface="Open Sauce"/>
                <a:ea typeface="Open Sauce"/>
                <a:cs typeface="Open Sauce"/>
                <a:sym typeface="Open Sauce"/>
              </a:rPr>
              <a:t>ening</a:t>
            </a:r>
            <a:r>
              <a:rPr lang="en-US" sz="2400" strike="noStrike" u="none">
                <a:solidFill>
                  <a:srgbClr val="331B0D"/>
                </a:solidFill>
                <a:latin typeface="Open Sauce"/>
                <a:ea typeface="Open Sauce"/>
                <a:cs typeface="Open Sauce"/>
                <a:sym typeface="Open Sauce"/>
              </a:rPr>
              <a:t> a</a:t>
            </a:r>
            <a:r>
              <a:rPr lang="en-US" sz="2400" strike="noStrike" u="none">
                <a:solidFill>
                  <a:srgbClr val="331B0D"/>
                </a:solidFill>
                <a:latin typeface="Open Sauce"/>
                <a:ea typeface="Open Sauce"/>
                <a:cs typeface="Open Sauce"/>
                <a:sym typeface="Open Sauce"/>
              </a:rPr>
              <a:t>ct</a:t>
            </a:r>
            <a:r>
              <a:rPr lang="en-US" sz="2400" strike="noStrike" u="none">
                <a:solidFill>
                  <a:srgbClr val="331B0D"/>
                </a:solidFill>
                <a:latin typeface="Open Sauce"/>
                <a:ea typeface="Open Sauce"/>
                <a:cs typeface="Open Sauce"/>
                <a:sym typeface="Open Sauce"/>
              </a:rPr>
              <a:t>ively was key.</a:t>
            </a:r>
          </a:p>
        </p:txBody>
      </p:sp>
      <p:sp>
        <p:nvSpPr>
          <p:cNvPr name="TextBox 11" id="11"/>
          <p:cNvSpPr txBox="true"/>
          <p:nvPr/>
        </p:nvSpPr>
        <p:spPr>
          <a:xfrm rot="0">
            <a:off x="1165248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Adaptability</a:t>
            </a:r>
          </a:p>
        </p:txBody>
      </p:sp>
      <p:sp>
        <p:nvSpPr>
          <p:cNvPr name="TextBox 12" id="12"/>
          <p:cNvSpPr txBox="true"/>
          <p:nvPr/>
        </p:nvSpPr>
        <p:spPr>
          <a:xfrm rot="0">
            <a:off x="11652480" y="639064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When some ideas didn’t work as expected, we learned h</a:t>
            </a:r>
            <a:r>
              <a:rPr lang="en-US" sz="2400" strike="noStrike" u="none">
                <a:solidFill>
                  <a:srgbClr val="331B0D"/>
                </a:solidFill>
                <a:latin typeface="Open Sauce"/>
                <a:ea typeface="Open Sauce"/>
                <a:cs typeface="Open Sauce"/>
                <a:sym typeface="Open Sauce"/>
              </a:rPr>
              <a:t>ow to</a:t>
            </a:r>
            <a:r>
              <a:rPr lang="en-US" sz="2400" strike="noStrike" u="none">
                <a:solidFill>
                  <a:srgbClr val="331B0D"/>
                </a:solidFill>
                <a:latin typeface="Open Sauce"/>
                <a:ea typeface="Open Sauce"/>
                <a:cs typeface="Open Sauce"/>
                <a:sym typeface="Open Sauce"/>
              </a:rPr>
              <a:t> pivot </a:t>
            </a:r>
            <a:r>
              <a:rPr lang="en-US" sz="2400" strike="noStrike" u="none">
                <a:solidFill>
                  <a:srgbClr val="331B0D"/>
                </a:solidFill>
                <a:latin typeface="Open Sauce"/>
                <a:ea typeface="Open Sauce"/>
                <a:cs typeface="Open Sauce"/>
                <a:sym typeface="Open Sauce"/>
              </a:rPr>
              <a:t>q</a:t>
            </a:r>
            <a:r>
              <a:rPr lang="en-US" sz="2400" strike="noStrike" u="none">
                <a:solidFill>
                  <a:srgbClr val="331B0D"/>
                </a:solidFill>
                <a:latin typeface="Open Sauce"/>
                <a:ea typeface="Open Sauce"/>
                <a:cs typeface="Open Sauce"/>
                <a:sym typeface="Open Sauce"/>
              </a:rPr>
              <a:t>uickly and stay focused on the end goal.</a:t>
            </a:r>
          </a:p>
        </p:txBody>
      </p:sp>
      <p:sp>
        <p:nvSpPr>
          <p:cNvPr name="TextBox 13" id="13"/>
          <p:cNvSpPr txBox="true"/>
          <p:nvPr/>
        </p:nvSpPr>
        <p:spPr>
          <a:xfrm rot="0">
            <a:off x="1028700" y="1989777"/>
            <a:ext cx="3436408"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Learned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The End</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A</a:t>
            </a:r>
          </a:p>
        </p:txBody>
      </p:sp>
      <p:sp>
        <p:nvSpPr>
          <p:cNvPr name="TextBox 4" id="4"/>
          <p:cNvSpPr txBox="true"/>
          <p:nvPr/>
        </p:nvSpPr>
        <p:spPr>
          <a:xfrm rot="0">
            <a:off x="12698616" y="7778115"/>
            <a:ext cx="4560684" cy="1480185"/>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rPr>
              <a:t>Drew Feig</a:t>
            </a:r>
          </a:p>
          <a:p>
            <a:pPr algn="r">
              <a:lnSpc>
                <a:spcPts val="2940"/>
              </a:lnSpc>
            </a:pPr>
            <a:r>
              <a:rPr lang="en-US" sz="2100">
                <a:solidFill>
                  <a:srgbClr val="331B0D"/>
                </a:solidFill>
                <a:latin typeface="Open Sauce"/>
                <a:ea typeface="Open Sauce"/>
                <a:cs typeface="Open Sauce"/>
                <a:sym typeface="Open Sauce"/>
              </a:rPr>
              <a:t>Eleanor Fitzgerald</a:t>
            </a:r>
          </a:p>
          <a:p>
            <a:pPr algn="r">
              <a:lnSpc>
                <a:spcPts val="2940"/>
              </a:lnSpc>
            </a:pPr>
            <a:r>
              <a:rPr lang="en-US" sz="2100">
                <a:solidFill>
                  <a:srgbClr val="331B0D"/>
                </a:solidFill>
                <a:latin typeface="Open Sauce"/>
                <a:ea typeface="Open Sauce"/>
                <a:cs typeface="Open Sauce"/>
                <a:sym typeface="Open Sauce"/>
              </a:rPr>
              <a:t>Estelle Darcy</a:t>
            </a:r>
          </a:p>
          <a:p>
            <a:pPr algn="r">
              <a:lnSpc>
                <a:spcPts val="2940"/>
              </a:lnSpc>
            </a:pPr>
            <a:r>
              <a:rPr lang="en-US" sz="2100">
                <a:solidFill>
                  <a:srgbClr val="331B0D"/>
                </a:solidFill>
                <a:latin typeface="Open Sauce"/>
                <a:ea typeface="Open Sauce"/>
                <a:cs typeface="Open Sauce"/>
                <a:sym typeface="Open Sauce"/>
              </a:rPr>
              <a:t>Donna Stroupe</a:t>
            </a:r>
          </a:p>
        </p:txBody>
      </p:sp>
      <p:sp>
        <p:nvSpPr>
          <p:cNvPr name="TextBox 5" id="5"/>
          <p:cNvSpPr txBox="true"/>
          <p:nvPr/>
        </p:nvSpPr>
        <p:spPr>
          <a:xfrm rot="0">
            <a:off x="1028700" y="1057275"/>
            <a:ext cx="4560684"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Studio Shodw</a:t>
            </a:r>
            <a:r>
              <a:rPr lang="en-US" b="true" sz="1800" spc="179">
                <a:solidFill>
                  <a:srgbClr val="8C7753"/>
                </a:solidFill>
                <a:latin typeface="Open Sauce Bold"/>
                <a:ea typeface="Open Sauce Bold"/>
                <a:cs typeface="Open Sauce Bold"/>
                <a:sym typeface="Open Sauce Bold"/>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DAHSkAlG3jQ</dc:identifier>
  <dcterms:modified xsi:type="dcterms:W3CDTF">2011-08-01T06:04:30Z</dcterms:modified>
  <cp:revision>1</cp:revision>
  <dc:title>White Beige and Brown Simple Minimalist Clean Final Project Presentation</dc:title>
</cp:coreProperties>
</file>