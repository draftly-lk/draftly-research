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9"/>
    <p:sldId id="257" r:id="rId10"/>
    <p:sldId id="258" r:id="rId11"/>
    <p:sldId id="259" r:id="rId12"/>
    <p:sldId id="260" r:id="rId13"/>
    <p:sldId id="261" r:id="rId14"/>
    <p:sldId id="262" r:id="rId15"/>
    <p:sldId id="263" r:id="rId16"/>
    <p:sldId id="264" r:id="rId17"/>
    <p:sldId id="265" r:id="rId18"/>
    <p:sldId id="266" r:id="rId8"/>
    <p:sldId id="267" r:id="rId7"/>
    <p:sldId id="268" r:id="rId6"/>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Lst>
  <p:sldSz cx="18288000" cy="10287000"/>
  <p:notesSz cx="6858000" cy="9144000"/>
  <p:embeddedFontLst>
    <p:embeddedFont>
      <p:font typeface="Open Sauce" charset="1" panose="00000500000000000000"/>
      <p:regular r:id="rId19"/>
    </p:embeddedFont>
    <p:embeddedFont>
      <p:font typeface="Open Sauce Bold" charset="1" panose="00000800000000000000"/>
      <p:regular r:id="rId20"/>
    </p:embeddedFont>
    <p:embeddedFont>
      <p:font typeface="Open Sauce Italics"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3.xml"/><Relationship Id="rId7" Type="http://schemas.openxmlformats.org/officeDocument/2006/relationships/slide" Target="slides/slide12.xml"/><Relationship Id="rId8" Type="http://schemas.openxmlformats.org/officeDocument/2006/relationships/slide" Target="slides/slide1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font" Target="fonts/font19.fntdata"/><Relationship Id="rId20" Type="http://schemas.openxmlformats.org/officeDocument/2006/relationships/font" Target="fonts/font20.fntdata"/><Relationship Id="rId21" Type="http://schemas.openxmlformats.org/officeDocument/2006/relationships/font" Target="fonts/font21.fntdata"/><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Rectangle 1"/>
          <p:cNvSpPr/>
          <p:nvPr/>
        </p:nvSpPr>
        <p:spPr>
          <a:xfrm>
            <a:off x="0" y="0"/>
            <a:ext cx="274320" cy="10287000"/>
          </a:xfrm>
          <a:prstGeom prst="rect">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MID-EVALUATION  |  2026</a:t>
            </a:r>
          </a:p>
        </p:txBody>
      </p:sp>
      <p:sp>
        <p:nvSpPr>
          <p:cNvPr id="4" name="TextBox 3"/>
          <p:cNvSpPr txBox="1"/>
          <p:nvPr/>
        </p:nvSpPr>
        <p:spPr>
          <a:xfrm>
            <a:off x="932688" y="2487168"/>
            <a:ext cx="10908792" cy="1815084"/>
          </a:xfrm>
          <a:prstGeom prst="rect">
            <a:avLst/>
          </a:prstGeom>
          <a:noFill/>
        </p:spPr>
        <p:txBody>
          <a:bodyPr wrap="square" anchor="t" lIns="0" rIns="0" tIns="0" bIns="0">
            <a:spAutoFit/>
          </a:bodyPr>
          <a:lstStyle/>
          <a:p>
            <a:pPr algn="l">
              <a:lnSpc>
                <a:spcPct val="105000"/>
              </a:lnSpc>
            </a:pPr>
            <a:r>
              <a:rPr sz="13200" b="0" i="0">
                <a:solidFill>
                  <a:srgbClr val="331B0D"/>
                </a:solidFill>
                <a:latin typeface="Open Sauce"/>
              </a:rPr>
              <a:t>Draftly</a:t>
            </a:r>
          </a:p>
        </p:txBody>
      </p:sp>
      <p:sp>
        <p:nvSpPr>
          <p:cNvPr id="5" name="TextBox 4"/>
          <p:cNvSpPr txBox="1"/>
          <p:nvPr/>
        </p:nvSpPr>
        <p:spPr>
          <a:xfrm>
            <a:off x="1024128" y="4553712"/>
            <a:ext cx="10424160" cy="1639824"/>
          </a:xfrm>
          <a:prstGeom prst="rect">
            <a:avLst/>
          </a:prstGeom>
          <a:noFill/>
        </p:spPr>
        <p:txBody>
          <a:bodyPr wrap="square" anchor="t" lIns="0" rIns="0" tIns="0" bIns="0">
            <a:spAutoFit/>
          </a:bodyPr>
          <a:lstStyle/>
          <a:p>
            <a:pPr algn="l">
              <a:lnSpc>
                <a:spcPct val="130000"/>
              </a:lnSpc>
            </a:pPr>
            <a:r>
              <a:rPr sz="3200" b="0" i="0">
                <a:solidFill>
                  <a:srgbClr val="331B0D"/>
                </a:solidFill>
                <a:latin typeface="Open Sauce"/>
              </a:rPr>
              <a:t>An authority-aware legal retrieval and document-drafting platform for Sri Lankan conveyancing.</a:t>
            </a:r>
          </a:p>
        </p:txBody>
      </p:sp>
      <p:cxnSp>
        <p:nvCxnSpPr>
          <p:cNvPr id="6" name="Connector 5"/>
          <p:cNvCxnSpPr/>
          <p:nvPr/>
        </p:nvCxnSpPr>
        <p:spPr>
          <a:xfrm>
            <a:off x="1024128" y="6309360"/>
            <a:ext cx="4754880" cy="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024128" y="6675120"/>
            <a:ext cx="10424160" cy="803656"/>
          </a:xfrm>
          <a:prstGeom prst="rect">
            <a:avLst/>
          </a:prstGeom>
          <a:noFill/>
        </p:spPr>
        <p:txBody>
          <a:bodyPr wrap="square" anchor="t" lIns="0" rIns="0" tIns="0" bIns="0">
            <a:spAutoFit/>
          </a:bodyPr>
          <a:lstStyle/>
          <a:p>
            <a:pPr algn="l">
              <a:lnSpc>
                <a:spcPct val="134000"/>
              </a:lnSpc>
            </a:pPr>
            <a:r>
              <a:rPr sz="2200" b="0" i="1">
                <a:solidFill>
                  <a:srgbClr val="8C7753"/>
                </a:solidFill>
                <a:latin typeface="Open Sauce Italics"/>
              </a:rPr>
              <a:t>Connecting legal questions, statutory provisions, case law and professional workflows.</a:t>
            </a:r>
          </a:p>
        </p:txBody>
      </p:sp>
      <p:sp>
        <p:nvSpPr>
          <p:cNvPr id="8" name="TextBox 7"/>
          <p:cNvSpPr txBox="1"/>
          <p:nvPr/>
        </p:nvSpPr>
        <p:spPr>
          <a:xfrm>
            <a:off x="12701016" y="7370064"/>
            <a:ext cx="4562856" cy="374904"/>
          </a:xfrm>
          <a:prstGeom prst="rect">
            <a:avLst/>
          </a:prstGeom>
          <a:noFill/>
        </p:spPr>
        <p:txBody>
          <a:bodyPr wrap="square" anchor="t" lIns="0" rIns="0" tIns="0" bIns="0">
            <a:spAutoFit/>
          </a:bodyPr>
          <a:lstStyle/>
          <a:p>
            <a:pPr algn="r">
              <a:lnSpc>
                <a:spcPct val="105000"/>
              </a:lnSpc>
            </a:pPr>
            <a:r>
              <a:rPr sz="2400" b="1" i="0">
                <a:solidFill>
                  <a:srgbClr val="8C7753"/>
                </a:solidFill>
                <a:latin typeface="Open Sauce Bold"/>
              </a:rPr>
              <a:t>TEAM A</a:t>
            </a:r>
          </a:p>
        </p:txBody>
      </p:sp>
      <p:sp>
        <p:nvSpPr>
          <p:cNvPr id="9" name="TextBox 8"/>
          <p:cNvSpPr txBox="1"/>
          <p:nvPr/>
        </p:nvSpPr>
        <p:spPr>
          <a:xfrm>
            <a:off x="12701016" y="7818120"/>
            <a:ext cx="4562856" cy="1191006"/>
          </a:xfrm>
          <a:prstGeom prst="rect">
            <a:avLst/>
          </a:prstGeom>
          <a:noFill/>
        </p:spPr>
        <p:txBody>
          <a:bodyPr wrap="square" anchor="t" lIns="0" rIns="0" tIns="0" bIns="0">
            <a:spAutoFit/>
          </a:bodyPr>
          <a:lstStyle/>
          <a:p>
            <a:pPr algn="r">
              <a:lnSpc>
                <a:spcPct val="142000"/>
              </a:lnSpc>
            </a:pPr>
            <a:r>
              <a:rPr sz="2100" b="0" i="0">
                <a:solidFill>
                  <a:srgbClr val="331B0D"/>
                </a:solidFill>
                <a:latin typeface="Open Sauce"/>
              </a:rPr>
              <a:t>Himath Nimpura</a:t>
            </a:r>
          </a:p>
          <a:p>
            <a:pPr algn="r">
              <a:lnSpc>
                <a:spcPct val="142000"/>
              </a:lnSpc>
              <a:spcBef>
                <a:spcPts val="0"/>
              </a:spcBef>
            </a:pPr>
            <a:r>
              <a:rPr sz="2100" b="0" i="0">
                <a:solidFill>
                  <a:srgbClr val="331B0D"/>
                </a:solidFill>
                <a:latin typeface="Open Sauce"/>
              </a:rPr>
              <a:t>Lahiru</a:t>
            </a:r>
          </a:p>
          <a:p>
            <a:pPr algn="r">
              <a:lnSpc>
                <a:spcPct val="142000"/>
              </a:lnSpc>
              <a:spcBef>
                <a:spcPts val="0"/>
              </a:spcBef>
            </a:pPr>
            <a:r>
              <a:rPr sz="2100" b="0" i="0">
                <a:solidFill>
                  <a:srgbClr val="331B0D"/>
                </a:solidFill>
                <a:latin typeface="Open Sauce"/>
              </a:rPr>
              <a:t>Praveen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AGENDA</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What we will cover</a:t>
            </a:r>
          </a:p>
        </p:txBody>
      </p:sp>
      <p:sp>
        <p:nvSpPr>
          <p:cNvPr id="6" name="TextBox 5"/>
          <p:cNvSpPr txBox="1"/>
          <p:nvPr/>
        </p:nvSpPr>
        <p:spPr>
          <a:xfrm>
            <a:off x="1024128" y="3611880"/>
            <a:ext cx="3771899" cy="641604"/>
          </a:xfrm>
          <a:prstGeom prst="rect">
            <a:avLst/>
          </a:prstGeom>
          <a:noFill/>
        </p:spPr>
        <p:txBody>
          <a:bodyPr wrap="square" anchor="t" lIns="0" rIns="0" tIns="0" bIns="0">
            <a:spAutoFit/>
          </a:bodyPr>
          <a:lstStyle/>
          <a:p>
            <a:pPr algn="l">
              <a:lnSpc>
                <a:spcPct val="105000"/>
              </a:lnSpc>
            </a:pPr>
            <a:r>
              <a:rPr sz="4400" b="1" i="0">
                <a:solidFill>
                  <a:srgbClr val="8C7753"/>
                </a:solidFill>
                <a:latin typeface="Open Sauce Bold"/>
              </a:rPr>
              <a:t>01</a:t>
            </a:r>
          </a:p>
        </p:txBody>
      </p:sp>
      <p:cxnSp>
        <p:nvCxnSpPr>
          <p:cNvPr id="7" name="Connector 6"/>
          <p:cNvCxnSpPr/>
          <p:nvPr/>
        </p:nvCxnSpPr>
        <p:spPr>
          <a:xfrm>
            <a:off x="1024128" y="4480560"/>
            <a:ext cx="3771899" cy="0"/>
          </a:xfrm>
          <a:prstGeom prst="line">
            <a:avLst/>
          </a:prstGeom>
          <a:ln w="15240">
            <a:solidFill>
              <a:srgbClr val="D9CDB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4128" y="4709160"/>
            <a:ext cx="3771899" cy="457708"/>
          </a:xfrm>
          <a:prstGeom prst="rect">
            <a:avLst/>
          </a:prstGeom>
          <a:noFill/>
        </p:spPr>
        <p:txBody>
          <a:bodyPr wrap="square" anchor="t" lIns="0" rIns="0" tIns="0" bIns="0">
            <a:spAutoFit/>
          </a:bodyPr>
          <a:lstStyle/>
          <a:p>
            <a:pPr algn="l">
              <a:lnSpc>
                <a:spcPct val="122000"/>
              </a:lnSpc>
            </a:pPr>
            <a:r>
              <a:rPr sz="2600" b="0" i="0">
                <a:solidFill>
                  <a:srgbClr val="331B0D"/>
                </a:solidFill>
                <a:latin typeface="Open Sauce"/>
              </a:rPr>
              <a:t>The problem</a:t>
            </a:r>
          </a:p>
        </p:txBody>
      </p:sp>
      <p:sp>
        <p:nvSpPr>
          <p:cNvPr id="9" name="TextBox 8"/>
          <p:cNvSpPr txBox="1"/>
          <p:nvPr/>
        </p:nvSpPr>
        <p:spPr>
          <a:xfrm>
            <a:off x="1024128" y="5623560"/>
            <a:ext cx="3771899" cy="1001268"/>
          </a:xfrm>
          <a:prstGeom prst="rect">
            <a:avLst/>
          </a:prstGeom>
          <a:noFill/>
        </p:spPr>
        <p:txBody>
          <a:bodyPr wrap="square" anchor="t" lIns="0" rIns="0" tIns="0" bIns="0">
            <a:spAutoFit/>
          </a:bodyPr>
          <a:lstStyle/>
          <a:p>
            <a:pPr algn="l">
              <a:lnSpc>
                <a:spcPct val="138000"/>
              </a:lnSpc>
            </a:pPr>
            <a:r>
              <a:rPr sz="1800" b="0" i="0">
                <a:solidFill>
                  <a:srgbClr val="331B0D"/>
                </a:solidFill>
                <a:latin typeface="Open Sauce"/>
              </a:rPr>
              <a:t>Why Sri Lankan conveyancing research is slow, and what three lawyer consultations told us.</a:t>
            </a:r>
          </a:p>
        </p:txBody>
      </p:sp>
      <p:sp>
        <p:nvSpPr>
          <p:cNvPr id="10" name="TextBox 9"/>
          <p:cNvSpPr txBox="1"/>
          <p:nvPr/>
        </p:nvSpPr>
        <p:spPr>
          <a:xfrm>
            <a:off x="5180075" y="3611880"/>
            <a:ext cx="3771899" cy="641604"/>
          </a:xfrm>
          <a:prstGeom prst="rect">
            <a:avLst/>
          </a:prstGeom>
          <a:noFill/>
        </p:spPr>
        <p:txBody>
          <a:bodyPr wrap="square" anchor="t" lIns="0" rIns="0" tIns="0" bIns="0">
            <a:spAutoFit/>
          </a:bodyPr>
          <a:lstStyle/>
          <a:p>
            <a:pPr algn="l">
              <a:lnSpc>
                <a:spcPct val="105000"/>
              </a:lnSpc>
            </a:pPr>
            <a:r>
              <a:rPr sz="4400" b="1" i="0">
                <a:solidFill>
                  <a:srgbClr val="8C7753"/>
                </a:solidFill>
                <a:latin typeface="Open Sauce Bold"/>
              </a:rPr>
              <a:t>02</a:t>
            </a:r>
          </a:p>
        </p:txBody>
      </p:sp>
      <p:cxnSp>
        <p:nvCxnSpPr>
          <p:cNvPr id="11" name="Connector 10"/>
          <p:cNvCxnSpPr/>
          <p:nvPr/>
        </p:nvCxnSpPr>
        <p:spPr>
          <a:xfrm>
            <a:off x="5180075" y="4480560"/>
            <a:ext cx="3771901" cy="0"/>
          </a:xfrm>
          <a:prstGeom prst="line">
            <a:avLst/>
          </a:prstGeom>
          <a:ln w="15240">
            <a:solidFill>
              <a:srgbClr val="D9CD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180075" y="4709160"/>
            <a:ext cx="3771899" cy="457708"/>
          </a:xfrm>
          <a:prstGeom prst="rect">
            <a:avLst/>
          </a:prstGeom>
          <a:noFill/>
        </p:spPr>
        <p:txBody>
          <a:bodyPr wrap="square" anchor="t" lIns="0" rIns="0" tIns="0" bIns="0">
            <a:spAutoFit/>
          </a:bodyPr>
          <a:lstStyle/>
          <a:p>
            <a:pPr algn="l">
              <a:lnSpc>
                <a:spcPct val="122000"/>
              </a:lnSpc>
            </a:pPr>
            <a:r>
              <a:rPr sz="2600" b="0" i="0">
                <a:solidFill>
                  <a:srgbClr val="331B0D"/>
                </a:solidFill>
                <a:latin typeface="Open Sauce"/>
              </a:rPr>
              <a:t>The retrieval engine</a:t>
            </a:r>
          </a:p>
        </p:txBody>
      </p:sp>
      <p:sp>
        <p:nvSpPr>
          <p:cNvPr id="13" name="TextBox 12"/>
          <p:cNvSpPr txBox="1"/>
          <p:nvPr/>
        </p:nvSpPr>
        <p:spPr>
          <a:xfrm>
            <a:off x="5180075" y="5623560"/>
            <a:ext cx="3771899" cy="1001268"/>
          </a:xfrm>
          <a:prstGeom prst="rect">
            <a:avLst/>
          </a:prstGeom>
          <a:noFill/>
        </p:spPr>
        <p:txBody>
          <a:bodyPr wrap="square" anchor="t" lIns="0" rIns="0" tIns="0" bIns="0">
            <a:spAutoFit/>
          </a:bodyPr>
          <a:lstStyle/>
          <a:p>
            <a:pPr algn="l">
              <a:lnSpc>
                <a:spcPct val="138000"/>
              </a:lnSpc>
            </a:pPr>
            <a:r>
              <a:rPr sz="1800" b="0" i="0">
                <a:solidFill>
                  <a:srgbClr val="331B0D"/>
                </a:solidFill>
                <a:latin typeface="Open Sauce"/>
              </a:rPr>
              <a:t>The corpus we built, how retrieval is designed, and the research it rests on.</a:t>
            </a:r>
          </a:p>
        </p:txBody>
      </p:sp>
      <p:sp>
        <p:nvSpPr>
          <p:cNvPr id="14" name="TextBox 13"/>
          <p:cNvSpPr txBox="1"/>
          <p:nvPr/>
        </p:nvSpPr>
        <p:spPr>
          <a:xfrm>
            <a:off x="9336023" y="3611880"/>
            <a:ext cx="3771899" cy="641604"/>
          </a:xfrm>
          <a:prstGeom prst="rect">
            <a:avLst/>
          </a:prstGeom>
          <a:noFill/>
        </p:spPr>
        <p:txBody>
          <a:bodyPr wrap="square" anchor="t" lIns="0" rIns="0" tIns="0" bIns="0">
            <a:spAutoFit/>
          </a:bodyPr>
          <a:lstStyle/>
          <a:p>
            <a:pPr algn="l">
              <a:lnSpc>
                <a:spcPct val="105000"/>
              </a:lnSpc>
            </a:pPr>
            <a:r>
              <a:rPr sz="4400" b="1" i="0">
                <a:solidFill>
                  <a:srgbClr val="8C7753"/>
                </a:solidFill>
                <a:latin typeface="Open Sauce Bold"/>
              </a:rPr>
              <a:t>03</a:t>
            </a:r>
          </a:p>
        </p:txBody>
      </p:sp>
      <p:cxnSp>
        <p:nvCxnSpPr>
          <p:cNvPr id="15" name="Connector 14"/>
          <p:cNvCxnSpPr/>
          <p:nvPr/>
        </p:nvCxnSpPr>
        <p:spPr>
          <a:xfrm>
            <a:off x="9336023" y="4480560"/>
            <a:ext cx="3771900" cy="0"/>
          </a:xfrm>
          <a:prstGeom prst="line">
            <a:avLst/>
          </a:prstGeom>
          <a:ln w="15240">
            <a:solidFill>
              <a:srgbClr val="D9CDB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336023" y="4709160"/>
            <a:ext cx="3771899" cy="457708"/>
          </a:xfrm>
          <a:prstGeom prst="rect">
            <a:avLst/>
          </a:prstGeom>
          <a:noFill/>
        </p:spPr>
        <p:txBody>
          <a:bodyPr wrap="square" anchor="t" lIns="0" rIns="0" tIns="0" bIns="0">
            <a:spAutoFit/>
          </a:bodyPr>
          <a:lstStyle/>
          <a:p>
            <a:pPr algn="l">
              <a:lnSpc>
                <a:spcPct val="122000"/>
              </a:lnSpc>
            </a:pPr>
            <a:r>
              <a:rPr sz="2600" b="0" i="0">
                <a:solidFill>
                  <a:srgbClr val="331B0D"/>
                </a:solidFill>
                <a:latin typeface="Open Sauce"/>
              </a:rPr>
              <a:t>The drafting platform</a:t>
            </a:r>
          </a:p>
        </p:txBody>
      </p:sp>
      <p:sp>
        <p:nvSpPr>
          <p:cNvPr id="17" name="TextBox 16"/>
          <p:cNvSpPr txBox="1"/>
          <p:nvPr/>
        </p:nvSpPr>
        <p:spPr>
          <a:xfrm>
            <a:off x="9336023" y="5623560"/>
            <a:ext cx="3771899" cy="1001268"/>
          </a:xfrm>
          <a:prstGeom prst="rect">
            <a:avLst/>
          </a:prstGeom>
          <a:noFill/>
        </p:spPr>
        <p:txBody>
          <a:bodyPr wrap="square" anchor="t" lIns="0" rIns="0" tIns="0" bIns="0">
            <a:spAutoFit/>
          </a:bodyPr>
          <a:lstStyle/>
          <a:p>
            <a:pPr algn="l">
              <a:lnSpc>
                <a:spcPct val="138000"/>
              </a:lnSpc>
            </a:pPr>
            <a:r>
              <a:rPr sz="1800" b="0" i="0">
                <a:solidFill>
                  <a:srgbClr val="331B0D"/>
                </a:solidFill>
                <a:latin typeface="Open Sauce"/>
              </a:rPr>
              <a:t>Scope under the Registration of Title Act, the governed rule pack, and the services behind it.</a:t>
            </a:r>
          </a:p>
        </p:txBody>
      </p:sp>
      <p:sp>
        <p:nvSpPr>
          <p:cNvPr id="18" name="TextBox 17"/>
          <p:cNvSpPr txBox="1"/>
          <p:nvPr/>
        </p:nvSpPr>
        <p:spPr>
          <a:xfrm>
            <a:off x="13491972" y="3611880"/>
            <a:ext cx="3771899" cy="641604"/>
          </a:xfrm>
          <a:prstGeom prst="rect">
            <a:avLst/>
          </a:prstGeom>
          <a:noFill/>
        </p:spPr>
        <p:txBody>
          <a:bodyPr wrap="square" anchor="t" lIns="0" rIns="0" tIns="0" bIns="0">
            <a:spAutoFit/>
          </a:bodyPr>
          <a:lstStyle/>
          <a:p>
            <a:pPr algn="l">
              <a:lnSpc>
                <a:spcPct val="105000"/>
              </a:lnSpc>
            </a:pPr>
            <a:r>
              <a:rPr sz="4400" b="1" i="0">
                <a:solidFill>
                  <a:srgbClr val="8C7753"/>
                </a:solidFill>
                <a:latin typeface="Open Sauce Bold"/>
              </a:rPr>
              <a:t>04</a:t>
            </a:r>
          </a:p>
        </p:txBody>
      </p:sp>
      <p:cxnSp>
        <p:nvCxnSpPr>
          <p:cNvPr id="19" name="Connector 18"/>
          <p:cNvCxnSpPr/>
          <p:nvPr/>
        </p:nvCxnSpPr>
        <p:spPr>
          <a:xfrm>
            <a:off x="13491972" y="4480560"/>
            <a:ext cx="3771900" cy="0"/>
          </a:xfrm>
          <a:prstGeom prst="line">
            <a:avLst/>
          </a:prstGeom>
          <a:ln w="15240">
            <a:solidFill>
              <a:srgbClr val="D9CDB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3491972" y="4709160"/>
            <a:ext cx="3771899" cy="457708"/>
          </a:xfrm>
          <a:prstGeom prst="rect">
            <a:avLst/>
          </a:prstGeom>
          <a:noFill/>
        </p:spPr>
        <p:txBody>
          <a:bodyPr wrap="square" anchor="t" lIns="0" rIns="0" tIns="0" bIns="0">
            <a:spAutoFit/>
          </a:bodyPr>
          <a:lstStyle/>
          <a:p>
            <a:pPr algn="l">
              <a:lnSpc>
                <a:spcPct val="122000"/>
              </a:lnSpc>
            </a:pPr>
            <a:r>
              <a:rPr sz="2600" b="0" i="0">
                <a:solidFill>
                  <a:srgbClr val="331B0D"/>
                </a:solidFill>
                <a:latin typeface="Open Sauce"/>
              </a:rPr>
              <a:t>Evaluation and status</a:t>
            </a:r>
          </a:p>
        </p:txBody>
      </p:sp>
      <p:sp>
        <p:nvSpPr>
          <p:cNvPr id="21" name="TextBox 20"/>
          <p:cNvSpPr txBox="1"/>
          <p:nvPr/>
        </p:nvSpPr>
        <p:spPr>
          <a:xfrm>
            <a:off x="13491972" y="5623560"/>
            <a:ext cx="3771899" cy="685800"/>
          </a:xfrm>
          <a:prstGeom prst="rect">
            <a:avLst/>
          </a:prstGeom>
          <a:noFill/>
        </p:spPr>
        <p:txBody>
          <a:bodyPr wrap="square" anchor="t" lIns="0" rIns="0" tIns="0" bIns="0">
            <a:spAutoFit/>
          </a:bodyPr>
          <a:lstStyle/>
          <a:p>
            <a:pPr algn="l">
              <a:lnSpc>
                <a:spcPct val="138000"/>
              </a:lnSpc>
            </a:pPr>
            <a:r>
              <a:rPr sz="1800" b="0" i="0">
                <a:solidFill>
                  <a:srgbClr val="331B0D"/>
                </a:solidFill>
                <a:latin typeface="Open Sauce"/>
              </a:rPr>
              <a:t>How we intend to measure this, and what is honestly not done yet.</a:t>
            </a:r>
          </a:p>
        </p:txBody>
      </p:sp>
      <p:sp>
        <p:nvSpPr>
          <p:cNvPr id="22" name="Rounded Rectangle 21"/>
          <p:cNvSpPr/>
          <p:nvPr/>
        </p:nvSpPr>
        <p:spPr>
          <a:xfrm>
            <a:off x="1024128" y="7223760"/>
            <a:ext cx="16239743" cy="1234440"/>
          </a:xfrm>
          <a:prstGeom prst="roundRect">
            <a:avLst>
              <a:gd name="adj" fmla="val 10370"/>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27048" y="7223760"/>
            <a:ext cx="15233903" cy="1234440"/>
          </a:xfrm>
          <a:prstGeom prst="rect">
            <a:avLst/>
          </a:prstGeom>
          <a:noFill/>
        </p:spPr>
        <p:txBody>
          <a:bodyPr wrap="square" anchor="ctr" lIns="0" rIns="0" tIns="0" bIns="0">
            <a:spAutoFit/>
          </a:bodyPr>
          <a:lstStyle/>
          <a:p>
            <a:pPr algn="l">
              <a:lnSpc>
                <a:spcPct val="130000"/>
              </a:lnSpc>
            </a:pPr>
            <a:r>
              <a:rPr sz="2400" b="0" i="0">
                <a:solidFill>
                  <a:srgbClr val="FAF7F0"/>
                </a:solidFill>
                <a:latin typeface="Open Sauce"/>
              </a:rPr>
              <a:t>One engine, two products: a legal research surface, and a governed drafting workflow that calls the same engine.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331B0D"/>
        </a:solidFill>
        <a:effectLst/>
      </p:bgPr>
    </p:bg>
    <p:spTree>
      <p:nvGrpSpPr>
        <p:cNvPr id="1" name=""/>
        <p:cNvGrpSpPr/>
        <p:nvPr/>
      </p:nvGrpSpPr>
      <p:grpSpPr/>
      <p:sp>
        <p:nvSpPr>
          <p:cNvPr id="2" name="Rectangle 1"/>
          <p:cNvSpPr/>
          <p:nvPr/>
        </p:nvSpPr>
        <p:spPr>
          <a:xfrm>
            <a:off x="0" y="0"/>
            <a:ext cx="274320" cy="10287000"/>
          </a:xfrm>
          <a:prstGeom prst="rect">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SECTION</a:t>
            </a:r>
          </a:p>
        </p:txBody>
      </p:sp>
      <p:sp>
        <p:nvSpPr>
          <p:cNvPr id="4" name="TextBox 3"/>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Draftly  |  Mid-evaluation</a:t>
            </a:r>
          </a:p>
        </p:txBody>
      </p:sp>
      <p:sp>
        <p:nvSpPr>
          <p:cNvPr id="5" name="TextBox 4"/>
          <p:cNvSpPr txBox="1"/>
          <p:nvPr/>
        </p:nvSpPr>
        <p:spPr>
          <a:xfrm>
            <a:off x="1024128" y="2788920"/>
            <a:ext cx="5486400" cy="1764792"/>
          </a:xfrm>
          <a:prstGeom prst="rect">
            <a:avLst/>
          </a:prstGeom>
          <a:noFill/>
        </p:spPr>
        <p:txBody>
          <a:bodyPr wrap="square" anchor="t" lIns="0" rIns="0" tIns="0" bIns="0">
            <a:spAutoFit/>
          </a:bodyPr>
          <a:lstStyle/>
          <a:p>
            <a:pPr algn="l">
              <a:lnSpc>
                <a:spcPct val="102000"/>
              </a:lnSpc>
            </a:pPr>
            <a:r>
              <a:rPr sz="13200" b="1" i="0">
                <a:solidFill>
                  <a:srgbClr val="8C7753"/>
                </a:solidFill>
                <a:latin typeface="Open Sauce Bold"/>
              </a:rPr>
              <a:t>01</a:t>
            </a:r>
          </a:p>
        </p:txBody>
      </p:sp>
      <p:sp>
        <p:nvSpPr>
          <p:cNvPr id="6" name="TextBox 5"/>
          <p:cNvSpPr txBox="1"/>
          <p:nvPr/>
        </p:nvSpPr>
        <p:spPr>
          <a:xfrm>
            <a:off x="1024128" y="5074920"/>
            <a:ext cx="13716000" cy="908304"/>
          </a:xfrm>
          <a:prstGeom prst="rect">
            <a:avLst/>
          </a:prstGeom>
          <a:noFill/>
        </p:spPr>
        <p:txBody>
          <a:bodyPr wrap="square" anchor="t" lIns="0" rIns="0" tIns="0" bIns="0">
            <a:spAutoFit/>
          </a:bodyPr>
          <a:lstStyle/>
          <a:p>
            <a:pPr algn="l">
              <a:lnSpc>
                <a:spcPct val="112000"/>
              </a:lnSpc>
            </a:pPr>
            <a:r>
              <a:rPr sz="6000" b="0" i="0">
                <a:solidFill>
                  <a:srgbClr val="FAF7F0"/>
                </a:solidFill>
                <a:latin typeface="Open Sauce"/>
              </a:rPr>
              <a:t>The problem and domain validation</a:t>
            </a:r>
          </a:p>
        </p:txBody>
      </p:sp>
      <p:cxnSp>
        <p:nvCxnSpPr>
          <p:cNvPr id="7" name="Connector 6"/>
          <p:cNvCxnSpPr/>
          <p:nvPr/>
        </p:nvCxnSpPr>
        <p:spPr>
          <a:xfrm>
            <a:off x="1024128" y="6720840"/>
            <a:ext cx="5486400" cy="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4128" y="7086600"/>
            <a:ext cx="11887200" cy="440435"/>
          </a:xfrm>
          <a:prstGeom prst="rect">
            <a:avLst/>
          </a:prstGeom>
          <a:noFill/>
        </p:spPr>
        <p:txBody>
          <a:bodyPr wrap="square" anchor="t" lIns="0" rIns="0" tIns="0" bIns="0">
            <a:spAutoFit/>
          </a:bodyPr>
          <a:lstStyle/>
          <a:p>
            <a:pPr algn="l">
              <a:lnSpc>
                <a:spcPct val="138000"/>
              </a:lnSpc>
            </a:pPr>
            <a:r>
              <a:rPr sz="2200" b="0" i="0">
                <a:solidFill>
                  <a:srgbClr val="F1EADC"/>
                </a:solidFill>
                <a:latin typeface="Open Sauce"/>
              </a:rPr>
              <a:t>What a conveyancer has to establish before a single line of a deed is drafted.</a:t>
            </a:r>
          </a:p>
        </p:txBody>
      </p:sp>
      <p:sp>
        <p:nvSpPr>
          <p:cNvPr id="9" name="TextBox 8"/>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F1EADC"/>
                </a:solidFill>
                <a:latin typeface="Open Sauce"/>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THE PROBLEM</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4</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A typical conveyancing risk</a:t>
            </a:r>
          </a:p>
        </p:txBody>
      </p:sp>
      <p:sp>
        <p:nvSpPr>
          <p:cNvPr id="6" name="TextBox 5"/>
          <p:cNvSpPr txBox="1"/>
          <p:nvPr/>
        </p:nvSpPr>
        <p:spPr>
          <a:xfrm>
            <a:off x="1024128" y="2852928"/>
            <a:ext cx="12801600" cy="401574"/>
          </a:xfrm>
          <a:prstGeom prst="rect">
            <a:avLst/>
          </a:prstGeom>
          <a:noFill/>
        </p:spPr>
        <p:txBody>
          <a:bodyPr wrap="square" anchor="t" lIns="0" rIns="0" tIns="0" bIns="0">
            <a:spAutoFit/>
          </a:bodyPr>
          <a:lstStyle/>
          <a:p>
            <a:pPr algn="l">
              <a:lnSpc>
                <a:spcPct val="130000"/>
              </a:lnSpc>
            </a:pPr>
            <a:r>
              <a:rPr sz="2100" b="0" i="0">
                <a:solidFill>
                  <a:srgbClr val="8C7753"/>
                </a:solidFill>
                <a:latin typeface="Open Sauce"/>
              </a:rPr>
              <a:t>Before drafting a property-transfer deed, a notary has to settle all six of these.</a:t>
            </a:r>
          </a:p>
        </p:txBody>
      </p:sp>
      <p:sp>
        <p:nvSpPr>
          <p:cNvPr id="7" name="Rounded Rectangle 6"/>
          <p:cNvSpPr/>
          <p:nvPr/>
        </p:nvSpPr>
        <p:spPr>
          <a:xfrm>
            <a:off x="1024128" y="3474720"/>
            <a:ext cx="5193792" cy="2103120"/>
          </a:xfrm>
          <a:prstGeom prst="roundRect">
            <a:avLst>
              <a:gd name="adj" fmla="val 608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08176" y="3785615"/>
            <a:ext cx="1463040" cy="321564"/>
          </a:xfrm>
          <a:prstGeom prst="rect">
            <a:avLst/>
          </a:prstGeom>
          <a:noFill/>
        </p:spPr>
        <p:txBody>
          <a:bodyPr wrap="square" anchor="t" lIns="0" rIns="0" tIns="0" bIns="0">
            <a:spAutoFit/>
          </a:bodyPr>
          <a:lstStyle/>
          <a:p>
            <a:pPr algn="l">
              <a:lnSpc>
                <a:spcPct val="105000"/>
              </a:lnSpc>
            </a:pPr>
            <a:r>
              <a:rPr sz="2000" b="1" i="0">
                <a:solidFill>
                  <a:srgbClr val="8C7753"/>
                </a:solidFill>
                <a:latin typeface="Open Sauce Bold"/>
              </a:rPr>
              <a:t>01</a:t>
            </a:r>
          </a:p>
        </p:txBody>
      </p:sp>
      <p:sp>
        <p:nvSpPr>
          <p:cNvPr id="9" name="TextBox 8"/>
          <p:cNvSpPr txBox="1"/>
          <p:nvPr/>
        </p:nvSpPr>
        <p:spPr>
          <a:xfrm>
            <a:off x="1408176" y="4261104"/>
            <a:ext cx="4425696" cy="411225"/>
          </a:xfrm>
          <a:prstGeom prst="rect">
            <a:avLst/>
          </a:prstGeom>
          <a:noFill/>
        </p:spPr>
        <p:txBody>
          <a:bodyPr wrap="square" anchor="t" lIns="0" rIns="0" tIns="0" bIns="0">
            <a:spAutoFit/>
          </a:bodyPr>
          <a:lstStyle/>
          <a:p>
            <a:pPr algn="l">
              <a:lnSpc>
                <a:spcPct val="122000"/>
              </a:lnSpc>
            </a:pPr>
            <a:r>
              <a:rPr sz="2300" b="0" i="0">
                <a:solidFill>
                  <a:srgbClr val="331B0D"/>
                </a:solidFill>
                <a:latin typeface="Open Sauce"/>
              </a:rPr>
              <a:t>Ownership</a:t>
            </a:r>
          </a:p>
        </p:txBody>
      </p:sp>
      <p:sp>
        <p:nvSpPr>
          <p:cNvPr id="10" name="TextBox 9"/>
          <p:cNvSpPr txBox="1"/>
          <p:nvPr/>
        </p:nvSpPr>
        <p:spPr>
          <a:xfrm>
            <a:off x="1408176" y="4800346"/>
            <a:ext cx="4425696" cy="676656"/>
          </a:xfrm>
          <a:prstGeom prst="rect">
            <a:avLst/>
          </a:prstGeom>
          <a:noFill/>
        </p:spPr>
        <p:txBody>
          <a:bodyPr wrap="square" anchor="t" lIns="0" rIns="0" tIns="0" bIns="0">
            <a:spAutoFit/>
          </a:bodyPr>
          <a:lstStyle/>
          <a:p>
            <a:pPr algn="l">
              <a:lnSpc>
                <a:spcPct val="136000"/>
              </a:lnSpc>
            </a:pPr>
            <a:r>
              <a:rPr sz="1800" b="0" i="0">
                <a:solidFill>
                  <a:srgbClr val="331B0D"/>
                </a:solidFill>
                <a:latin typeface="Open Sauce"/>
              </a:rPr>
              <a:t>Whether the seller legally owns the property.</a:t>
            </a:r>
          </a:p>
        </p:txBody>
      </p:sp>
      <p:sp>
        <p:nvSpPr>
          <p:cNvPr id="11" name="Rounded Rectangle 10"/>
          <p:cNvSpPr/>
          <p:nvPr/>
        </p:nvSpPr>
        <p:spPr>
          <a:xfrm>
            <a:off x="6547104" y="3474720"/>
            <a:ext cx="5193792" cy="2103120"/>
          </a:xfrm>
          <a:prstGeom prst="roundRect">
            <a:avLst>
              <a:gd name="adj" fmla="val 608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931152" y="3785615"/>
            <a:ext cx="1463040" cy="321564"/>
          </a:xfrm>
          <a:prstGeom prst="rect">
            <a:avLst/>
          </a:prstGeom>
          <a:noFill/>
        </p:spPr>
        <p:txBody>
          <a:bodyPr wrap="square" anchor="t" lIns="0" rIns="0" tIns="0" bIns="0">
            <a:spAutoFit/>
          </a:bodyPr>
          <a:lstStyle/>
          <a:p>
            <a:pPr algn="l">
              <a:lnSpc>
                <a:spcPct val="105000"/>
              </a:lnSpc>
            </a:pPr>
            <a:r>
              <a:rPr sz="2000" b="1" i="0">
                <a:solidFill>
                  <a:srgbClr val="8C7753"/>
                </a:solidFill>
                <a:latin typeface="Open Sauce Bold"/>
              </a:rPr>
              <a:t>02</a:t>
            </a:r>
          </a:p>
        </p:txBody>
      </p:sp>
      <p:sp>
        <p:nvSpPr>
          <p:cNvPr id="13" name="TextBox 12"/>
          <p:cNvSpPr txBox="1"/>
          <p:nvPr/>
        </p:nvSpPr>
        <p:spPr>
          <a:xfrm>
            <a:off x="6931152" y="4261104"/>
            <a:ext cx="4425696" cy="411225"/>
          </a:xfrm>
          <a:prstGeom prst="rect">
            <a:avLst/>
          </a:prstGeom>
          <a:noFill/>
        </p:spPr>
        <p:txBody>
          <a:bodyPr wrap="square" anchor="t" lIns="0" rIns="0" tIns="0" bIns="0">
            <a:spAutoFit/>
          </a:bodyPr>
          <a:lstStyle/>
          <a:p>
            <a:pPr algn="l">
              <a:lnSpc>
                <a:spcPct val="122000"/>
              </a:lnSpc>
            </a:pPr>
            <a:r>
              <a:rPr sz="2300" b="0" i="0">
                <a:solidFill>
                  <a:srgbClr val="331B0D"/>
                </a:solidFill>
                <a:latin typeface="Open Sauce"/>
              </a:rPr>
              <a:t>Identification</a:t>
            </a:r>
          </a:p>
        </p:txBody>
      </p:sp>
      <p:sp>
        <p:nvSpPr>
          <p:cNvPr id="14" name="TextBox 13"/>
          <p:cNvSpPr txBox="1"/>
          <p:nvPr/>
        </p:nvSpPr>
        <p:spPr>
          <a:xfrm>
            <a:off x="6931152" y="4800346"/>
            <a:ext cx="4425696" cy="676656"/>
          </a:xfrm>
          <a:prstGeom prst="rect">
            <a:avLst/>
          </a:prstGeom>
          <a:noFill/>
        </p:spPr>
        <p:txBody>
          <a:bodyPr wrap="square" anchor="t" lIns="0" rIns="0" tIns="0" bIns="0">
            <a:spAutoFit/>
          </a:bodyPr>
          <a:lstStyle/>
          <a:p>
            <a:pPr algn="l">
              <a:lnSpc>
                <a:spcPct val="136000"/>
              </a:lnSpc>
            </a:pPr>
            <a:r>
              <a:rPr sz="1800" b="0" i="0">
                <a:solidFill>
                  <a:srgbClr val="331B0D"/>
                </a:solidFill>
                <a:latin typeface="Open Sauce"/>
              </a:rPr>
              <a:t>Whether the land is correctly and unambiguously identified.</a:t>
            </a:r>
          </a:p>
        </p:txBody>
      </p:sp>
      <p:sp>
        <p:nvSpPr>
          <p:cNvPr id="15" name="Rounded Rectangle 14"/>
          <p:cNvSpPr/>
          <p:nvPr/>
        </p:nvSpPr>
        <p:spPr>
          <a:xfrm>
            <a:off x="12070080" y="3474720"/>
            <a:ext cx="5193792" cy="2103120"/>
          </a:xfrm>
          <a:prstGeom prst="roundRect">
            <a:avLst>
              <a:gd name="adj" fmla="val 608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454128" y="3785615"/>
            <a:ext cx="1463040" cy="321564"/>
          </a:xfrm>
          <a:prstGeom prst="rect">
            <a:avLst/>
          </a:prstGeom>
          <a:noFill/>
        </p:spPr>
        <p:txBody>
          <a:bodyPr wrap="square" anchor="t" lIns="0" rIns="0" tIns="0" bIns="0">
            <a:spAutoFit/>
          </a:bodyPr>
          <a:lstStyle/>
          <a:p>
            <a:pPr algn="l">
              <a:lnSpc>
                <a:spcPct val="105000"/>
              </a:lnSpc>
            </a:pPr>
            <a:r>
              <a:rPr sz="2000" b="1" i="0">
                <a:solidFill>
                  <a:srgbClr val="8C7753"/>
                </a:solidFill>
                <a:latin typeface="Open Sauce Bold"/>
              </a:rPr>
              <a:t>03</a:t>
            </a:r>
          </a:p>
        </p:txBody>
      </p:sp>
      <p:sp>
        <p:nvSpPr>
          <p:cNvPr id="17" name="TextBox 16"/>
          <p:cNvSpPr txBox="1"/>
          <p:nvPr/>
        </p:nvSpPr>
        <p:spPr>
          <a:xfrm>
            <a:off x="12454128" y="4261104"/>
            <a:ext cx="4425696" cy="411225"/>
          </a:xfrm>
          <a:prstGeom prst="rect">
            <a:avLst/>
          </a:prstGeom>
          <a:noFill/>
        </p:spPr>
        <p:txBody>
          <a:bodyPr wrap="square" anchor="t" lIns="0" rIns="0" tIns="0" bIns="0">
            <a:spAutoFit/>
          </a:bodyPr>
          <a:lstStyle/>
          <a:p>
            <a:pPr algn="l">
              <a:lnSpc>
                <a:spcPct val="122000"/>
              </a:lnSpc>
            </a:pPr>
            <a:r>
              <a:rPr sz="2300" b="0" i="0">
                <a:solidFill>
                  <a:srgbClr val="331B0D"/>
                </a:solidFill>
                <a:latin typeface="Open Sauce"/>
              </a:rPr>
              <a:t>Encumbrances</a:t>
            </a:r>
          </a:p>
        </p:txBody>
      </p:sp>
      <p:sp>
        <p:nvSpPr>
          <p:cNvPr id="18" name="TextBox 17"/>
          <p:cNvSpPr txBox="1"/>
          <p:nvPr/>
        </p:nvSpPr>
        <p:spPr>
          <a:xfrm>
            <a:off x="12454128" y="4800346"/>
            <a:ext cx="4425696" cy="676656"/>
          </a:xfrm>
          <a:prstGeom prst="rect">
            <a:avLst/>
          </a:prstGeom>
          <a:noFill/>
        </p:spPr>
        <p:txBody>
          <a:bodyPr wrap="square" anchor="t" lIns="0" rIns="0" tIns="0" bIns="0">
            <a:spAutoFit/>
          </a:bodyPr>
          <a:lstStyle/>
          <a:p>
            <a:pPr algn="l">
              <a:lnSpc>
                <a:spcPct val="136000"/>
              </a:lnSpc>
            </a:pPr>
            <a:r>
              <a:rPr sz="1800" b="0" i="0">
                <a:solidFill>
                  <a:srgbClr val="331B0D"/>
                </a:solidFill>
                <a:latin typeface="Open Sauce"/>
              </a:rPr>
              <a:t>Whether mortgages, charges or other burdens exist.</a:t>
            </a:r>
          </a:p>
        </p:txBody>
      </p:sp>
      <p:sp>
        <p:nvSpPr>
          <p:cNvPr id="19" name="Rounded Rectangle 18"/>
          <p:cNvSpPr/>
          <p:nvPr/>
        </p:nvSpPr>
        <p:spPr>
          <a:xfrm>
            <a:off x="1024128" y="5715000"/>
            <a:ext cx="5193792" cy="2103120"/>
          </a:xfrm>
          <a:prstGeom prst="roundRect">
            <a:avLst>
              <a:gd name="adj" fmla="val 608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408176" y="6025896"/>
            <a:ext cx="1463040" cy="321564"/>
          </a:xfrm>
          <a:prstGeom prst="rect">
            <a:avLst/>
          </a:prstGeom>
          <a:noFill/>
        </p:spPr>
        <p:txBody>
          <a:bodyPr wrap="square" anchor="t" lIns="0" rIns="0" tIns="0" bIns="0">
            <a:spAutoFit/>
          </a:bodyPr>
          <a:lstStyle/>
          <a:p>
            <a:pPr algn="l">
              <a:lnSpc>
                <a:spcPct val="105000"/>
              </a:lnSpc>
            </a:pPr>
            <a:r>
              <a:rPr sz="2000" b="1" i="0">
                <a:solidFill>
                  <a:srgbClr val="8C7753"/>
                </a:solidFill>
                <a:latin typeface="Open Sauce Bold"/>
              </a:rPr>
              <a:t>04</a:t>
            </a:r>
          </a:p>
        </p:txBody>
      </p:sp>
      <p:sp>
        <p:nvSpPr>
          <p:cNvPr id="21" name="TextBox 20"/>
          <p:cNvSpPr txBox="1"/>
          <p:nvPr/>
        </p:nvSpPr>
        <p:spPr>
          <a:xfrm>
            <a:off x="1408176" y="6501384"/>
            <a:ext cx="4425696" cy="411225"/>
          </a:xfrm>
          <a:prstGeom prst="rect">
            <a:avLst/>
          </a:prstGeom>
          <a:noFill/>
        </p:spPr>
        <p:txBody>
          <a:bodyPr wrap="square" anchor="t" lIns="0" rIns="0" tIns="0" bIns="0">
            <a:spAutoFit/>
          </a:bodyPr>
          <a:lstStyle/>
          <a:p>
            <a:pPr algn="l">
              <a:lnSpc>
                <a:spcPct val="122000"/>
              </a:lnSpc>
            </a:pPr>
            <a:r>
              <a:rPr sz="2300" b="0" i="0">
                <a:solidFill>
                  <a:srgbClr val="331B0D"/>
                </a:solidFill>
                <a:latin typeface="Open Sauce"/>
              </a:rPr>
              <a:t>Provisions and forms</a:t>
            </a:r>
          </a:p>
        </p:txBody>
      </p:sp>
      <p:sp>
        <p:nvSpPr>
          <p:cNvPr id="22" name="TextBox 21"/>
          <p:cNvSpPr txBox="1"/>
          <p:nvPr/>
        </p:nvSpPr>
        <p:spPr>
          <a:xfrm>
            <a:off x="1408176" y="7040626"/>
            <a:ext cx="4425696" cy="676656"/>
          </a:xfrm>
          <a:prstGeom prst="rect">
            <a:avLst/>
          </a:prstGeom>
          <a:noFill/>
        </p:spPr>
        <p:txBody>
          <a:bodyPr wrap="square" anchor="t" lIns="0" rIns="0" tIns="0" bIns="0">
            <a:spAutoFit/>
          </a:bodyPr>
          <a:lstStyle/>
          <a:p>
            <a:pPr algn="l">
              <a:lnSpc>
                <a:spcPct val="136000"/>
              </a:lnSpc>
            </a:pPr>
            <a:r>
              <a:rPr sz="1800" b="0" i="0">
                <a:solidFill>
                  <a:srgbClr val="331B0D"/>
                </a:solidFill>
                <a:latin typeface="Open Sauce"/>
              </a:rPr>
              <a:t>Which provisions and prescribed forms govern it.</a:t>
            </a:r>
          </a:p>
        </p:txBody>
      </p:sp>
      <p:sp>
        <p:nvSpPr>
          <p:cNvPr id="23" name="Rounded Rectangle 22"/>
          <p:cNvSpPr/>
          <p:nvPr/>
        </p:nvSpPr>
        <p:spPr>
          <a:xfrm>
            <a:off x="6547104" y="5715000"/>
            <a:ext cx="5193792" cy="2103120"/>
          </a:xfrm>
          <a:prstGeom prst="roundRect">
            <a:avLst>
              <a:gd name="adj" fmla="val 608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31152" y="6025896"/>
            <a:ext cx="1463040" cy="321564"/>
          </a:xfrm>
          <a:prstGeom prst="rect">
            <a:avLst/>
          </a:prstGeom>
          <a:noFill/>
        </p:spPr>
        <p:txBody>
          <a:bodyPr wrap="square" anchor="t" lIns="0" rIns="0" tIns="0" bIns="0">
            <a:spAutoFit/>
          </a:bodyPr>
          <a:lstStyle/>
          <a:p>
            <a:pPr algn="l">
              <a:lnSpc>
                <a:spcPct val="105000"/>
              </a:lnSpc>
            </a:pPr>
            <a:r>
              <a:rPr sz="2000" b="1" i="0">
                <a:solidFill>
                  <a:srgbClr val="8C7753"/>
                </a:solidFill>
                <a:latin typeface="Open Sauce Bold"/>
              </a:rPr>
              <a:t>05</a:t>
            </a:r>
          </a:p>
        </p:txBody>
      </p:sp>
      <p:sp>
        <p:nvSpPr>
          <p:cNvPr id="25" name="TextBox 24"/>
          <p:cNvSpPr txBox="1"/>
          <p:nvPr/>
        </p:nvSpPr>
        <p:spPr>
          <a:xfrm>
            <a:off x="6931152" y="6501384"/>
            <a:ext cx="4425696" cy="411225"/>
          </a:xfrm>
          <a:prstGeom prst="rect">
            <a:avLst/>
          </a:prstGeom>
          <a:noFill/>
        </p:spPr>
        <p:txBody>
          <a:bodyPr wrap="square" anchor="t" lIns="0" rIns="0" tIns="0" bIns="0">
            <a:spAutoFit/>
          </a:bodyPr>
          <a:lstStyle/>
          <a:p>
            <a:pPr algn="l">
              <a:lnSpc>
                <a:spcPct val="122000"/>
              </a:lnSpc>
            </a:pPr>
            <a:r>
              <a:rPr sz="2300" b="0" i="0">
                <a:solidFill>
                  <a:srgbClr val="331B0D"/>
                </a:solidFill>
                <a:latin typeface="Open Sauce"/>
              </a:rPr>
              <a:t>Case law</a:t>
            </a:r>
          </a:p>
        </p:txBody>
      </p:sp>
      <p:sp>
        <p:nvSpPr>
          <p:cNvPr id="26" name="TextBox 25"/>
          <p:cNvSpPr txBox="1"/>
          <p:nvPr/>
        </p:nvSpPr>
        <p:spPr>
          <a:xfrm>
            <a:off x="6931152" y="7040626"/>
            <a:ext cx="4425696" cy="676656"/>
          </a:xfrm>
          <a:prstGeom prst="rect">
            <a:avLst/>
          </a:prstGeom>
          <a:noFill/>
        </p:spPr>
        <p:txBody>
          <a:bodyPr wrap="square" anchor="t" lIns="0" rIns="0" tIns="0" bIns="0">
            <a:spAutoFit/>
          </a:bodyPr>
          <a:lstStyle/>
          <a:p>
            <a:pPr algn="l">
              <a:lnSpc>
                <a:spcPct val="136000"/>
              </a:lnSpc>
            </a:pPr>
            <a:r>
              <a:rPr sz="1800" b="0" i="0">
                <a:solidFill>
                  <a:srgbClr val="331B0D"/>
                </a:solidFill>
                <a:latin typeface="Open Sauce"/>
              </a:rPr>
              <a:t>Whether any judgment affects how the transaction must be handled.</a:t>
            </a:r>
          </a:p>
        </p:txBody>
      </p:sp>
      <p:sp>
        <p:nvSpPr>
          <p:cNvPr id="27" name="Rounded Rectangle 26"/>
          <p:cNvSpPr/>
          <p:nvPr/>
        </p:nvSpPr>
        <p:spPr>
          <a:xfrm>
            <a:off x="12070080" y="5715000"/>
            <a:ext cx="5193792" cy="2103120"/>
          </a:xfrm>
          <a:prstGeom prst="roundRect">
            <a:avLst>
              <a:gd name="adj" fmla="val 608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454128" y="6025896"/>
            <a:ext cx="1463040" cy="321564"/>
          </a:xfrm>
          <a:prstGeom prst="rect">
            <a:avLst/>
          </a:prstGeom>
          <a:noFill/>
        </p:spPr>
        <p:txBody>
          <a:bodyPr wrap="square" anchor="t" lIns="0" rIns="0" tIns="0" bIns="0">
            <a:spAutoFit/>
          </a:bodyPr>
          <a:lstStyle/>
          <a:p>
            <a:pPr algn="l">
              <a:lnSpc>
                <a:spcPct val="105000"/>
              </a:lnSpc>
            </a:pPr>
            <a:r>
              <a:rPr sz="2000" b="1" i="0">
                <a:solidFill>
                  <a:srgbClr val="8C7753"/>
                </a:solidFill>
                <a:latin typeface="Open Sauce Bold"/>
              </a:rPr>
              <a:t>06</a:t>
            </a:r>
          </a:p>
        </p:txBody>
      </p:sp>
      <p:sp>
        <p:nvSpPr>
          <p:cNvPr id="29" name="TextBox 28"/>
          <p:cNvSpPr txBox="1"/>
          <p:nvPr/>
        </p:nvSpPr>
        <p:spPr>
          <a:xfrm>
            <a:off x="12454128" y="6501384"/>
            <a:ext cx="4425696" cy="411225"/>
          </a:xfrm>
          <a:prstGeom prst="rect">
            <a:avLst/>
          </a:prstGeom>
          <a:noFill/>
        </p:spPr>
        <p:txBody>
          <a:bodyPr wrap="square" anchor="t" lIns="0" rIns="0" tIns="0" bIns="0">
            <a:spAutoFit/>
          </a:bodyPr>
          <a:lstStyle/>
          <a:p>
            <a:pPr algn="l">
              <a:lnSpc>
                <a:spcPct val="122000"/>
              </a:lnSpc>
            </a:pPr>
            <a:r>
              <a:rPr sz="2300" b="0" i="0">
                <a:solidFill>
                  <a:srgbClr val="331B0D"/>
                </a:solidFill>
                <a:latin typeface="Open Sauce"/>
              </a:rPr>
              <a:t>Execution</a:t>
            </a:r>
          </a:p>
        </p:txBody>
      </p:sp>
      <p:sp>
        <p:nvSpPr>
          <p:cNvPr id="30" name="TextBox 29"/>
          <p:cNvSpPr txBox="1"/>
          <p:nvPr/>
        </p:nvSpPr>
        <p:spPr>
          <a:xfrm>
            <a:off x="12454128" y="7040626"/>
            <a:ext cx="4425696" cy="676656"/>
          </a:xfrm>
          <a:prstGeom prst="rect">
            <a:avLst/>
          </a:prstGeom>
          <a:noFill/>
        </p:spPr>
        <p:txBody>
          <a:bodyPr wrap="square" anchor="t" lIns="0" rIns="0" tIns="0" bIns="0">
            <a:spAutoFit/>
          </a:bodyPr>
          <a:lstStyle/>
          <a:p>
            <a:pPr algn="l">
              <a:lnSpc>
                <a:spcPct val="136000"/>
              </a:lnSpc>
            </a:pPr>
            <a:r>
              <a:rPr sz="1800" b="0" i="0">
                <a:solidFill>
                  <a:srgbClr val="331B0D"/>
                </a:solidFill>
                <a:latin typeface="Open Sauce"/>
              </a:rPr>
              <a:t>Whether every execution and attestation requirement is satisfied.</a:t>
            </a:r>
          </a:p>
        </p:txBody>
      </p:sp>
      <p:sp>
        <p:nvSpPr>
          <p:cNvPr id="31" name="TextBox 30"/>
          <p:cNvSpPr txBox="1"/>
          <p:nvPr/>
        </p:nvSpPr>
        <p:spPr>
          <a:xfrm>
            <a:off x="1024128" y="8183879"/>
            <a:ext cx="16239743" cy="418084"/>
          </a:xfrm>
          <a:prstGeom prst="rect">
            <a:avLst/>
          </a:prstGeom>
          <a:noFill/>
        </p:spPr>
        <p:txBody>
          <a:bodyPr wrap="square" anchor="t" lIns="0" rIns="0" tIns="0" bIns="0">
            <a:spAutoFit/>
          </a:bodyPr>
          <a:lstStyle/>
          <a:p>
            <a:pPr algn="l">
              <a:lnSpc>
                <a:spcPct val="130000"/>
              </a:lnSpc>
            </a:pPr>
            <a:r>
              <a:rPr sz="2200" b="0" i="1">
                <a:solidFill>
                  <a:srgbClr val="331B0D"/>
                </a:solidFill>
                <a:latin typeface="Open Sauce Italics"/>
              </a:rPr>
              <a:t>One overlooked issue can make the transaction invalid, and the professional consequences land on the notary.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THE PROBLEM</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5</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Sri Lanka's legal information landscape</a:t>
            </a:r>
          </a:p>
        </p:txBody>
      </p:sp>
      <p:sp>
        <p:nvSpPr>
          <p:cNvPr id="6" name="TextBox 5"/>
          <p:cNvSpPr txBox="1"/>
          <p:nvPr/>
        </p:nvSpPr>
        <p:spPr>
          <a:xfrm>
            <a:off x="1024128" y="3017520"/>
            <a:ext cx="7680960" cy="401574"/>
          </a:xfrm>
          <a:prstGeom prst="rect">
            <a:avLst/>
          </a:prstGeom>
          <a:noFill/>
        </p:spPr>
        <p:txBody>
          <a:bodyPr wrap="square" anchor="t" lIns="0" rIns="0" tIns="0" bIns="0">
            <a:spAutoFit/>
          </a:bodyPr>
          <a:lstStyle/>
          <a:p>
            <a:pPr algn="l">
              <a:lnSpc>
                <a:spcPct val="130000"/>
              </a:lnSpc>
            </a:pPr>
            <a:r>
              <a:rPr sz="2100" b="0" i="0">
                <a:solidFill>
                  <a:srgbClr val="8C7753"/>
                </a:solidFill>
                <a:latin typeface="Open Sauce"/>
              </a:rPr>
              <a:t>The law that governs one deed is spread across:</a:t>
            </a:r>
          </a:p>
        </p:txBody>
      </p:sp>
      <p:sp>
        <p:nvSpPr>
          <p:cNvPr id="7" name="Oval 6"/>
          <p:cNvSpPr/>
          <p:nvPr/>
        </p:nvSpPr>
        <p:spPr>
          <a:xfrm>
            <a:off x="1051560" y="3758184"/>
            <a:ext cx="137160" cy="137160"/>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44752" y="3657600"/>
            <a:ext cx="6949440" cy="388239"/>
          </a:xfrm>
          <a:prstGeom prst="rect">
            <a:avLst/>
          </a:prstGeom>
          <a:noFill/>
        </p:spPr>
        <p:txBody>
          <a:bodyPr wrap="square" anchor="t" lIns="0" rIns="0" tIns="0" bIns="0">
            <a:spAutoFit/>
          </a:bodyPr>
          <a:lstStyle/>
          <a:p>
            <a:pPr algn="l">
              <a:lnSpc>
                <a:spcPct val="125000"/>
              </a:lnSpc>
            </a:pPr>
            <a:r>
              <a:rPr sz="2100" b="0" i="0">
                <a:solidFill>
                  <a:srgbClr val="331B0D"/>
                </a:solidFill>
                <a:latin typeface="Open Sauce"/>
              </a:rPr>
              <a:t>Statutes and Ordinances</a:t>
            </a:r>
          </a:p>
        </p:txBody>
      </p:sp>
      <p:sp>
        <p:nvSpPr>
          <p:cNvPr id="9" name="Oval 8"/>
          <p:cNvSpPr/>
          <p:nvPr/>
        </p:nvSpPr>
        <p:spPr>
          <a:xfrm>
            <a:off x="1051560" y="4325112"/>
            <a:ext cx="137160" cy="137160"/>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44752" y="4224528"/>
            <a:ext cx="6949440" cy="388239"/>
          </a:xfrm>
          <a:prstGeom prst="rect">
            <a:avLst/>
          </a:prstGeom>
          <a:noFill/>
        </p:spPr>
        <p:txBody>
          <a:bodyPr wrap="square" anchor="t" lIns="0" rIns="0" tIns="0" bIns="0">
            <a:spAutoFit/>
          </a:bodyPr>
          <a:lstStyle/>
          <a:p>
            <a:pPr algn="l">
              <a:lnSpc>
                <a:spcPct val="125000"/>
              </a:lnSpc>
            </a:pPr>
            <a:r>
              <a:rPr sz="2100" b="0" i="0">
                <a:solidFill>
                  <a:srgbClr val="331B0D"/>
                </a:solidFill>
                <a:latin typeface="Open Sauce"/>
              </a:rPr>
              <a:t>Amendments</a:t>
            </a:r>
          </a:p>
        </p:txBody>
      </p:sp>
      <p:sp>
        <p:nvSpPr>
          <p:cNvPr id="11" name="Oval 10"/>
          <p:cNvSpPr/>
          <p:nvPr/>
        </p:nvSpPr>
        <p:spPr>
          <a:xfrm>
            <a:off x="1051560" y="4892040"/>
            <a:ext cx="137160" cy="137160"/>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44752" y="4791456"/>
            <a:ext cx="6949440" cy="388239"/>
          </a:xfrm>
          <a:prstGeom prst="rect">
            <a:avLst/>
          </a:prstGeom>
          <a:noFill/>
        </p:spPr>
        <p:txBody>
          <a:bodyPr wrap="square" anchor="t" lIns="0" rIns="0" tIns="0" bIns="0">
            <a:spAutoFit/>
          </a:bodyPr>
          <a:lstStyle/>
          <a:p>
            <a:pPr algn="l">
              <a:lnSpc>
                <a:spcPct val="125000"/>
              </a:lnSpc>
            </a:pPr>
            <a:r>
              <a:rPr sz="2100" b="0" i="0">
                <a:solidFill>
                  <a:srgbClr val="331B0D"/>
                </a:solidFill>
                <a:latin typeface="Open Sauce"/>
              </a:rPr>
              <a:t>Regulations and gazettes</a:t>
            </a:r>
          </a:p>
        </p:txBody>
      </p:sp>
      <p:sp>
        <p:nvSpPr>
          <p:cNvPr id="13" name="Oval 12"/>
          <p:cNvSpPr/>
          <p:nvPr/>
        </p:nvSpPr>
        <p:spPr>
          <a:xfrm>
            <a:off x="1051560" y="5458968"/>
            <a:ext cx="137160" cy="137160"/>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44752" y="5358383"/>
            <a:ext cx="6949440" cy="388239"/>
          </a:xfrm>
          <a:prstGeom prst="rect">
            <a:avLst/>
          </a:prstGeom>
          <a:noFill/>
        </p:spPr>
        <p:txBody>
          <a:bodyPr wrap="square" anchor="t" lIns="0" rIns="0" tIns="0" bIns="0">
            <a:spAutoFit/>
          </a:bodyPr>
          <a:lstStyle/>
          <a:p>
            <a:pPr algn="l">
              <a:lnSpc>
                <a:spcPct val="125000"/>
              </a:lnSpc>
            </a:pPr>
            <a:r>
              <a:rPr sz="2100" b="0" i="0">
                <a:solidFill>
                  <a:srgbClr val="331B0D"/>
                </a:solidFill>
                <a:latin typeface="Open Sauce"/>
              </a:rPr>
              <a:t>Court judgments</a:t>
            </a:r>
          </a:p>
        </p:txBody>
      </p:sp>
      <p:sp>
        <p:nvSpPr>
          <p:cNvPr id="15" name="Oval 14"/>
          <p:cNvSpPr/>
          <p:nvPr/>
        </p:nvSpPr>
        <p:spPr>
          <a:xfrm>
            <a:off x="1051560" y="6025896"/>
            <a:ext cx="137160" cy="137160"/>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44752" y="5925312"/>
            <a:ext cx="6949440" cy="388239"/>
          </a:xfrm>
          <a:prstGeom prst="rect">
            <a:avLst/>
          </a:prstGeom>
          <a:noFill/>
        </p:spPr>
        <p:txBody>
          <a:bodyPr wrap="square" anchor="t" lIns="0" rIns="0" tIns="0" bIns="0">
            <a:spAutoFit/>
          </a:bodyPr>
          <a:lstStyle/>
          <a:p>
            <a:pPr algn="l">
              <a:lnSpc>
                <a:spcPct val="125000"/>
              </a:lnSpc>
            </a:pPr>
            <a:r>
              <a:rPr sz="2100" b="0" i="0">
                <a:solidFill>
                  <a:srgbClr val="331B0D"/>
                </a:solidFill>
                <a:latin typeface="Open Sauce"/>
              </a:rPr>
              <a:t>Common-law and equitable principles</a:t>
            </a:r>
          </a:p>
        </p:txBody>
      </p:sp>
      <p:sp>
        <p:nvSpPr>
          <p:cNvPr id="17" name="Oval 16"/>
          <p:cNvSpPr/>
          <p:nvPr/>
        </p:nvSpPr>
        <p:spPr>
          <a:xfrm>
            <a:off x="1051560" y="6592824"/>
            <a:ext cx="137160" cy="137160"/>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44752" y="6492240"/>
            <a:ext cx="6949440" cy="388239"/>
          </a:xfrm>
          <a:prstGeom prst="rect">
            <a:avLst/>
          </a:prstGeom>
          <a:noFill/>
        </p:spPr>
        <p:txBody>
          <a:bodyPr wrap="square" anchor="t" lIns="0" rIns="0" tIns="0" bIns="0">
            <a:spAutoFit/>
          </a:bodyPr>
          <a:lstStyle/>
          <a:p>
            <a:pPr algn="l">
              <a:lnSpc>
                <a:spcPct val="125000"/>
              </a:lnSpc>
            </a:pPr>
            <a:r>
              <a:rPr sz="2100" b="0" i="0">
                <a:solidFill>
                  <a:srgbClr val="331B0D"/>
                </a:solidFill>
                <a:latin typeface="Open Sauce"/>
              </a:rPr>
              <a:t>Prescribed forms</a:t>
            </a:r>
          </a:p>
        </p:txBody>
      </p:sp>
      <p:sp>
        <p:nvSpPr>
          <p:cNvPr id="19" name="Oval 18"/>
          <p:cNvSpPr/>
          <p:nvPr/>
        </p:nvSpPr>
        <p:spPr>
          <a:xfrm>
            <a:off x="1051560" y="7159752"/>
            <a:ext cx="137160" cy="137160"/>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44752" y="7059168"/>
            <a:ext cx="6949440" cy="388239"/>
          </a:xfrm>
          <a:prstGeom prst="rect">
            <a:avLst/>
          </a:prstGeom>
          <a:noFill/>
        </p:spPr>
        <p:txBody>
          <a:bodyPr wrap="square" anchor="t" lIns="0" rIns="0" tIns="0" bIns="0">
            <a:spAutoFit/>
          </a:bodyPr>
          <a:lstStyle/>
          <a:p>
            <a:pPr algn="l">
              <a:lnSpc>
                <a:spcPct val="125000"/>
              </a:lnSpc>
            </a:pPr>
            <a:r>
              <a:rPr sz="2100" b="0" i="0">
                <a:solidFill>
                  <a:srgbClr val="331B0D"/>
                </a:solidFill>
                <a:latin typeface="Open Sauce"/>
              </a:rPr>
              <a:t>Registration rules</a:t>
            </a:r>
          </a:p>
        </p:txBody>
      </p:sp>
      <p:sp>
        <p:nvSpPr>
          <p:cNvPr id="21" name="Oval 20"/>
          <p:cNvSpPr/>
          <p:nvPr/>
        </p:nvSpPr>
        <p:spPr>
          <a:xfrm>
            <a:off x="1051560" y="7726679"/>
            <a:ext cx="137160" cy="137160"/>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44752" y="7626096"/>
            <a:ext cx="6949440" cy="388239"/>
          </a:xfrm>
          <a:prstGeom prst="rect">
            <a:avLst/>
          </a:prstGeom>
          <a:noFill/>
        </p:spPr>
        <p:txBody>
          <a:bodyPr wrap="square" anchor="t" lIns="0" rIns="0" tIns="0" bIns="0">
            <a:spAutoFit/>
          </a:bodyPr>
          <a:lstStyle/>
          <a:p>
            <a:pPr algn="l">
              <a:lnSpc>
                <a:spcPct val="125000"/>
              </a:lnSpc>
            </a:pPr>
            <a:r>
              <a:rPr sz="2100" b="0" i="0">
                <a:solidFill>
                  <a:srgbClr val="331B0D"/>
                </a:solidFill>
                <a:latin typeface="Open Sauce"/>
              </a:rPr>
              <a:t>Administrative procedures</a:t>
            </a:r>
          </a:p>
        </p:txBody>
      </p:sp>
      <p:sp>
        <p:nvSpPr>
          <p:cNvPr id="23" name="Rounded Rectangle 22"/>
          <p:cNvSpPr/>
          <p:nvPr/>
        </p:nvSpPr>
        <p:spPr>
          <a:xfrm>
            <a:off x="9509760" y="3017520"/>
            <a:ext cx="7754112" cy="4892040"/>
          </a:xfrm>
          <a:prstGeom prst="roundRect">
            <a:avLst>
              <a:gd name="adj" fmla="val 2990"/>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012680" y="3611880"/>
            <a:ext cx="6748272" cy="1251712"/>
          </a:xfrm>
          <a:prstGeom prst="rect">
            <a:avLst/>
          </a:prstGeom>
          <a:noFill/>
        </p:spPr>
        <p:txBody>
          <a:bodyPr wrap="square" anchor="t" lIns="0" rIns="0" tIns="0" bIns="0">
            <a:spAutoFit/>
          </a:bodyPr>
          <a:lstStyle/>
          <a:p>
            <a:pPr algn="l">
              <a:lnSpc>
                <a:spcPct val="124000"/>
              </a:lnSpc>
            </a:pPr>
            <a:r>
              <a:rPr sz="3800" b="0" i="0">
                <a:solidFill>
                  <a:srgbClr val="FAF7F0"/>
                </a:solidFill>
                <a:latin typeface="Open Sauce"/>
              </a:rPr>
              <a:t>None of it exists in one unified, searchable source.</a:t>
            </a:r>
          </a:p>
        </p:txBody>
      </p:sp>
      <p:cxnSp>
        <p:nvCxnSpPr>
          <p:cNvPr id="25" name="Connector 24"/>
          <p:cNvCxnSpPr/>
          <p:nvPr/>
        </p:nvCxnSpPr>
        <p:spPr>
          <a:xfrm>
            <a:off x="10012680" y="5623560"/>
            <a:ext cx="2926079" cy="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012680" y="5943600"/>
            <a:ext cx="6748272" cy="1477264"/>
          </a:xfrm>
          <a:prstGeom prst="rect">
            <a:avLst/>
          </a:prstGeom>
          <a:noFill/>
        </p:spPr>
        <p:txBody>
          <a:bodyPr wrap="square" anchor="t" lIns="0" rIns="0" tIns="0" bIns="0">
            <a:spAutoFit/>
          </a:bodyPr>
          <a:lstStyle/>
          <a:p>
            <a:pPr algn="l">
              <a:lnSpc>
                <a:spcPct val="140000"/>
              </a:lnSpc>
            </a:pPr>
            <a:r>
              <a:rPr sz="2000" b="0" i="0">
                <a:solidFill>
                  <a:srgbClr val="F1EADC"/>
                </a:solidFill>
                <a:latin typeface="Open Sauce"/>
              </a:rPr>
              <a:t>A practitioner assembles the answer by hand, from several publishers, in several formats, with no guarantee that the version in front of them is the one that applied on the relevant 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THE PROBLEM</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6</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Why ordinary legal search is not enough</a:t>
            </a:r>
          </a:p>
        </p:txBody>
      </p:sp>
      <p:sp>
        <p:nvSpPr>
          <p:cNvPr id="6" name="Rounded Rectangle 5"/>
          <p:cNvSpPr/>
          <p:nvPr/>
        </p:nvSpPr>
        <p:spPr>
          <a:xfrm>
            <a:off x="1024128" y="3017520"/>
            <a:ext cx="7845551" cy="4846320"/>
          </a:xfrm>
          <a:prstGeom prst="roundRect">
            <a:avLst>
              <a:gd name="adj" fmla="val 301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81328" y="3401568"/>
            <a:ext cx="6931151" cy="405384"/>
          </a:xfrm>
          <a:prstGeom prst="rect">
            <a:avLst/>
          </a:prstGeom>
          <a:noFill/>
        </p:spPr>
        <p:txBody>
          <a:bodyPr wrap="square" anchor="t" lIns="0" rIns="0" tIns="0" bIns="0">
            <a:spAutoFit/>
          </a:bodyPr>
          <a:lstStyle/>
          <a:p>
            <a:pPr algn="l">
              <a:lnSpc>
                <a:spcPct val="120000"/>
              </a:lnSpc>
            </a:pPr>
            <a:r>
              <a:rPr sz="2300" b="0" i="0">
                <a:solidFill>
                  <a:srgbClr val="8C7753"/>
                </a:solidFill>
                <a:latin typeface="Open Sauce"/>
              </a:rPr>
              <a:t>What keyword search gives you</a:t>
            </a:r>
          </a:p>
        </p:txBody>
      </p:sp>
      <p:sp>
        <p:nvSpPr>
          <p:cNvPr id="8" name="TextBox 7"/>
          <p:cNvSpPr txBox="1"/>
          <p:nvPr/>
        </p:nvSpPr>
        <p:spPr>
          <a:xfrm>
            <a:off x="1481328" y="4069080"/>
            <a:ext cx="6931151" cy="1721104"/>
          </a:xfrm>
          <a:prstGeom prst="rect">
            <a:avLst/>
          </a:prstGeom>
          <a:noFill/>
        </p:spPr>
        <p:txBody>
          <a:bodyPr wrap="square" anchor="t" lIns="0" rIns="0" tIns="0" bIns="0">
            <a:spAutoFit/>
          </a:bodyPr>
          <a:lstStyle/>
          <a:p>
            <a:pPr algn="l" marL="310896" indent="-310896">
              <a:lnSpc>
                <a:spcPct val="134000"/>
              </a:lnSpc>
            </a:pPr>
            <a:r>
              <a:rPr sz="2000" b="0" i="0">
                <a:solidFill>
                  <a:srgbClr val="331B0D"/>
                </a:solidFill>
                <a:latin typeface="Open Sauce"/>
              </a:rPr>
              <a:t>•   Documents that contain your words</a:t>
            </a:r>
          </a:p>
          <a:p>
            <a:pPr algn="l" marL="310896" indent="-310896">
              <a:lnSpc>
                <a:spcPct val="134000"/>
              </a:lnSpc>
              <a:spcBef>
                <a:spcPts val="800"/>
              </a:spcBef>
            </a:pPr>
            <a:r>
              <a:rPr sz="2000" b="0" i="0">
                <a:solidFill>
                  <a:srgbClr val="331B0D"/>
                </a:solidFill>
                <a:latin typeface="Open Sauce"/>
              </a:rPr>
              <a:t>•   Ranking by term frequency, not legal authority</a:t>
            </a:r>
          </a:p>
          <a:p>
            <a:pPr algn="l" marL="310896" indent="-310896">
              <a:lnSpc>
                <a:spcPct val="134000"/>
              </a:lnSpc>
              <a:spcBef>
                <a:spcPts val="800"/>
              </a:spcBef>
            </a:pPr>
            <a:r>
              <a:rPr sz="2000" b="0" i="0">
                <a:solidFill>
                  <a:srgbClr val="331B0D"/>
                </a:solidFill>
                <a:latin typeface="Open Sauce"/>
              </a:rPr>
              <a:t>•   No idea which version of a section was in force</a:t>
            </a:r>
          </a:p>
          <a:p>
            <a:pPr algn="l" marL="310896" indent="-310896">
              <a:lnSpc>
                <a:spcPct val="134000"/>
              </a:lnSpc>
              <a:spcBef>
                <a:spcPts val="800"/>
              </a:spcBef>
            </a:pPr>
            <a:r>
              <a:rPr sz="2000" b="0" i="0">
                <a:solidFill>
                  <a:srgbClr val="331B0D"/>
                </a:solidFill>
                <a:latin typeface="Open Sauce"/>
              </a:rPr>
              <a:t>•   No link between a judgment and the section it interprets</a:t>
            </a:r>
          </a:p>
        </p:txBody>
      </p:sp>
      <p:sp>
        <p:nvSpPr>
          <p:cNvPr id="9" name="Rounded Rectangle 8"/>
          <p:cNvSpPr/>
          <p:nvPr/>
        </p:nvSpPr>
        <p:spPr>
          <a:xfrm>
            <a:off x="9418319" y="3017520"/>
            <a:ext cx="7845551" cy="4846320"/>
          </a:xfrm>
          <a:prstGeom prst="roundRect">
            <a:avLst>
              <a:gd name="adj" fmla="val 3018"/>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875519" y="3401568"/>
            <a:ext cx="6931151" cy="405384"/>
          </a:xfrm>
          <a:prstGeom prst="rect">
            <a:avLst/>
          </a:prstGeom>
          <a:noFill/>
        </p:spPr>
        <p:txBody>
          <a:bodyPr wrap="square" anchor="t" lIns="0" rIns="0" tIns="0" bIns="0">
            <a:spAutoFit/>
          </a:bodyPr>
          <a:lstStyle/>
          <a:p>
            <a:pPr algn="l">
              <a:lnSpc>
                <a:spcPct val="120000"/>
              </a:lnSpc>
            </a:pPr>
            <a:r>
              <a:rPr sz="2300" b="0" i="0">
                <a:solidFill>
                  <a:srgbClr val="8C7753"/>
                </a:solidFill>
                <a:latin typeface="Open Sauce"/>
              </a:rPr>
              <a:t>What a conveyancer needs</a:t>
            </a:r>
          </a:p>
        </p:txBody>
      </p:sp>
      <p:sp>
        <p:nvSpPr>
          <p:cNvPr id="11" name="TextBox 10"/>
          <p:cNvSpPr txBox="1"/>
          <p:nvPr/>
        </p:nvSpPr>
        <p:spPr>
          <a:xfrm>
            <a:off x="9875519" y="4069080"/>
            <a:ext cx="6931151" cy="2605024"/>
          </a:xfrm>
          <a:prstGeom prst="rect">
            <a:avLst/>
          </a:prstGeom>
          <a:noFill/>
        </p:spPr>
        <p:txBody>
          <a:bodyPr wrap="square" anchor="t" lIns="0" rIns="0" tIns="0" bIns="0">
            <a:spAutoFit/>
          </a:bodyPr>
          <a:lstStyle/>
          <a:p>
            <a:pPr algn="l" marL="310896" indent="-310896">
              <a:lnSpc>
                <a:spcPct val="134000"/>
              </a:lnSpc>
            </a:pPr>
            <a:r>
              <a:rPr sz="2000" b="0" i="0">
                <a:solidFill>
                  <a:srgbClr val="FAF7F0"/>
                </a:solidFill>
                <a:latin typeface="Open Sauce"/>
              </a:rPr>
              <a:t>•   The topic resolved to the correct statutory section</a:t>
            </a:r>
          </a:p>
          <a:p>
            <a:pPr algn="l" marL="310896" indent="-310896">
              <a:lnSpc>
                <a:spcPct val="134000"/>
              </a:lnSpc>
              <a:spcBef>
                <a:spcPts val="800"/>
              </a:spcBef>
            </a:pPr>
            <a:r>
              <a:rPr sz="2000" b="0" i="0">
                <a:solidFill>
                  <a:srgbClr val="FAF7F0"/>
                </a:solidFill>
                <a:latin typeface="Open Sauce"/>
              </a:rPr>
              <a:t>•   Aliases and historical statute names resolved</a:t>
            </a:r>
          </a:p>
          <a:p>
            <a:pPr algn="l" marL="310896" indent="-310896">
              <a:lnSpc>
                <a:spcPct val="134000"/>
              </a:lnSpc>
              <a:spcBef>
                <a:spcPts val="800"/>
              </a:spcBef>
            </a:pPr>
            <a:r>
              <a:rPr sz="2000" b="0" i="0">
                <a:solidFill>
                  <a:srgbClr val="FAF7F0"/>
                </a:solidFill>
                <a:latin typeface="Open Sauce"/>
              </a:rPr>
              <a:t>•   The version of the provision that applied on the date</a:t>
            </a:r>
          </a:p>
          <a:p>
            <a:pPr algn="l" marL="310896" indent="-310896">
              <a:lnSpc>
                <a:spcPct val="134000"/>
              </a:lnSpc>
              <a:spcBef>
                <a:spcPts val="800"/>
              </a:spcBef>
            </a:pPr>
            <a:r>
              <a:rPr sz="2000" b="0" i="0">
                <a:solidFill>
                  <a:srgbClr val="FAF7F0"/>
                </a:solidFill>
                <a:latin typeface="Open Sauce"/>
              </a:rPr>
              <a:t>•   Cases ranked by court hierarchy and precedential weight</a:t>
            </a:r>
          </a:p>
          <a:p>
            <a:pPr algn="l" marL="310896" indent="-310896">
              <a:lnSpc>
                <a:spcPct val="134000"/>
              </a:lnSpc>
              <a:spcBef>
                <a:spcPts val="800"/>
              </a:spcBef>
            </a:pPr>
            <a:r>
              <a:rPr sz="2000" b="0" i="0">
                <a:solidFill>
                  <a:srgbClr val="FAF7F0"/>
                </a:solidFill>
                <a:latin typeface="Open Sauce"/>
              </a:rPr>
              <a:t>•   The legal principle pulled out of the judgment</a:t>
            </a:r>
          </a:p>
          <a:p>
            <a:pPr algn="l" marL="310896" indent="-310896">
              <a:lnSpc>
                <a:spcPct val="134000"/>
              </a:lnSpc>
              <a:spcBef>
                <a:spcPts val="800"/>
              </a:spcBef>
            </a:pPr>
            <a:r>
              <a:rPr sz="2000" b="0" i="0">
                <a:solidFill>
                  <a:srgbClr val="FAF7F0"/>
                </a:solidFill>
                <a:latin typeface="Open Sauce"/>
              </a:rPr>
              <a:t>•   An answer that abstains when the evidence is thin</a:t>
            </a:r>
          </a:p>
        </p:txBody>
      </p:sp>
      <p:sp>
        <p:nvSpPr>
          <p:cNvPr id="12" name="TextBox 11"/>
          <p:cNvSpPr txBox="1"/>
          <p:nvPr/>
        </p:nvSpPr>
        <p:spPr>
          <a:xfrm>
            <a:off x="1024128" y="8183879"/>
            <a:ext cx="16239743" cy="451104"/>
          </a:xfrm>
          <a:prstGeom prst="rect">
            <a:avLst/>
          </a:prstGeom>
          <a:noFill/>
        </p:spPr>
        <p:txBody>
          <a:bodyPr wrap="square" anchor="t" lIns="0" rIns="0" tIns="0" bIns="0">
            <a:spAutoFit/>
          </a:bodyPr>
          <a:lstStyle/>
          <a:p>
            <a:pPr algn="ctr">
              <a:lnSpc>
                <a:spcPct val="130000"/>
              </a:lnSpc>
            </a:pPr>
            <a:r>
              <a:rPr sz="2400" b="0" i="1">
                <a:solidFill>
                  <a:srgbClr val="331B0D"/>
                </a:solidFill>
                <a:latin typeface="Open Sauce Italics"/>
              </a:rPr>
              <a:t>The problem is not finding documents. It is finding the correct, applicable and authoritative legal rule.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DOMAIN VALIDATION</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7</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We checked the problem with practitioners</a:t>
            </a:r>
          </a:p>
        </p:txBody>
      </p:sp>
      <p:sp>
        <p:nvSpPr>
          <p:cNvPr id="6" name="Rounded Rectangle 5"/>
          <p:cNvSpPr/>
          <p:nvPr/>
        </p:nvSpPr>
        <p:spPr>
          <a:xfrm>
            <a:off x="1024128" y="3063240"/>
            <a:ext cx="5760720" cy="5440680"/>
          </a:xfrm>
          <a:prstGeom prst="roundRect">
            <a:avLst>
              <a:gd name="adj" fmla="val 2689"/>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27048" y="3456432"/>
            <a:ext cx="4754880" cy="1764792"/>
          </a:xfrm>
          <a:prstGeom prst="rect">
            <a:avLst/>
          </a:prstGeom>
          <a:noFill/>
        </p:spPr>
        <p:txBody>
          <a:bodyPr wrap="square" anchor="t" lIns="0" rIns="0" tIns="0" bIns="0">
            <a:spAutoFit/>
          </a:bodyPr>
          <a:lstStyle/>
          <a:p>
            <a:pPr algn="l">
              <a:lnSpc>
                <a:spcPct val="102000"/>
              </a:lnSpc>
            </a:pPr>
            <a:r>
              <a:rPr sz="13200" b="1" i="0">
                <a:solidFill>
                  <a:srgbClr val="8C7753"/>
                </a:solidFill>
                <a:latin typeface="Open Sauce Bold"/>
              </a:rPr>
              <a:t>3</a:t>
            </a:r>
          </a:p>
        </p:txBody>
      </p:sp>
      <p:sp>
        <p:nvSpPr>
          <p:cNvPr id="8" name="TextBox 7"/>
          <p:cNvSpPr txBox="1"/>
          <p:nvPr/>
        </p:nvSpPr>
        <p:spPr>
          <a:xfrm>
            <a:off x="1527048" y="5440680"/>
            <a:ext cx="4754880" cy="859536"/>
          </a:xfrm>
          <a:prstGeom prst="rect">
            <a:avLst/>
          </a:prstGeom>
          <a:noFill/>
        </p:spPr>
        <p:txBody>
          <a:bodyPr wrap="square" anchor="t" lIns="0" rIns="0" tIns="0" bIns="0">
            <a:spAutoFit/>
          </a:bodyPr>
          <a:lstStyle/>
          <a:p>
            <a:pPr algn="l">
              <a:lnSpc>
                <a:spcPct val="132000"/>
              </a:lnSpc>
            </a:pPr>
            <a:r>
              <a:rPr sz="2400" b="0" i="0">
                <a:solidFill>
                  <a:srgbClr val="FAF7F0"/>
                </a:solidFill>
                <a:latin typeface="Open Sauce"/>
              </a:rPr>
              <a:t>consultations with practising lawyers and legal experts</a:t>
            </a:r>
          </a:p>
        </p:txBody>
      </p:sp>
      <p:cxnSp>
        <p:nvCxnSpPr>
          <p:cNvPr id="9" name="Connector 8"/>
          <p:cNvCxnSpPr/>
          <p:nvPr/>
        </p:nvCxnSpPr>
        <p:spPr>
          <a:xfrm>
            <a:off x="1527048" y="6675120"/>
            <a:ext cx="2743200" cy="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527048" y="6967728"/>
            <a:ext cx="4754880" cy="973836"/>
          </a:xfrm>
          <a:prstGeom prst="rect">
            <a:avLst/>
          </a:prstGeom>
          <a:noFill/>
        </p:spPr>
        <p:txBody>
          <a:bodyPr wrap="square" anchor="t" lIns="0" rIns="0" tIns="0" bIns="0">
            <a:spAutoFit/>
          </a:bodyPr>
          <a:lstStyle/>
          <a:p>
            <a:pPr algn="l">
              <a:lnSpc>
                <a:spcPct val="134000"/>
              </a:lnSpc>
            </a:pPr>
            <a:r>
              <a:rPr sz="1800" b="0" i="0">
                <a:solidFill>
                  <a:srgbClr val="F1EADC"/>
                </a:solidFill>
                <a:latin typeface="Open Sauce"/>
              </a:rPr>
              <a:t>The main consultation was with a practising lawyer and notary who also lectures at Sri Lanka Law College.</a:t>
            </a:r>
          </a:p>
        </p:txBody>
      </p:sp>
      <p:sp>
        <p:nvSpPr>
          <p:cNvPr id="11" name="TextBox 10"/>
          <p:cNvSpPr txBox="1"/>
          <p:nvPr/>
        </p:nvSpPr>
        <p:spPr>
          <a:xfrm>
            <a:off x="7589520" y="3063240"/>
            <a:ext cx="9601200"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What they gave us</a:t>
            </a:r>
          </a:p>
        </p:txBody>
      </p:sp>
      <p:sp>
        <p:nvSpPr>
          <p:cNvPr id="12" name="TextBox 11"/>
          <p:cNvSpPr txBox="1"/>
          <p:nvPr/>
        </p:nvSpPr>
        <p:spPr>
          <a:xfrm>
            <a:off x="7589520" y="3749039"/>
            <a:ext cx="9674352" cy="3123184"/>
          </a:xfrm>
          <a:prstGeom prst="rect">
            <a:avLst/>
          </a:prstGeom>
          <a:noFill/>
        </p:spPr>
        <p:txBody>
          <a:bodyPr wrap="square" anchor="t" lIns="0" rIns="0" tIns="0" bIns="0">
            <a:spAutoFit/>
          </a:bodyPr>
          <a:lstStyle/>
          <a:p>
            <a:pPr algn="l" marL="310896" indent="-310896">
              <a:lnSpc>
                <a:spcPct val="134000"/>
              </a:lnSpc>
            </a:pPr>
            <a:r>
              <a:rPr sz="2000" b="0" i="0">
                <a:solidFill>
                  <a:srgbClr val="331B0D"/>
                </a:solidFill>
                <a:latin typeface="Open Sauce"/>
              </a:rPr>
              <a:t>•   The complete conveyancing workflow, end to end</a:t>
            </a:r>
          </a:p>
          <a:p>
            <a:pPr algn="l" marL="310896" indent="-310896">
              <a:lnSpc>
                <a:spcPct val="134000"/>
              </a:lnSpc>
              <a:spcBef>
                <a:spcPts val="900"/>
              </a:spcBef>
            </a:pPr>
            <a:r>
              <a:rPr sz="2000" b="0" i="0">
                <a:solidFill>
                  <a:srgbClr val="331B0D"/>
                </a:solidFill>
                <a:latin typeface="Open Sauce"/>
              </a:rPr>
              <a:t>•   The mistakes and professional risks that actually occur</a:t>
            </a:r>
          </a:p>
          <a:p>
            <a:pPr algn="l" marL="310896" indent="-310896">
              <a:lnSpc>
                <a:spcPct val="134000"/>
              </a:lnSpc>
              <a:spcBef>
                <a:spcPts val="900"/>
              </a:spcBef>
            </a:pPr>
            <a:r>
              <a:rPr sz="2000" b="0" i="0">
                <a:solidFill>
                  <a:srgbClr val="331B0D"/>
                </a:solidFill>
                <a:latin typeface="Open Sauce"/>
              </a:rPr>
              <a:t>•   Real checklists and sample documents</a:t>
            </a:r>
          </a:p>
          <a:p>
            <a:pPr algn="l" marL="310896" indent="-310896">
              <a:lnSpc>
                <a:spcPct val="134000"/>
              </a:lnSpc>
              <a:spcBef>
                <a:spcPts val="900"/>
              </a:spcBef>
            </a:pPr>
            <a:r>
              <a:rPr sz="2000" b="0" i="0">
                <a:solidFill>
                  <a:srgbClr val="331B0D"/>
                </a:solidFill>
                <a:latin typeface="Open Sauce"/>
              </a:rPr>
              <a:t>•   How the different registration regimes differ</a:t>
            </a:r>
          </a:p>
          <a:p>
            <a:pPr algn="l" marL="310896" indent="-310896">
              <a:lnSpc>
                <a:spcPct val="134000"/>
              </a:lnSpc>
              <a:spcBef>
                <a:spcPts val="900"/>
              </a:spcBef>
            </a:pPr>
            <a:r>
              <a:rPr sz="2000" b="0" i="0">
                <a:solidFill>
                  <a:srgbClr val="331B0D"/>
                </a:solidFill>
                <a:latin typeface="Open Sauce"/>
              </a:rPr>
              <a:t>•   The information a notary needs at each step</a:t>
            </a:r>
          </a:p>
          <a:p>
            <a:pPr algn="l" marL="310896" indent="-310896">
              <a:lnSpc>
                <a:spcPct val="134000"/>
              </a:lnSpc>
              <a:spcBef>
                <a:spcPts val="900"/>
              </a:spcBef>
            </a:pPr>
            <a:r>
              <a:rPr sz="2000" b="0" i="0">
                <a:solidFill>
                  <a:srgbClr val="331B0D"/>
                </a:solidFill>
                <a:latin typeface="Open Sauce"/>
              </a:rPr>
              <a:t>•   A defensible initial scope for the system</a:t>
            </a:r>
          </a:p>
          <a:p>
            <a:pPr algn="l" marL="310896" indent="-310896">
              <a:lnSpc>
                <a:spcPct val="134000"/>
              </a:lnSpc>
              <a:spcBef>
                <a:spcPts val="900"/>
              </a:spcBef>
            </a:pPr>
            <a:r>
              <a:rPr sz="2000" b="0" i="0">
                <a:solidFill>
                  <a:srgbClr val="331B0D"/>
                </a:solidFill>
                <a:latin typeface="Open Sauce"/>
              </a:rPr>
              <a:t>•   The shape of a lawyer-review process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DOMAIN VALIDATION</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8</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What the consultations exposed</a:t>
            </a:r>
          </a:p>
        </p:txBody>
      </p:sp>
      <p:sp>
        <p:nvSpPr>
          <p:cNvPr id="6" name="TextBox 5"/>
          <p:cNvSpPr txBox="1"/>
          <p:nvPr/>
        </p:nvSpPr>
        <p:spPr>
          <a:xfrm>
            <a:off x="1024128" y="3154680"/>
            <a:ext cx="731520" cy="376174"/>
          </a:xfrm>
          <a:prstGeom prst="rect">
            <a:avLst/>
          </a:prstGeom>
          <a:noFill/>
        </p:spPr>
        <p:txBody>
          <a:bodyPr wrap="square" anchor="t" lIns="0" rIns="0" tIns="0" bIns="0">
            <a:spAutoFit/>
          </a:bodyPr>
          <a:lstStyle/>
          <a:p>
            <a:pPr algn="l">
              <a:lnSpc>
                <a:spcPct val="115000"/>
              </a:lnSpc>
            </a:pPr>
            <a:r>
              <a:rPr sz="2200" b="1" i="0">
                <a:solidFill>
                  <a:srgbClr val="8C7753"/>
                </a:solidFill>
                <a:latin typeface="Open Sauce Bold"/>
              </a:rPr>
              <a:t>01</a:t>
            </a:r>
          </a:p>
        </p:txBody>
      </p:sp>
      <p:sp>
        <p:nvSpPr>
          <p:cNvPr id="7" name="TextBox 6"/>
          <p:cNvSpPr txBox="1"/>
          <p:nvPr/>
        </p:nvSpPr>
        <p:spPr>
          <a:xfrm>
            <a:off x="1847088" y="3154680"/>
            <a:ext cx="7022591" cy="735584"/>
          </a:xfrm>
          <a:prstGeom prst="rect">
            <a:avLst/>
          </a:prstGeom>
          <a:noFill/>
        </p:spPr>
        <p:txBody>
          <a:bodyPr wrap="square" anchor="t" lIns="0" rIns="0" tIns="0" bIns="0">
            <a:spAutoFit/>
          </a:bodyPr>
          <a:lstStyle/>
          <a:p>
            <a:pPr algn="l">
              <a:lnSpc>
                <a:spcPct val="134000"/>
              </a:lnSpc>
            </a:pPr>
            <a:r>
              <a:rPr sz="2000" b="0" i="0">
                <a:solidFill>
                  <a:srgbClr val="331B0D"/>
                </a:solidFill>
                <a:latin typeface="Open Sauce"/>
              </a:rPr>
              <a:t>Registration does not establish valid ownership the same way under every regime.</a:t>
            </a:r>
          </a:p>
        </p:txBody>
      </p:sp>
      <p:cxnSp>
        <p:nvCxnSpPr>
          <p:cNvPr id="8" name="Connector 7"/>
          <p:cNvCxnSpPr/>
          <p:nvPr/>
        </p:nvCxnSpPr>
        <p:spPr>
          <a:xfrm>
            <a:off x="1024128" y="4215384"/>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24128" y="4453128"/>
            <a:ext cx="731520" cy="376174"/>
          </a:xfrm>
          <a:prstGeom prst="rect">
            <a:avLst/>
          </a:prstGeom>
          <a:noFill/>
        </p:spPr>
        <p:txBody>
          <a:bodyPr wrap="square" anchor="t" lIns="0" rIns="0" tIns="0" bIns="0">
            <a:spAutoFit/>
          </a:bodyPr>
          <a:lstStyle/>
          <a:p>
            <a:pPr algn="l">
              <a:lnSpc>
                <a:spcPct val="115000"/>
              </a:lnSpc>
            </a:pPr>
            <a:r>
              <a:rPr sz="2200" b="1" i="0">
                <a:solidFill>
                  <a:srgbClr val="8C7753"/>
                </a:solidFill>
                <a:latin typeface="Open Sauce Bold"/>
              </a:rPr>
              <a:t>02</a:t>
            </a:r>
          </a:p>
        </p:txBody>
      </p:sp>
      <p:sp>
        <p:nvSpPr>
          <p:cNvPr id="10" name="TextBox 9"/>
          <p:cNvSpPr txBox="1"/>
          <p:nvPr/>
        </p:nvSpPr>
        <p:spPr>
          <a:xfrm>
            <a:off x="1847088" y="4453128"/>
            <a:ext cx="7022591" cy="395224"/>
          </a:xfrm>
          <a:prstGeom prst="rect">
            <a:avLst/>
          </a:prstGeom>
          <a:noFill/>
        </p:spPr>
        <p:txBody>
          <a:bodyPr wrap="square" anchor="t" lIns="0" rIns="0" tIns="0" bIns="0">
            <a:spAutoFit/>
          </a:bodyPr>
          <a:lstStyle/>
          <a:p>
            <a:pPr algn="l">
              <a:lnSpc>
                <a:spcPct val="134000"/>
              </a:lnSpc>
            </a:pPr>
            <a:r>
              <a:rPr sz="2000" b="0" i="0">
                <a:solidFill>
                  <a:srgbClr val="331B0D"/>
                </a:solidFill>
                <a:latin typeface="Open Sauce"/>
              </a:rPr>
              <a:t>Fraudulent deeds and impersonation can go undetected.</a:t>
            </a:r>
          </a:p>
        </p:txBody>
      </p:sp>
      <p:cxnSp>
        <p:nvCxnSpPr>
          <p:cNvPr id="11" name="Connector 10"/>
          <p:cNvCxnSpPr/>
          <p:nvPr/>
        </p:nvCxnSpPr>
        <p:spPr>
          <a:xfrm>
            <a:off x="1024128" y="5513832"/>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24128" y="5751576"/>
            <a:ext cx="731520" cy="376174"/>
          </a:xfrm>
          <a:prstGeom prst="rect">
            <a:avLst/>
          </a:prstGeom>
          <a:noFill/>
        </p:spPr>
        <p:txBody>
          <a:bodyPr wrap="square" anchor="t" lIns="0" rIns="0" tIns="0" bIns="0">
            <a:spAutoFit/>
          </a:bodyPr>
          <a:lstStyle/>
          <a:p>
            <a:pPr algn="l">
              <a:lnSpc>
                <a:spcPct val="115000"/>
              </a:lnSpc>
            </a:pPr>
            <a:r>
              <a:rPr sz="2200" b="1" i="0">
                <a:solidFill>
                  <a:srgbClr val="8C7753"/>
                </a:solidFill>
                <a:latin typeface="Open Sauce Bold"/>
              </a:rPr>
              <a:t>03</a:t>
            </a:r>
          </a:p>
        </p:txBody>
      </p:sp>
      <p:sp>
        <p:nvSpPr>
          <p:cNvPr id="13" name="TextBox 12"/>
          <p:cNvSpPr txBox="1"/>
          <p:nvPr/>
        </p:nvSpPr>
        <p:spPr>
          <a:xfrm>
            <a:off x="1847088" y="5751576"/>
            <a:ext cx="7022591" cy="735584"/>
          </a:xfrm>
          <a:prstGeom prst="rect">
            <a:avLst/>
          </a:prstGeom>
          <a:noFill/>
        </p:spPr>
        <p:txBody>
          <a:bodyPr wrap="square" anchor="t" lIns="0" rIns="0" tIns="0" bIns="0">
            <a:spAutoFit/>
          </a:bodyPr>
          <a:lstStyle/>
          <a:p>
            <a:pPr algn="l">
              <a:lnSpc>
                <a:spcPct val="134000"/>
              </a:lnSpc>
            </a:pPr>
            <a:r>
              <a:rPr sz="2000" b="0" i="0">
                <a:solidFill>
                  <a:srgbClr val="331B0D"/>
                </a:solidFill>
                <a:latin typeface="Open Sauce"/>
              </a:rPr>
              <a:t>The notary carries the duty to verify identity, title, encumbrances and jurisdiction.</a:t>
            </a:r>
          </a:p>
        </p:txBody>
      </p:sp>
      <p:cxnSp>
        <p:nvCxnSpPr>
          <p:cNvPr id="14" name="Connector 13"/>
          <p:cNvCxnSpPr/>
          <p:nvPr/>
        </p:nvCxnSpPr>
        <p:spPr>
          <a:xfrm>
            <a:off x="1024128" y="6812280"/>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24128" y="7050024"/>
            <a:ext cx="731520" cy="376174"/>
          </a:xfrm>
          <a:prstGeom prst="rect">
            <a:avLst/>
          </a:prstGeom>
          <a:noFill/>
        </p:spPr>
        <p:txBody>
          <a:bodyPr wrap="square" anchor="t" lIns="0" rIns="0" tIns="0" bIns="0">
            <a:spAutoFit/>
          </a:bodyPr>
          <a:lstStyle/>
          <a:p>
            <a:pPr algn="l">
              <a:lnSpc>
                <a:spcPct val="115000"/>
              </a:lnSpc>
            </a:pPr>
            <a:r>
              <a:rPr sz="2200" b="1" i="0">
                <a:solidFill>
                  <a:srgbClr val="8C7753"/>
                </a:solidFill>
                <a:latin typeface="Open Sauce Bold"/>
              </a:rPr>
              <a:t>04</a:t>
            </a:r>
          </a:p>
        </p:txBody>
      </p:sp>
      <p:sp>
        <p:nvSpPr>
          <p:cNvPr id="16" name="TextBox 15"/>
          <p:cNvSpPr txBox="1"/>
          <p:nvPr/>
        </p:nvSpPr>
        <p:spPr>
          <a:xfrm>
            <a:off x="1847088" y="7050024"/>
            <a:ext cx="7022591" cy="735584"/>
          </a:xfrm>
          <a:prstGeom prst="rect">
            <a:avLst/>
          </a:prstGeom>
          <a:noFill/>
        </p:spPr>
        <p:txBody>
          <a:bodyPr wrap="square" anchor="t" lIns="0" rIns="0" tIns="0" bIns="0">
            <a:spAutoFit/>
          </a:bodyPr>
          <a:lstStyle/>
          <a:p>
            <a:pPr algn="l">
              <a:lnSpc>
                <a:spcPct val="134000"/>
              </a:lnSpc>
            </a:pPr>
            <a:r>
              <a:rPr sz="2000" b="0" i="0">
                <a:solidFill>
                  <a:srgbClr val="331B0D"/>
                </a:solidFill>
                <a:latin typeface="Open Sauce"/>
              </a:rPr>
              <a:t>Procedural rules are distributed across several legal sources.</a:t>
            </a:r>
          </a:p>
        </p:txBody>
      </p:sp>
      <p:cxnSp>
        <p:nvCxnSpPr>
          <p:cNvPr id="17" name="Connector 16"/>
          <p:cNvCxnSpPr/>
          <p:nvPr/>
        </p:nvCxnSpPr>
        <p:spPr>
          <a:xfrm>
            <a:off x="1024128" y="8110727"/>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9418319" y="3154680"/>
            <a:ext cx="731520" cy="376174"/>
          </a:xfrm>
          <a:prstGeom prst="rect">
            <a:avLst/>
          </a:prstGeom>
          <a:noFill/>
        </p:spPr>
        <p:txBody>
          <a:bodyPr wrap="square" anchor="t" lIns="0" rIns="0" tIns="0" bIns="0">
            <a:spAutoFit/>
          </a:bodyPr>
          <a:lstStyle/>
          <a:p>
            <a:pPr algn="l">
              <a:lnSpc>
                <a:spcPct val="115000"/>
              </a:lnSpc>
            </a:pPr>
            <a:r>
              <a:rPr sz="2200" b="1" i="0">
                <a:solidFill>
                  <a:srgbClr val="8C7753"/>
                </a:solidFill>
                <a:latin typeface="Open Sauce Bold"/>
              </a:rPr>
              <a:t>05</a:t>
            </a:r>
          </a:p>
        </p:txBody>
      </p:sp>
      <p:sp>
        <p:nvSpPr>
          <p:cNvPr id="19" name="TextBox 18"/>
          <p:cNvSpPr txBox="1"/>
          <p:nvPr/>
        </p:nvSpPr>
        <p:spPr>
          <a:xfrm>
            <a:off x="10241279" y="3154680"/>
            <a:ext cx="7022591" cy="735584"/>
          </a:xfrm>
          <a:prstGeom prst="rect">
            <a:avLst/>
          </a:prstGeom>
          <a:noFill/>
        </p:spPr>
        <p:txBody>
          <a:bodyPr wrap="square" anchor="t" lIns="0" rIns="0" tIns="0" bIns="0">
            <a:spAutoFit/>
          </a:bodyPr>
          <a:lstStyle/>
          <a:p>
            <a:pPr algn="l">
              <a:lnSpc>
                <a:spcPct val="134000"/>
              </a:lnSpc>
            </a:pPr>
            <a:r>
              <a:rPr sz="2000" b="0" i="0">
                <a:solidFill>
                  <a:srgbClr val="331B0D"/>
                </a:solidFill>
                <a:latin typeface="Open Sauce"/>
              </a:rPr>
              <a:t>Junior notaries lack knowledge that normally takes years of practice to build.</a:t>
            </a:r>
          </a:p>
        </p:txBody>
      </p:sp>
      <p:cxnSp>
        <p:nvCxnSpPr>
          <p:cNvPr id="20" name="Connector 19"/>
          <p:cNvCxnSpPr/>
          <p:nvPr/>
        </p:nvCxnSpPr>
        <p:spPr>
          <a:xfrm>
            <a:off x="9418319" y="4215384"/>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418319" y="4453128"/>
            <a:ext cx="731520" cy="376174"/>
          </a:xfrm>
          <a:prstGeom prst="rect">
            <a:avLst/>
          </a:prstGeom>
          <a:noFill/>
        </p:spPr>
        <p:txBody>
          <a:bodyPr wrap="square" anchor="t" lIns="0" rIns="0" tIns="0" bIns="0">
            <a:spAutoFit/>
          </a:bodyPr>
          <a:lstStyle/>
          <a:p>
            <a:pPr algn="l">
              <a:lnSpc>
                <a:spcPct val="115000"/>
              </a:lnSpc>
            </a:pPr>
            <a:r>
              <a:rPr sz="2200" b="1" i="0">
                <a:solidFill>
                  <a:srgbClr val="8C7753"/>
                </a:solidFill>
                <a:latin typeface="Open Sauce Bold"/>
              </a:rPr>
              <a:t>06</a:t>
            </a:r>
          </a:p>
        </p:txBody>
      </p:sp>
      <p:sp>
        <p:nvSpPr>
          <p:cNvPr id="22" name="TextBox 21"/>
          <p:cNvSpPr txBox="1"/>
          <p:nvPr/>
        </p:nvSpPr>
        <p:spPr>
          <a:xfrm>
            <a:off x="10241279" y="4453128"/>
            <a:ext cx="7022591" cy="735584"/>
          </a:xfrm>
          <a:prstGeom prst="rect">
            <a:avLst/>
          </a:prstGeom>
          <a:noFill/>
        </p:spPr>
        <p:txBody>
          <a:bodyPr wrap="square" anchor="t" lIns="0" rIns="0" tIns="0" bIns="0">
            <a:spAutoFit/>
          </a:bodyPr>
          <a:lstStyle/>
          <a:p>
            <a:pPr algn="l">
              <a:lnSpc>
                <a:spcPct val="134000"/>
              </a:lnSpc>
            </a:pPr>
            <a:r>
              <a:rPr sz="2000" b="0" i="0">
                <a:solidFill>
                  <a:srgbClr val="331B0D"/>
                </a:solidFill>
                <a:latin typeface="Open Sauce"/>
              </a:rPr>
              <a:t>General AI tools generate text that does not follow the required Sri Lankan structure.</a:t>
            </a:r>
          </a:p>
        </p:txBody>
      </p:sp>
      <p:cxnSp>
        <p:nvCxnSpPr>
          <p:cNvPr id="23" name="Connector 22"/>
          <p:cNvCxnSpPr/>
          <p:nvPr/>
        </p:nvCxnSpPr>
        <p:spPr>
          <a:xfrm>
            <a:off x="9418319" y="5513832"/>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418319" y="5751576"/>
            <a:ext cx="731520" cy="376174"/>
          </a:xfrm>
          <a:prstGeom prst="rect">
            <a:avLst/>
          </a:prstGeom>
          <a:noFill/>
        </p:spPr>
        <p:txBody>
          <a:bodyPr wrap="square" anchor="t" lIns="0" rIns="0" tIns="0" bIns="0">
            <a:spAutoFit/>
          </a:bodyPr>
          <a:lstStyle/>
          <a:p>
            <a:pPr algn="l">
              <a:lnSpc>
                <a:spcPct val="115000"/>
              </a:lnSpc>
            </a:pPr>
            <a:r>
              <a:rPr sz="2200" b="1" i="0">
                <a:solidFill>
                  <a:srgbClr val="8C7753"/>
                </a:solidFill>
                <a:latin typeface="Open Sauce Bold"/>
              </a:rPr>
              <a:t>07</a:t>
            </a:r>
          </a:p>
        </p:txBody>
      </p:sp>
      <p:sp>
        <p:nvSpPr>
          <p:cNvPr id="25" name="TextBox 24"/>
          <p:cNvSpPr txBox="1"/>
          <p:nvPr/>
        </p:nvSpPr>
        <p:spPr>
          <a:xfrm>
            <a:off x="10241279" y="5751576"/>
            <a:ext cx="7022591" cy="735584"/>
          </a:xfrm>
          <a:prstGeom prst="rect">
            <a:avLst/>
          </a:prstGeom>
          <a:noFill/>
        </p:spPr>
        <p:txBody>
          <a:bodyPr wrap="square" anchor="t" lIns="0" rIns="0" tIns="0" bIns="0">
            <a:spAutoFit/>
          </a:bodyPr>
          <a:lstStyle/>
          <a:p>
            <a:pPr algn="l">
              <a:lnSpc>
                <a:spcPct val="134000"/>
              </a:lnSpc>
            </a:pPr>
            <a:r>
              <a:rPr sz="2000" b="0" i="0">
                <a:solidFill>
                  <a:srgbClr val="331B0D"/>
                </a:solidFill>
                <a:latin typeface="Open Sauce"/>
              </a:rPr>
              <a:t>Practitioners want workflow guidance, not exam-style legal answers.</a:t>
            </a:r>
          </a:p>
        </p:txBody>
      </p:sp>
      <p:cxnSp>
        <p:nvCxnSpPr>
          <p:cNvPr id="26" name="Connector 25"/>
          <p:cNvCxnSpPr/>
          <p:nvPr/>
        </p:nvCxnSpPr>
        <p:spPr>
          <a:xfrm>
            <a:off x="9418319" y="6812280"/>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24128" y="8366760"/>
            <a:ext cx="16239743" cy="401574"/>
          </a:xfrm>
          <a:prstGeom prst="rect">
            <a:avLst/>
          </a:prstGeom>
          <a:noFill/>
        </p:spPr>
        <p:txBody>
          <a:bodyPr wrap="square" anchor="t" lIns="0" rIns="0" tIns="0" bIns="0">
            <a:spAutoFit/>
          </a:bodyPr>
          <a:lstStyle/>
          <a:p>
            <a:pPr algn="l">
              <a:lnSpc>
                <a:spcPct val="130000"/>
              </a:lnSpc>
            </a:pPr>
            <a:r>
              <a:rPr sz="2100" b="0" i="1">
                <a:solidFill>
                  <a:srgbClr val="8C7753"/>
                </a:solidFill>
                <a:latin typeface="Open Sauce Italics"/>
              </a:rPr>
              <a:t>Each of these became a design constraint, not a feature request.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331B0D"/>
        </a:solidFill>
        <a:effectLst/>
      </p:bgPr>
    </p:bg>
    <p:spTree>
      <p:nvGrpSpPr>
        <p:cNvPr id="1" name=""/>
        <p:cNvGrpSpPr/>
        <p:nvPr/>
      </p:nvGrpSpPr>
      <p:grpSpPr/>
      <p:sp>
        <p:nvSpPr>
          <p:cNvPr id="2" name="Rectangle 1"/>
          <p:cNvSpPr/>
          <p:nvPr/>
        </p:nvSpPr>
        <p:spPr>
          <a:xfrm>
            <a:off x="0" y="0"/>
            <a:ext cx="274320" cy="10287000"/>
          </a:xfrm>
          <a:prstGeom prst="rect">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SECTION</a:t>
            </a:r>
          </a:p>
        </p:txBody>
      </p:sp>
      <p:sp>
        <p:nvSpPr>
          <p:cNvPr id="4" name="TextBox 3"/>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Draftly  |  Mid-evaluation</a:t>
            </a:r>
          </a:p>
        </p:txBody>
      </p:sp>
      <p:sp>
        <p:nvSpPr>
          <p:cNvPr id="5" name="TextBox 4"/>
          <p:cNvSpPr txBox="1"/>
          <p:nvPr/>
        </p:nvSpPr>
        <p:spPr>
          <a:xfrm>
            <a:off x="1024128" y="2788920"/>
            <a:ext cx="5486400" cy="1764792"/>
          </a:xfrm>
          <a:prstGeom prst="rect">
            <a:avLst/>
          </a:prstGeom>
          <a:noFill/>
        </p:spPr>
        <p:txBody>
          <a:bodyPr wrap="square" anchor="t" lIns="0" rIns="0" tIns="0" bIns="0">
            <a:spAutoFit/>
          </a:bodyPr>
          <a:lstStyle/>
          <a:p>
            <a:pPr algn="l">
              <a:lnSpc>
                <a:spcPct val="102000"/>
              </a:lnSpc>
            </a:pPr>
            <a:r>
              <a:rPr sz="13200" b="1" i="0">
                <a:solidFill>
                  <a:srgbClr val="8C7753"/>
                </a:solidFill>
                <a:latin typeface="Open Sauce Bold"/>
              </a:rPr>
              <a:t>02</a:t>
            </a:r>
          </a:p>
        </p:txBody>
      </p:sp>
      <p:sp>
        <p:nvSpPr>
          <p:cNvPr id="6" name="TextBox 5"/>
          <p:cNvSpPr txBox="1"/>
          <p:nvPr/>
        </p:nvSpPr>
        <p:spPr>
          <a:xfrm>
            <a:off x="1024128" y="5074920"/>
            <a:ext cx="13716000" cy="908304"/>
          </a:xfrm>
          <a:prstGeom prst="rect">
            <a:avLst/>
          </a:prstGeom>
          <a:noFill/>
        </p:spPr>
        <p:txBody>
          <a:bodyPr wrap="square" anchor="t" lIns="0" rIns="0" tIns="0" bIns="0">
            <a:spAutoFit/>
          </a:bodyPr>
          <a:lstStyle/>
          <a:p>
            <a:pPr algn="l">
              <a:lnSpc>
                <a:spcPct val="112000"/>
              </a:lnSpc>
            </a:pPr>
            <a:r>
              <a:rPr sz="6000" b="0" i="0">
                <a:solidFill>
                  <a:srgbClr val="FAF7F0"/>
                </a:solidFill>
                <a:latin typeface="Open Sauce"/>
              </a:rPr>
              <a:t>The retrieval engine</a:t>
            </a:r>
          </a:p>
        </p:txBody>
      </p:sp>
      <p:cxnSp>
        <p:nvCxnSpPr>
          <p:cNvPr id="7" name="Connector 6"/>
          <p:cNvCxnSpPr/>
          <p:nvPr/>
        </p:nvCxnSpPr>
        <p:spPr>
          <a:xfrm>
            <a:off x="1024128" y="6720840"/>
            <a:ext cx="5486400" cy="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4128" y="7086600"/>
            <a:ext cx="11887200" cy="440435"/>
          </a:xfrm>
          <a:prstGeom prst="rect">
            <a:avLst/>
          </a:prstGeom>
          <a:noFill/>
        </p:spPr>
        <p:txBody>
          <a:bodyPr wrap="square" anchor="t" lIns="0" rIns="0" tIns="0" bIns="0">
            <a:spAutoFit/>
          </a:bodyPr>
          <a:lstStyle/>
          <a:p>
            <a:pPr algn="l">
              <a:lnSpc>
                <a:spcPct val="138000"/>
              </a:lnSpc>
            </a:pPr>
            <a:r>
              <a:rPr sz="2200" b="0" i="0">
                <a:solidFill>
                  <a:srgbClr val="F1EADC"/>
                </a:solidFill>
                <a:latin typeface="Open Sauce"/>
              </a:rPr>
              <a:t>The corpus, the retrieval design, and the research it is built on.</a:t>
            </a:r>
          </a:p>
        </p:txBody>
      </p:sp>
      <p:sp>
        <p:nvSpPr>
          <p:cNvPr id="9" name="TextBox 8"/>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F1EADC"/>
                </a:solidFill>
                <a:latin typeface="Open Sauce"/>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RETRIEVAL ENGINE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10</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Draftly's core solution</a:t>
            </a:r>
          </a:p>
        </p:txBody>
      </p:sp>
      <p:sp>
        <p:nvSpPr>
          <p:cNvPr id="6" name="TextBox 5"/>
          <p:cNvSpPr txBox="1"/>
          <p:nvPr/>
        </p:nvSpPr>
        <p:spPr>
          <a:xfrm>
            <a:off x="1024128" y="2926080"/>
            <a:ext cx="14173200" cy="401574"/>
          </a:xfrm>
          <a:prstGeom prst="rect">
            <a:avLst/>
          </a:prstGeom>
          <a:noFill/>
        </p:spPr>
        <p:txBody>
          <a:bodyPr wrap="square" anchor="t" lIns="0" rIns="0" tIns="0" bIns="0">
            <a:spAutoFit/>
          </a:bodyPr>
          <a:lstStyle/>
          <a:p>
            <a:pPr algn="l">
              <a:lnSpc>
                <a:spcPct val="130000"/>
              </a:lnSpc>
            </a:pPr>
            <a:r>
              <a:rPr sz="2100" b="0" i="0">
                <a:solidFill>
                  <a:srgbClr val="8C7753"/>
                </a:solidFill>
                <a:latin typeface="Open Sauce"/>
              </a:rPr>
              <a:t>Draftly is built around an authority-aware legal retrieval engine for Sri Lankan law. It connects:</a:t>
            </a:r>
          </a:p>
        </p:txBody>
      </p:sp>
      <p:sp>
        <p:nvSpPr>
          <p:cNvPr id="7" name="Rounded Rectangle 6"/>
          <p:cNvSpPr/>
          <p:nvPr/>
        </p:nvSpPr>
        <p:spPr>
          <a:xfrm>
            <a:off x="1024128" y="3703320"/>
            <a:ext cx="1757933" cy="1234440"/>
          </a:xfrm>
          <a:prstGeom prst="roundRect">
            <a:avLst>
              <a:gd name="adj" fmla="val 888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170432" y="3703320"/>
            <a:ext cx="1465325" cy="123444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Legal question</a:t>
            </a:r>
          </a:p>
        </p:txBody>
      </p:sp>
      <p:sp>
        <p:nvSpPr>
          <p:cNvPr id="9" name="Isosceles Triangle 8"/>
          <p:cNvSpPr/>
          <p:nvPr/>
        </p:nvSpPr>
        <p:spPr>
          <a:xfrm rot="5400000">
            <a:off x="2818637" y="42016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092958" y="3703320"/>
            <a:ext cx="1757933" cy="1234440"/>
          </a:xfrm>
          <a:prstGeom prst="roundRect">
            <a:avLst>
              <a:gd name="adj" fmla="val 888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239262" y="3703320"/>
            <a:ext cx="1465325" cy="123444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Topic</a:t>
            </a:r>
          </a:p>
        </p:txBody>
      </p:sp>
      <p:sp>
        <p:nvSpPr>
          <p:cNvPr id="12" name="Isosceles Triangle 11"/>
          <p:cNvSpPr/>
          <p:nvPr/>
        </p:nvSpPr>
        <p:spPr>
          <a:xfrm rot="5400000">
            <a:off x="4887468" y="42016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61788" y="3703320"/>
            <a:ext cx="1757933" cy="1234440"/>
          </a:xfrm>
          <a:prstGeom prst="roundRect">
            <a:avLst>
              <a:gd name="adj" fmla="val 888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308092" y="3703320"/>
            <a:ext cx="1465325" cy="123444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Statute</a:t>
            </a:r>
          </a:p>
        </p:txBody>
      </p:sp>
      <p:sp>
        <p:nvSpPr>
          <p:cNvPr id="15" name="Isosceles Triangle 14"/>
          <p:cNvSpPr/>
          <p:nvPr/>
        </p:nvSpPr>
        <p:spPr>
          <a:xfrm rot="5400000">
            <a:off x="6956297" y="42016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30618" y="3703320"/>
            <a:ext cx="1757933" cy="1234440"/>
          </a:xfrm>
          <a:prstGeom prst="roundRect">
            <a:avLst>
              <a:gd name="adj" fmla="val 888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76921" y="3703320"/>
            <a:ext cx="1465325" cy="123444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Section</a:t>
            </a:r>
          </a:p>
        </p:txBody>
      </p:sp>
      <p:sp>
        <p:nvSpPr>
          <p:cNvPr id="18" name="Isosceles Triangle 17"/>
          <p:cNvSpPr/>
          <p:nvPr/>
        </p:nvSpPr>
        <p:spPr>
          <a:xfrm rot="5400000">
            <a:off x="9025128" y="42016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299447" y="3703320"/>
            <a:ext cx="1757933" cy="1234440"/>
          </a:xfrm>
          <a:prstGeom prst="roundRect">
            <a:avLst>
              <a:gd name="adj" fmla="val 888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445751" y="3703320"/>
            <a:ext cx="1465325" cy="123444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Applicable version</a:t>
            </a:r>
          </a:p>
        </p:txBody>
      </p:sp>
      <p:sp>
        <p:nvSpPr>
          <p:cNvPr id="21" name="Isosceles Triangle 20"/>
          <p:cNvSpPr/>
          <p:nvPr/>
        </p:nvSpPr>
        <p:spPr>
          <a:xfrm rot="5400000">
            <a:off x="11093957" y="42016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1368277" y="3703320"/>
            <a:ext cx="1757933" cy="1234440"/>
          </a:xfrm>
          <a:prstGeom prst="roundRect">
            <a:avLst>
              <a:gd name="adj" fmla="val 888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514581" y="3703320"/>
            <a:ext cx="1465325" cy="123444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Relevant cases</a:t>
            </a:r>
          </a:p>
        </p:txBody>
      </p:sp>
      <p:sp>
        <p:nvSpPr>
          <p:cNvPr id="24" name="Isosceles Triangle 23"/>
          <p:cNvSpPr/>
          <p:nvPr/>
        </p:nvSpPr>
        <p:spPr>
          <a:xfrm rot="5400000">
            <a:off x="13162787" y="42016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3437108" y="3703320"/>
            <a:ext cx="1757933" cy="1234440"/>
          </a:xfrm>
          <a:prstGeom prst="roundRect">
            <a:avLst>
              <a:gd name="adj" fmla="val 888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3583412" y="3703320"/>
            <a:ext cx="1465325" cy="123444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Legal principle</a:t>
            </a:r>
          </a:p>
        </p:txBody>
      </p:sp>
      <p:sp>
        <p:nvSpPr>
          <p:cNvPr id="27" name="Isosceles Triangle 26"/>
          <p:cNvSpPr/>
          <p:nvPr/>
        </p:nvSpPr>
        <p:spPr>
          <a:xfrm rot="5400000">
            <a:off x="15231617" y="42016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5505938" y="3703320"/>
            <a:ext cx="1757933" cy="1234440"/>
          </a:xfrm>
          <a:prstGeom prst="roundRect">
            <a:avLst>
              <a:gd name="adj" fmla="val 888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5652242" y="3703320"/>
            <a:ext cx="1465325" cy="123444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Supporting evidence</a:t>
            </a:r>
          </a:p>
        </p:txBody>
      </p:sp>
      <p:cxnSp>
        <p:nvCxnSpPr>
          <p:cNvPr id="30" name="Connector 29"/>
          <p:cNvCxnSpPr/>
          <p:nvPr/>
        </p:nvCxnSpPr>
        <p:spPr>
          <a:xfrm>
            <a:off x="1024128" y="5669280"/>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24128" y="6035040"/>
            <a:ext cx="775411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Independent legal research</a:t>
            </a:r>
          </a:p>
        </p:txBody>
      </p:sp>
      <p:sp>
        <p:nvSpPr>
          <p:cNvPr id="32" name="TextBox 31"/>
          <p:cNvSpPr txBox="1"/>
          <p:nvPr/>
        </p:nvSpPr>
        <p:spPr>
          <a:xfrm>
            <a:off x="1024128" y="6720840"/>
            <a:ext cx="7754111" cy="1121664"/>
          </a:xfrm>
          <a:prstGeom prst="rect">
            <a:avLst/>
          </a:prstGeom>
          <a:noFill/>
        </p:spPr>
        <p:txBody>
          <a:bodyPr wrap="square" anchor="t" lIns="0" rIns="0" tIns="0" bIns="0">
            <a:spAutoFit/>
          </a:bodyPr>
          <a:lstStyle/>
          <a:p>
            <a:pPr algn="l">
              <a:lnSpc>
                <a:spcPct val="140000"/>
              </a:lnSpc>
            </a:pPr>
            <a:r>
              <a:rPr sz="2000" b="0" i="0">
                <a:solidFill>
                  <a:srgbClr val="331B0D"/>
                </a:solidFill>
                <a:latin typeface="Open Sauce"/>
              </a:rPr>
              <a:t>A lawyer asks a question and gets back the statutes, sections, cases and legal principles that govern it, each with the passage it came from.</a:t>
            </a:r>
          </a:p>
        </p:txBody>
      </p:sp>
      <p:sp>
        <p:nvSpPr>
          <p:cNvPr id="33" name="TextBox 32"/>
          <p:cNvSpPr txBox="1"/>
          <p:nvPr/>
        </p:nvSpPr>
        <p:spPr>
          <a:xfrm>
            <a:off x="9509759" y="6035040"/>
            <a:ext cx="775411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Evidence-grounded drafting</a:t>
            </a:r>
          </a:p>
        </p:txBody>
      </p:sp>
      <p:sp>
        <p:nvSpPr>
          <p:cNvPr id="34" name="TextBox 33"/>
          <p:cNvSpPr txBox="1"/>
          <p:nvPr/>
        </p:nvSpPr>
        <p:spPr>
          <a:xfrm>
            <a:off x="9509759" y="6720840"/>
            <a:ext cx="7754111" cy="1121664"/>
          </a:xfrm>
          <a:prstGeom prst="rect">
            <a:avLst/>
          </a:prstGeom>
          <a:noFill/>
        </p:spPr>
        <p:txBody>
          <a:bodyPr wrap="square" anchor="t" lIns="0" rIns="0" tIns="0" bIns="0">
            <a:spAutoFit/>
          </a:bodyPr>
          <a:lstStyle/>
          <a:p>
            <a:pPr algn="l">
              <a:lnSpc>
                <a:spcPct val="140000"/>
              </a:lnSpc>
            </a:pPr>
            <a:r>
              <a:rPr sz="2000" b="0" i="0">
                <a:solidFill>
                  <a:srgbClr val="331B0D"/>
                </a:solidFill>
                <a:latin typeface="Open Sauce"/>
              </a:rPr>
              <a:t>The drafting workflow calls the same engine to find the rules that govern each professional step. Retrieval is the foundation, not a side feature.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RETRIEVAL ENGINE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11</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The legal relationship model</a:t>
            </a:r>
          </a:p>
        </p:txBody>
      </p:sp>
      <p:sp>
        <p:nvSpPr>
          <p:cNvPr id="6" name="Rounded Rectangle 5"/>
          <p:cNvSpPr/>
          <p:nvPr/>
        </p:nvSpPr>
        <p:spPr>
          <a:xfrm>
            <a:off x="1024128" y="3611880"/>
            <a:ext cx="3703320" cy="1280160"/>
          </a:xfrm>
          <a:prstGeom prst="roundRect">
            <a:avLst>
              <a:gd name="adj" fmla="val 857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70432" y="3611880"/>
            <a:ext cx="3410712" cy="1280160"/>
          </a:xfrm>
          <a:prstGeom prst="rect">
            <a:avLst/>
          </a:prstGeom>
          <a:noFill/>
        </p:spPr>
        <p:txBody>
          <a:bodyPr wrap="square" anchor="ctr" lIns="0" rIns="0" tIns="0" bIns="0">
            <a:spAutoFit/>
          </a:bodyPr>
          <a:lstStyle/>
          <a:p>
            <a:pPr algn="ctr">
              <a:lnSpc>
                <a:spcPct val="122000"/>
              </a:lnSpc>
            </a:pPr>
            <a:r>
              <a:rPr sz="2000" b="0" i="0">
                <a:solidFill>
                  <a:srgbClr val="331B0D"/>
                </a:solidFill>
                <a:latin typeface="Open Sauce"/>
              </a:rPr>
              <a:t>Legal topic</a:t>
            </a:r>
          </a:p>
        </p:txBody>
      </p:sp>
      <p:sp>
        <p:nvSpPr>
          <p:cNvPr id="8" name="Isosceles Triangle 7"/>
          <p:cNvSpPr/>
          <p:nvPr/>
        </p:nvSpPr>
        <p:spPr>
          <a:xfrm rot="5400000">
            <a:off x="4846320" y="413308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202936" y="3611880"/>
            <a:ext cx="3703320" cy="1280160"/>
          </a:xfrm>
          <a:prstGeom prst="roundRect">
            <a:avLst>
              <a:gd name="adj" fmla="val 857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49240" y="3611880"/>
            <a:ext cx="3410712" cy="1280160"/>
          </a:xfrm>
          <a:prstGeom prst="rect">
            <a:avLst/>
          </a:prstGeom>
          <a:noFill/>
        </p:spPr>
        <p:txBody>
          <a:bodyPr wrap="square" anchor="ctr" lIns="0" rIns="0" tIns="0" bIns="0">
            <a:spAutoFit/>
          </a:bodyPr>
          <a:lstStyle/>
          <a:p>
            <a:pPr algn="ctr">
              <a:lnSpc>
                <a:spcPct val="122000"/>
              </a:lnSpc>
            </a:pPr>
            <a:r>
              <a:rPr sz="2000" b="0" i="0">
                <a:solidFill>
                  <a:srgbClr val="331B0D"/>
                </a:solidFill>
                <a:latin typeface="Open Sauce"/>
              </a:rPr>
              <a:t>Statute</a:t>
            </a:r>
          </a:p>
        </p:txBody>
      </p:sp>
      <p:sp>
        <p:nvSpPr>
          <p:cNvPr id="11" name="Isosceles Triangle 10"/>
          <p:cNvSpPr/>
          <p:nvPr/>
        </p:nvSpPr>
        <p:spPr>
          <a:xfrm rot="5400000">
            <a:off x="9025128" y="413308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381744" y="3611880"/>
            <a:ext cx="3703320" cy="1280160"/>
          </a:xfrm>
          <a:prstGeom prst="roundRect">
            <a:avLst>
              <a:gd name="adj" fmla="val 857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28048" y="3611880"/>
            <a:ext cx="3410712" cy="1280160"/>
          </a:xfrm>
          <a:prstGeom prst="rect">
            <a:avLst/>
          </a:prstGeom>
          <a:noFill/>
        </p:spPr>
        <p:txBody>
          <a:bodyPr wrap="square" anchor="ctr" lIns="0" rIns="0" tIns="0" bIns="0">
            <a:spAutoFit/>
          </a:bodyPr>
          <a:lstStyle/>
          <a:p>
            <a:pPr algn="ctr">
              <a:lnSpc>
                <a:spcPct val="122000"/>
              </a:lnSpc>
            </a:pPr>
            <a:r>
              <a:rPr sz="2000" b="0" i="0">
                <a:solidFill>
                  <a:srgbClr val="331B0D"/>
                </a:solidFill>
                <a:latin typeface="Open Sauce"/>
              </a:rPr>
              <a:t>Section</a:t>
            </a:r>
          </a:p>
        </p:txBody>
      </p:sp>
      <p:sp>
        <p:nvSpPr>
          <p:cNvPr id="14" name="Isosceles Triangle 13"/>
          <p:cNvSpPr/>
          <p:nvPr/>
        </p:nvSpPr>
        <p:spPr>
          <a:xfrm rot="5400000">
            <a:off x="13203936" y="413308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3560552" y="3611880"/>
            <a:ext cx="3703320" cy="1280160"/>
          </a:xfrm>
          <a:prstGeom prst="roundRect">
            <a:avLst>
              <a:gd name="adj" fmla="val 857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706856" y="3611880"/>
            <a:ext cx="3410712" cy="1280160"/>
          </a:xfrm>
          <a:prstGeom prst="rect">
            <a:avLst/>
          </a:prstGeom>
          <a:noFill/>
        </p:spPr>
        <p:txBody>
          <a:bodyPr wrap="square" anchor="ctr" lIns="0" rIns="0" tIns="0" bIns="0">
            <a:spAutoFit/>
          </a:bodyPr>
          <a:lstStyle/>
          <a:p>
            <a:pPr algn="ctr">
              <a:lnSpc>
                <a:spcPct val="122000"/>
              </a:lnSpc>
            </a:pPr>
            <a:r>
              <a:rPr sz="2000" b="0" i="0">
                <a:solidFill>
                  <a:srgbClr val="331B0D"/>
                </a:solidFill>
                <a:latin typeface="Open Sauce"/>
              </a:rPr>
              <a:t>Applicable version</a:t>
            </a:r>
          </a:p>
        </p:txBody>
      </p:sp>
      <p:cxnSp>
        <p:nvCxnSpPr>
          <p:cNvPr id="17" name="Connector 16"/>
          <p:cNvCxnSpPr/>
          <p:nvPr/>
        </p:nvCxnSpPr>
        <p:spPr>
          <a:xfrm>
            <a:off x="15412212" y="4892040"/>
            <a:ext cx="0" cy="86868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15293340" y="5669280"/>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24128" y="5989320"/>
            <a:ext cx="5096256" cy="1280160"/>
          </a:xfrm>
          <a:prstGeom prst="roundRect">
            <a:avLst>
              <a:gd name="adj" fmla="val 8571"/>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70432" y="5989320"/>
            <a:ext cx="4803648" cy="1280160"/>
          </a:xfrm>
          <a:prstGeom prst="rect">
            <a:avLst/>
          </a:prstGeom>
          <a:noFill/>
        </p:spPr>
        <p:txBody>
          <a:bodyPr wrap="square" anchor="ctr" lIns="0" rIns="0" tIns="0" bIns="0">
            <a:spAutoFit/>
          </a:bodyPr>
          <a:lstStyle/>
          <a:p>
            <a:pPr algn="ctr">
              <a:lnSpc>
                <a:spcPct val="122000"/>
              </a:lnSpc>
            </a:pPr>
            <a:r>
              <a:rPr sz="2000" b="0" i="0">
                <a:solidFill>
                  <a:srgbClr val="FAF7F0"/>
                </a:solidFill>
                <a:latin typeface="Open Sauce"/>
              </a:rPr>
              <a:t>Professional workflow</a:t>
            </a:r>
          </a:p>
        </p:txBody>
      </p:sp>
      <p:sp>
        <p:nvSpPr>
          <p:cNvPr id="21" name="Rounded Rectangle 20"/>
          <p:cNvSpPr/>
          <p:nvPr/>
        </p:nvSpPr>
        <p:spPr>
          <a:xfrm>
            <a:off x="6595872" y="5989320"/>
            <a:ext cx="5096256" cy="1280160"/>
          </a:xfrm>
          <a:prstGeom prst="roundRect">
            <a:avLst>
              <a:gd name="adj" fmla="val 8571"/>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742176" y="5989320"/>
            <a:ext cx="4803648" cy="1280160"/>
          </a:xfrm>
          <a:prstGeom prst="rect">
            <a:avLst/>
          </a:prstGeom>
          <a:noFill/>
        </p:spPr>
        <p:txBody>
          <a:bodyPr wrap="square" anchor="ctr" lIns="0" rIns="0" tIns="0" bIns="0">
            <a:spAutoFit/>
          </a:bodyPr>
          <a:lstStyle/>
          <a:p>
            <a:pPr algn="ctr">
              <a:lnSpc>
                <a:spcPct val="122000"/>
              </a:lnSpc>
            </a:pPr>
            <a:r>
              <a:rPr sz="2000" b="0" i="0">
                <a:solidFill>
                  <a:srgbClr val="FAF7F0"/>
                </a:solidFill>
                <a:latin typeface="Open Sauce"/>
              </a:rPr>
              <a:t>Legal principle</a:t>
            </a:r>
          </a:p>
        </p:txBody>
      </p:sp>
      <p:sp>
        <p:nvSpPr>
          <p:cNvPr id="23" name="Isosceles Triangle 22"/>
          <p:cNvSpPr/>
          <p:nvPr/>
        </p:nvSpPr>
        <p:spPr>
          <a:xfrm rot="16200000">
            <a:off x="6239256" y="651052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2167616" y="5989320"/>
            <a:ext cx="5096256" cy="1280160"/>
          </a:xfrm>
          <a:prstGeom prst="roundRect">
            <a:avLst>
              <a:gd name="adj" fmla="val 8571"/>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2313920" y="5989320"/>
            <a:ext cx="4803648" cy="1280160"/>
          </a:xfrm>
          <a:prstGeom prst="rect">
            <a:avLst/>
          </a:prstGeom>
          <a:noFill/>
        </p:spPr>
        <p:txBody>
          <a:bodyPr wrap="square" anchor="ctr" lIns="0" rIns="0" tIns="0" bIns="0">
            <a:spAutoFit/>
          </a:bodyPr>
          <a:lstStyle/>
          <a:p>
            <a:pPr algn="ctr">
              <a:lnSpc>
                <a:spcPct val="122000"/>
              </a:lnSpc>
            </a:pPr>
            <a:r>
              <a:rPr sz="2000" b="0" i="0">
                <a:solidFill>
                  <a:srgbClr val="FAF7F0"/>
                </a:solidFill>
                <a:latin typeface="Open Sauce"/>
              </a:rPr>
              <a:t>Judgment</a:t>
            </a:r>
          </a:p>
        </p:txBody>
      </p:sp>
      <p:sp>
        <p:nvSpPr>
          <p:cNvPr id="26" name="Isosceles Triangle 25"/>
          <p:cNvSpPr/>
          <p:nvPr/>
        </p:nvSpPr>
        <p:spPr>
          <a:xfrm rot="16200000">
            <a:off x="11811000" y="651052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24128" y="7818120"/>
            <a:ext cx="16239743" cy="801624"/>
          </a:xfrm>
          <a:prstGeom prst="rect">
            <a:avLst/>
          </a:prstGeom>
          <a:noFill/>
        </p:spPr>
        <p:txBody>
          <a:bodyPr wrap="square" anchor="t" lIns="0" rIns="0" tIns="0" bIns="0">
            <a:spAutoFit/>
          </a:bodyPr>
          <a:lstStyle/>
          <a:p>
            <a:pPr algn="l">
              <a:lnSpc>
                <a:spcPct val="140000"/>
              </a:lnSpc>
            </a:pPr>
            <a:r>
              <a:rPr sz="2100" b="0" i="0">
                <a:solidFill>
                  <a:srgbClr val="331B0D"/>
                </a:solidFill>
                <a:latin typeface="Open Sauce"/>
              </a:rPr>
              <a:t>Modelling the relationships, rather than storing isolated text chunks, is what lets the system answer with connected evidence: this section, in this version, as this court read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RETRIEVAL ENGINE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12</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Where the legal data comes from</a:t>
            </a:r>
          </a:p>
        </p:txBody>
      </p:sp>
      <p:sp>
        <p:nvSpPr>
          <p:cNvPr id="6" name="Rounded Rectangle 5"/>
          <p:cNvSpPr/>
          <p:nvPr/>
        </p:nvSpPr>
        <p:spPr>
          <a:xfrm>
            <a:off x="1024128" y="3017520"/>
            <a:ext cx="7845551" cy="5074920"/>
          </a:xfrm>
          <a:prstGeom prst="roundRect">
            <a:avLst>
              <a:gd name="adj" fmla="val 2882"/>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81328" y="3401568"/>
            <a:ext cx="6931151" cy="405384"/>
          </a:xfrm>
          <a:prstGeom prst="rect">
            <a:avLst/>
          </a:prstGeom>
          <a:noFill/>
        </p:spPr>
        <p:txBody>
          <a:bodyPr wrap="square" anchor="t" lIns="0" rIns="0" tIns="0" bIns="0">
            <a:spAutoFit/>
          </a:bodyPr>
          <a:lstStyle/>
          <a:p>
            <a:pPr algn="l">
              <a:lnSpc>
                <a:spcPct val="120000"/>
              </a:lnSpc>
            </a:pPr>
            <a:r>
              <a:rPr sz="2300" b="0" i="0">
                <a:solidFill>
                  <a:srgbClr val="8C7753"/>
                </a:solidFill>
                <a:latin typeface="Open Sauce"/>
              </a:rPr>
              <a:t>In the corpus today</a:t>
            </a:r>
          </a:p>
        </p:txBody>
      </p:sp>
      <p:sp>
        <p:nvSpPr>
          <p:cNvPr id="8" name="TextBox 7"/>
          <p:cNvSpPr txBox="1"/>
          <p:nvPr/>
        </p:nvSpPr>
        <p:spPr>
          <a:xfrm>
            <a:off x="1481328" y="4069080"/>
            <a:ext cx="6931151" cy="2179574"/>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Statutes and Ordinances  —  parliament.lk</a:t>
            </a:r>
          </a:p>
          <a:p>
            <a:pPr algn="l" marL="310896" indent="-310896">
              <a:lnSpc>
                <a:spcPct val="134000"/>
              </a:lnSpc>
              <a:spcBef>
                <a:spcPts val="1000"/>
              </a:spcBef>
            </a:pPr>
            <a:r>
              <a:rPr sz="1900" b="0" i="0">
                <a:solidFill>
                  <a:srgbClr val="331B0D"/>
                </a:solidFill>
                <a:latin typeface="Open Sauce"/>
              </a:rPr>
              <a:t>•   Amendments and historical provisions  —  LawLanka</a:t>
            </a:r>
          </a:p>
          <a:p>
            <a:pPr algn="l" marL="310896" indent="-310896">
              <a:lnSpc>
                <a:spcPct val="134000"/>
              </a:lnSpc>
              <a:spcBef>
                <a:spcPts val="1000"/>
              </a:spcBef>
            </a:pPr>
            <a:r>
              <a:rPr sz="1900" b="0" i="0">
                <a:solidFill>
                  <a:srgbClr val="331B0D"/>
                </a:solidFill>
                <a:latin typeface="Open Sauce"/>
              </a:rPr>
              <a:t>•   Reported judgments with editor headnotes  —  CommonLII</a:t>
            </a:r>
          </a:p>
          <a:p>
            <a:pPr algn="l" marL="310896" indent="-310896">
              <a:lnSpc>
                <a:spcPct val="134000"/>
              </a:lnSpc>
              <a:spcBef>
                <a:spcPts val="1000"/>
              </a:spcBef>
            </a:pPr>
            <a:r>
              <a:rPr sz="1900" b="0" i="0">
                <a:solidFill>
                  <a:srgbClr val="331B0D"/>
                </a:solidFill>
                <a:latin typeface="Open Sauce"/>
              </a:rPr>
              <a:t>•   Unreported Supreme Court and Court of Appeal judgments</a:t>
            </a:r>
          </a:p>
          <a:p>
            <a:pPr algn="l" marL="310896" indent="-310896">
              <a:lnSpc>
                <a:spcPct val="134000"/>
              </a:lnSpc>
              <a:spcBef>
                <a:spcPts val="1000"/>
              </a:spcBef>
            </a:pPr>
            <a:r>
              <a:rPr sz="1900" b="0" i="0">
                <a:solidFill>
                  <a:srgbClr val="331B0D"/>
                </a:solidFill>
                <a:latin typeface="Open Sauce"/>
              </a:rPr>
              <a:t>•   Commencement dates harvested from srilankalaw.lk</a:t>
            </a:r>
          </a:p>
        </p:txBody>
      </p:sp>
      <p:sp>
        <p:nvSpPr>
          <p:cNvPr id="9" name="Rounded Rectangle 8"/>
          <p:cNvSpPr/>
          <p:nvPr/>
        </p:nvSpPr>
        <p:spPr>
          <a:xfrm>
            <a:off x="9418319" y="3017520"/>
            <a:ext cx="7845551" cy="5074920"/>
          </a:xfrm>
          <a:prstGeom prst="roundRect">
            <a:avLst>
              <a:gd name="adj" fmla="val 2882"/>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875519" y="3401568"/>
            <a:ext cx="6931151" cy="405384"/>
          </a:xfrm>
          <a:prstGeom prst="rect">
            <a:avLst/>
          </a:prstGeom>
          <a:noFill/>
        </p:spPr>
        <p:txBody>
          <a:bodyPr wrap="square" anchor="t" lIns="0" rIns="0" tIns="0" bIns="0">
            <a:spAutoFit/>
          </a:bodyPr>
          <a:lstStyle/>
          <a:p>
            <a:pPr algn="l">
              <a:lnSpc>
                <a:spcPct val="120000"/>
              </a:lnSpc>
            </a:pPr>
            <a:r>
              <a:rPr sz="2300" b="0" i="0">
                <a:solidFill>
                  <a:srgbClr val="8C7753"/>
                </a:solidFill>
                <a:latin typeface="Open Sauce"/>
              </a:rPr>
              <a:t>Planned</a:t>
            </a:r>
          </a:p>
        </p:txBody>
      </p:sp>
      <p:sp>
        <p:nvSpPr>
          <p:cNvPr id="11" name="TextBox 10"/>
          <p:cNvSpPr txBox="1"/>
          <p:nvPr/>
        </p:nvSpPr>
        <p:spPr>
          <a:xfrm>
            <a:off x="9875519" y="4069080"/>
            <a:ext cx="6931151" cy="2179574"/>
          </a:xfrm>
          <a:prstGeom prst="rect">
            <a:avLst/>
          </a:prstGeom>
          <a:noFill/>
        </p:spPr>
        <p:txBody>
          <a:bodyPr wrap="square" anchor="t" lIns="0" rIns="0" tIns="0" bIns="0">
            <a:spAutoFit/>
          </a:bodyPr>
          <a:lstStyle/>
          <a:p>
            <a:pPr algn="l" marL="310896" indent="-310896">
              <a:lnSpc>
                <a:spcPct val="134000"/>
              </a:lnSpc>
            </a:pPr>
            <a:r>
              <a:rPr sz="1900" b="0" i="0">
                <a:solidFill>
                  <a:srgbClr val="FAF7F0"/>
                </a:solidFill>
                <a:latin typeface="Open Sauce"/>
              </a:rPr>
              <a:t>•   Regulations and gazettes</a:t>
            </a:r>
          </a:p>
          <a:p>
            <a:pPr algn="l" marL="310896" indent="-310896">
              <a:lnSpc>
                <a:spcPct val="134000"/>
              </a:lnSpc>
              <a:spcBef>
                <a:spcPts val="1000"/>
              </a:spcBef>
            </a:pPr>
            <a:r>
              <a:rPr sz="1900" b="0" i="0">
                <a:solidFill>
                  <a:srgbClr val="FAF7F0"/>
                </a:solidFill>
                <a:latin typeface="Open Sauce"/>
              </a:rPr>
              <a:t>•   Prescribed legal forms, taken from the gazettes</a:t>
            </a:r>
          </a:p>
          <a:p>
            <a:pPr algn="l" marL="310896" indent="-310896">
              <a:lnSpc>
                <a:spcPct val="134000"/>
              </a:lnSpc>
              <a:spcBef>
                <a:spcPts val="1000"/>
              </a:spcBef>
            </a:pPr>
            <a:r>
              <a:rPr sz="1900" b="0" i="0">
                <a:solidFill>
                  <a:srgbClr val="FAF7F0"/>
                </a:solidFill>
                <a:latin typeface="Open Sauce"/>
              </a:rPr>
              <a:t>•   Sri Lanka Law Reports</a:t>
            </a:r>
          </a:p>
          <a:p>
            <a:pPr algn="l" marL="310896" indent="-310896">
              <a:lnSpc>
                <a:spcPct val="134000"/>
              </a:lnSpc>
              <a:spcBef>
                <a:spcPts val="1000"/>
              </a:spcBef>
            </a:pPr>
            <a:r>
              <a:rPr sz="1900" b="0" i="0">
                <a:solidFill>
                  <a:srgbClr val="FAF7F0"/>
                </a:solidFill>
                <a:latin typeface="Open Sauce"/>
              </a:rPr>
              <a:t>•   Lawyer-provided checklists and practice materials</a:t>
            </a:r>
          </a:p>
          <a:p>
            <a:pPr algn="l" marL="310896" indent="-310896">
              <a:lnSpc>
                <a:spcPct val="134000"/>
              </a:lnSpc>
              <a:spcBef>
                <a:spcPts val="1000"/>
              </a:spcBef>
            </a:pPr>
            <a:r>
              <a:rPr sz="1900" b="0" i="0">
                <a:solidFill>
                  <a:srgbClr val="FAF7F0"/>
                </a:solidFill>
                <a:latin typeface="Open Sauce"/>
              </a:rPr>
              <a:t>•   Official PDFs for the 22 statutes we hold as index only</a:t>
            </a:r>
          </a:p>
        </p:txBody>
      </p:sp>
      <p:sp>
        <p:nvSpPr>
          <p:cNvPr id="12" name="TextBox 11"/>
          <p:cNvSpPr txBox="1"/>
          <p:nvPr/>
        </p:nvSpPr>
        <p:spPr>
          <a:xfrm>
            <a:off x="1024128" y="8321040"/>
            <a:ext cx="16239743" cy="368554"/>
          </a:xfrm>
          <a:prstGeom prst="rect">
            <a:avLst/>
          </a:prstGeom>
          <a:noFill/>
        </p:spPr>
        <p:txBody>
          <a:bodyPr wrap="square" anchor="t" lIns="0" rIns="0" tIns="0" bIns="0">
            <a:spAutoFit/>
          </a:bodyPr>
          <a:lstStyle/>
          <a:p>
            <a:pPr algn="l">
              <a:lnSpc>
                <a:spcPct val="130000"/>
              </a:lnSpc>
            </a:pPr>
            <a:r>
              <a:rPr sz="1900" b="0" i="1">
                <a:solidFill>
                  <a:srgbClr val="8C7753"/>
                </a:solidFill>
                <a:latin typeface="Open Sauce Italics"/>
              </a:rPr>
              <a:t>Every source is registered with its provenance and rights status before anything downstream is allowed to use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RETRIEVAL ENGINE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13</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The corpus as it stands</a:t>
            </a:r>
          </a:p>
        </p:txBody>
      </p:sp>
      <p:sp>
        <p:nvSpPr>
          <p:cNvPr id="6" name="Rounded Rectangle 5"/>
          <p:cNvSpPr/>
          <p:nvPr/>
        </p:nvSpPr>
        <p:spPr>
          <a:xfrm>
            <a:off x="1024128" y="3154680"/>
            <a:ext cx="5193792" cy="2121408"/>
          </a:xfrm>
          <a:prstGeom prst="roundRect">
            <a:avLst>
              <a:gd name="adj" fmla="val 6034"/>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35608" y="3502152"/>
            <a:ext cx="4370831" cy="774954"/>
          </a:xfrm>
          <a:prstGeom prst="rect">
            <a:avLst/>
          </a:prstGeom>
          <a:noFill/>
        </p:spPr>
        <p:txBody>
          <a:bodyPr wrap="square" anchor="t" lIns="0" rIns="0" tIns="0" bIns="0">
            <a:spAutoFit/>
          </a:bodyPr>
          <a:lstStyle/>
          <a:p>
            <a:pPr algn="l">
              <a:lnSpc>
                <a:spcPct val="105000"/>
              </a:lnSpc>
            </a:pPr>
            <a:r>
              <a:rPr sz="5400" b="1" i="0">
                <a:solidFill>
                  <a:srgbClr val="8C7753"/>
                </a:solidFill>
                <a:latin typeface="Open Sauce Bold"/>
              </a:rPr>
              <a:t>57 + 18</a:t>
            </a:r>
          </a:p>
        </p:txBody>
      </p:sp>
      <p:sp>
        <p:nvSpPr>
          <p:cNvPr id="8" name="TextBox 7"/>
          <p:cNvSpPr txBox="1"/>
          <p:nvPr/>
        </p:nvSpPr>
        <p:spPr>
          <a:xfrm>
            <a:off x="1435608" y="4386833"/>
            <a:ext cx="4370831" cy="691896"/>
          </a:xfrm>
          <a:prstGeom prst="rect">
            <a:avLst/>
          </a:prstGeom>
          <a:noFill/>
        </p:spPr>
        <p:txBody>
          <a:bodyPr wrap="square" anchor="t" lIns="0" rIns="0" tIns="0" bIns="0">
            <a:spAutoFit/>
          </a:bodyPr>
          <a:lstStyle/>
          <a:p>
            <a:pPr algn="l">
              <a:lnSpc>
                <a:spcPct val="132000"/>
              </a:lnSpc>
            </a:pPr>
            <a:r>
              <a:rPr sz="1900" b="0" i="0">
                <a:solidFill>
                  <a:srgbClr val="331B0D"/>
                </a:solidFill>
                <a:latin typeface="Open Sauce"/>
              </a:rPr>
              <a:t>statutes and amendments converted to markdown</a:t>
            </a:r>
          </a:p>
        </p:txBody>
      </p:sp>
      <p:sp>
        <p:nvSpPr>
          <p:cNvPr id="9" name="Rounded Rectangle 8"/>
          <p:cNvSpPr/>
          <p:nvPr/>
        </p:nvSpPr>
        <p:spPr>
          <a:xfrm>
            <a:off x="6547104" y="3154680"/>
            <a:ext cx="5193792" cy="2121408"/>
          </a:xfrm>
          <a:prstGeom prst="roundRect">
            <a:avLst>
              <a:gd name="adj" fmla="val 6034"/>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58584" y="3502152"/>
            <a:ext cx="4370831" cy="774954"/>
          </a:xfrm>
          <a:prstGeom prst="rect">
            <a:avLst/>
          </a:prstGeom>
          <a:noFill/>
        </p:spPr>
        <p:txBody>
          <a:bodyPr wrap="square" anchor="t" lIns="0" rIns="0" tIns="0" bIns="0">
            <a:spAutoFit/>
          </a:bodyPr>
          <a:lstStyle/>
          <a:p>
            <a:pPr algn="l">
              <a:lnSpc>
                <a:spcPct val="105000"/>
              </a:lnSpc>
            </a:pPr>
            <a:r>
              <a:rPr sz="5400" b="1" i="0">
                <a:solidFill>
                  <a:srgbClr val="8C7753"/>
                </a:solidFill>
                <a:latin typeface="Open Sauce Bold"/>
              </a:rPr>
              <a:t>5,770</a:t>
            </a:r>
          </a:p>
        </p:txBody>
      </p:sp>
      <p:sp>
        <p:nvSpPr>
          <p:cNvPr id="11" name="TextBox 10"/>
          <p:cNvSpPr txBox="1"/>
          <p:nvPr/>
        </p:nvSpPr>
        <p:spPr>
          <a:xfrm>
            <a:off x="6958584" y="4386833"/>
            <a:ext cx="4370831" cy="373380"/>
          </a:xfrm>
          <a:prstGeom prst="rect">
            <a:avLst/>
          </a:prstGeom>
          <a:noFill/>
        </p:spPr>
        <p:txBody>
          <a:bodyPr wrap="square" anchor="t" lIns="0" rIns="0" tIns="0" bIns="0">
            <a:spAutoFit/>
          </a:bodyPr>
          <a:lstStyle/>
          <a:p>
            <a:pPr algn="l">
              <a:lnSpc>
                <a:spcPct val="132000"/>
              </a:lnSpc>
            </a:pPr>
            <a:r>
              <a:rPr sz="1900" b="0" i="0">
                <a:solidFill>
                  <a:srgbClr val="331B0D"/>
                </a:solidFill>
                <a:latin typeface="Open Sauce"/>
              </a:rPr>
              <a:t>sections indexed across 66 statutes</a:t>
            </a:r>
          </a:p>
        </p:txBody>
      </p:sp>
      <p:sp>
        <p:nvSpPr>
          <p:cNvPr id="12" name="Rounded Rectangle 11"/>
          <p:cNvSpPr/>
          <p:nvPr/>
        </p:nvSpPr>
        <p:spPr>
          <a:xfrm>
            <a:off x="12070080" y="3154680"/>
            <a:ext cx="5193792" cy="2121408"/>
          </a:xfrm>
          <a:prstGeom prst="roundRect">
            <a:avLst>
              <a:gd name="adj" fmla="val 6034"/>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481559" y="3502152"/>
            <a:ext cx="4370831" cy="774954"/>
          </a:xfrm>
          <a:prstGeom prst="rect">
            <a:avLst/>
          </a:prstGeom>
          <a:noFill/>
        </p:spPr>
        <p:txBody>
          <a:bodyPr wrap="square" anchor="t" lIns="0" rIns="0" tIns="0" bIns="0">
            <a:spAutoFit/>
          </a:bodyPr>
          <a:lstStyle/>
          <a:p>
            <a:pPr algn="l">
              <a:lnSpc>
                <a:spcPct val="105000"/>
              </a:lnSpc>
            </a:pPr>
            <a:r>
              <a:rPr sz="5400" b="1" i="0">
                <a:solidFill>
                  <a:srgbClr val="8C7753"/>
                </a:solidFill>
                <a:latin typeface="Open Sauce Bold"/>
              </a:rPr>
              <a:t>872</a:t>
            </a:r>
          </a:p>
        </p:txBody>
      </p:sp>
      <p:sp>
        <p:nvSpPr>
          <p:cNvPr id="14" name="TextBox 13"/>
          <p:cNvSpPr txBox="1"/>
          <p:nvPr/>
        </p:nvSpPr>
        <p:spPr>
          <a:xfrm>
            <a:off x="12481559" y="4386833"/>
            <a:ext cx="4370831" cy="691896"/>
          </a:xfrm>
          <a:prstGeom prst="rect">
            <a:avLst/>
          </a:prstGeom>
          <a:noFill/>
        </p:spPr>
        <p:txBody>
          <a:bodyPr wrap="square" anchor="t" lIns="0" rIns="0" tIns="0" bIns="0">
            <a:spAutoFit/>
          </a:bodyPr>
          <a:lstStyle/>
          <a:p>
            <a:pPr algn="l">
              <a:lnSpc>
                <a:spcPct val="132000"/>
              </a:lnSpc>
            </a:pPr>
            <a:r>
              <a:rPr sz="1900" b="0" i="0">
                <a:solidFill>
                  <a:srgbClr val="331B0D"/>
                </a:solidFill>
                <a:latin typeface="Open Sauce"/>
              </a:rPr>
              <a:t>amendment actions, one per amending instrument</a:t>
            </a:r>
          </a:p>
        </p:txBody>
      </p:sp>
      <p:sp>
        <p:nvSpPr>
          <p:cNvPr id="15" name="Rounded Rectangle 14"/>
          <p:cNvSpPr/>
          <p:nvPr/>
        </p:nvSpPr>
        <p:spPr>
          <a:xfrm>
            <a:off x="1024128" y="5486400"/>
            <a:ext cx="5193792" cy="2121408"/>
          </a:xfrm>
          <a:prstGeom prst="roundRect">
            <a:avLst>
              <a:gd name="adj" fmla="val 6034"/>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435608" y="5833872"/>
            <a:ext cx="4370831" cy="774954"/>
          </a:xfrm>
          <a:prstGeom prst="rect">
            <a:avLst/>
          </a:prstGeom>
          <a:noFill/>
        </p:spPr>
        <p:txBody>
          <a:bodyPr wrap="square" anchor="t" lIns="0" rIns="0" tIns="0" bIns="0">
            <a:spAutoFit/>
          </a:bodyPr>
          <a:lstStyle/>
          <a:p>
            <a:pPr algn="l">
              <a:lnSpc>
                <a:spcPct val="105000"/>
              </a:lnSpc>
            </a:pPr>
            <a:r>
              <a:rPr sz="5400" b="1" i="0">
                <a:solidFill>
                  <a:srgbClr val="8C7753"/>
                </a:solidFill>
                <a:latin typeface="Open Sauce Bold"/>
              </a:rPr>
              <a:t>3,703</a:t>
            </a:r>
          </a:p>
        </p:txBody>
      </p:sp>
      <p:sp>
        <p:nvSpPr>
          <p:cNvPr id="17" name="TextBox 16"/>
          <p:cNvSpPr txBox="1"/>
          <p:nvPr/>
        </p:nvSpPr>
        <p:spPr>
          <a:xfrm>
            <a:off x="1435608" y="6718554"/>
            <a:ext cx="4370831" cy="691896"/>
          </a:xfrm>
          <a:prstGeom prst="rect">
            <a:avLst/>
          </a:prstGeom>
          <a:noFill/>
        </p:spPr>
        <p:txBody>
          <a:bodyPr wrap="square" anchor="t" lIns="0" rIns="0" tIns="0" bIns="0">
            <a:spAutoFit/>
          </a:bodyPr>
          <a:lstStyle/>
          <a:p>
            <a:pPr algn="l">
              <a:lnSpc>
                <a:spcPct val="132000"/>
              </a:lnSpc>
            </a:pPr>
            <a:r>
              <a:rPr sz="1900" b="0" i="0">
                <a:solidFill>
                  <a:srgbClr val="331B0D"/>
                </a:solidFill>
                <a:latin typeface="Open Sauce"/>
              </a:rPr>
              <a:t>reported CommonLII judgments with headnotes</a:t>
            </a:r>
          </a:p>
        </p:txBody>
      </p:sp>
      <p:sp>
        <p:nvSpPr>
          <p:cNvPr id="18" name="Rounded Rectangle 17"/>
          <p:cNvSpPr/>
          <p:nvPr/>
        </p:nvSpPr>
        <p:spPr>
          <a:xfrm>
            <a:off x="6547104" y="5486400"/>
            <a:ext cx="5193792" cy="2121408"/>
          </a:xfrm>
          <a:prstGeom prst="roundRect">
            <a:avLst>
              <a:gd name="adj" fmla="val 6034"/>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58584" y="5833872"/>
            <a:ext cx="4370831" cy="774954"/>
          </a:xfrm>
          <a:prstGeom prst="rect">
            <a:avLst/>
          </a:prstGeom>
          <a:noFill/>
        </p:spPr>
        <p:txBody>
          <a:bodyPr wrap="square" anchor="t" lIns="0" rIns="0" tIns="0" bIns="0">
            <a:spAutoFit/>
          </a:bodyPr>
          <a:lstStyle/>
          <a:p>
            <a:pPr algn="l">
              <a:lnSpc>
                <a:spcPct val="105000"/>
              </a:lnSpc>
            </a:pPr>
            <a:r>
              <a:rPr sz="5400" b="1" i="0">
                <a:solidFill>
                  <a:srgbClr val="8C7753"/>
                </a:solidFill>
                <a:latin typeface="Open Sauce Bold"/>
              </a:rPr>
              <a:t>5,474</a:t>
            </a:r>
          </a:p>
        </p:txBody>
      </p:sp>
      <p:sp>
        <p:nvSpPr>
          <p:cNvPr id="20" name="TextBox 19"/>
          <p:cNvSpPr txBox="1"/>
          <p:nvPr/>
        </p:nvSpPr>
        <p:spPr>
          <a:xfrm>
            <a:off x="6958584" y="6718554"/>
            <a:ext cx="4370831" cy="691896"/>
          </a:xfrm>
          <a:prstGeom prst="rect">
            <a:avLst/>
          </a:prstGeom>
          <a:noFill/>
        </p:spPr>
        <p:txBody>
          <a:bodyPr wrap="square" anchor="t" lIns="0" rIns="0" tIns="0" bIns="0">
            <a:spAutoFit/>
          </a:bodyPr>
          <a:lstStyle/>
          <a:p>
            <a:pPr algn="l">
              <a:lnSpc>
                <a:spcPct val="132000"/>
              </a:lnSpc>
            </a:pPr>
            <a:r>
              <a:rPr sz="1900" b="0" i="0">
                <a:solidFill>
                  <a:srgbClr val="331B0D"/>
                </a:solidFill>
                <a:latin typeface="Open Sauce"/>
              </a:rPr>
              <a:t>unreported Supreme Court and Court of Appeal judgments</a:t>
            </a:r>
          </a:p>
        </p:txBody>
      </p:sp>
      <p:sp>
        <p:nvSpPr>
          <p:cNvPr id="21" name="Rounded Rectangle 20"/>
          <p:cNvSpPr/>
          <p:nvPr/>
        </p:nvSpPr>
        <p:spPr>
          <a:xfrm>
            <a:off x="12070080" y="5486400"/>
            <a:ext cx="5193792" cy="2121408"/>
          </a:xfrm>
          <a:prstGeom prst="roundRect">
            <a:avLst>
              <a:gd name="adj" fmla="val 6034"/>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481559" y="5833872"/>
            <a:ext cx="4370831" cy="774954"/>
          </a:xfrm>
          <a:prstGeom prst="rect">
            <a:avLst/>
          </a:prstGeom>
          <a:noFill/>
        </p:spPr>
        <p:txBody>
          <a:bodyPr wrap="square" anchor="t" lIns="0" rIns="0" tIns="0" bIns="0">
            <a:spAutoFit/>
          </a:bodyPr>
          <a:lstStyle/>
          <a:p>
            <a:pPr algn="l">
              <a:lnSpc>
                <a:spcPct val="105000"/>
              </a:lnSpc>
            </a:pPr>
            <a:r>
              <a:rPr sz="5400" b="1" i="0">
                <a:solidFill>
                  <a:srgbClr val="8C7753"/>
                </a:solidFill>
                <a:latin typeface="Open Sauce Bold"/>
              </a:rPr>
              <a:t>14,665</a:t>
            </a:r>
          </a:p>
        </p:txBody>
      </p:sp>
      <p:sp>
        <p:nvSpPr>
          <p:cNvPr id="23" name="TextBox 22"/>
          <p:cNvSpPr txBox="1"/>
          <p:nvPr/>
        </p:nvSpPr>
        <p:spPr>
          <a:xfrm>
            <a:off x="12481559" y="6718554"/>
            <a:ext cx="4370831" cy="691896"/>
          </a:xfrm>
          <a:prstGeom prst="rect">
            <a:avLst/>
          </a:prstGeom>
          <a:noFill/>
        </p:spPr>
        <p:txBody>
          <a:bodyPr wrap="square" anchor="t" lIns="0" rIns="0" tIns="0" bIns="0">
            <a:spAutoFit/>
          </a:bodyPr>
          <a:lstStyle/>
          <a:p>
            <a:pPr algn="l">
              <a:lnSpc>
                <a:spcPct val="132000"/>
              </a:lnSpc>
            </a:pPr>
            <a:r>
              <a:rPr sz="1900" b="0" i="0">
                <a:solidFill>
                  <a:srgbClr val="331B0D"/>
                </a:solidFill>
                <a:latin typeface="Open Sauce"/>
              </a:rPr>
              <a:t>case-to-statute mentions, all still unverified</a:t>
            </a:r>
          </a:p>
        </p:txBody>
      </p:sp>
      <p:sp>
        <p:nvSpPr>
          <p:cNvPr id="24" name="TextBox 23"/>
          <p:cNvSpPr txBox="1"/>
          <p:nvPr/>
        </p:nvSpPr>
        <p:spPr>
          <a:xfrm>
            <a:off x="1024128" y="8001000"/>
            <a:ext cx="16239743" cy="395224"/>
          </a:xfrm>
          <a:prstGeom prst="rect">
            <a:avLst/>
          </a:prstGeom>
          <a:noFill/>
        </p:spPr>
        <p:txBody>
          <a:bodyPr wrap="square" anchor="t" lIns="0" rIns="0" tIns="0" bIns="0">
            <a:spAutoFit/>
          </a:bodyPr>
          <a:lstStyle/>
          <a:p>
            <a:pPr algn="l">
              <a:lnSpc>
                <a:spcPct val="134000"/>
              </a:lnSpc>
            </a:pPr>
            <a:r>
              <a:rPr sz="2000" b="0" i="1">
                <a:solidFill>
                  <a:srgbClr val="8C7753"/>
                </a:solidFill>
                <a:latin typeface="Open Sauce Italics"/>
              </a:rPr>
              <a:t>A snapshot, not a final figure. Nothing in this table has been signed off by a lawyer, so everything downstream carries status = unverified.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RETRIEVAL ENGINE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14</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Recovering the rule from reported judgments</a:t>
            </a:r>
          </a:p>
        </p:txBody>
      </p:sp>
      <p:sp>
        <p:nvSpPr>
          <p:cNvPr id="6" name="Rounded Rectangle 5"/>
          <p:cNvSpPr/>
          <p:nvPr/>
        </p:nvSpPr>
        <p:spPr>
          <a:xfrm>
            <a:off x="1024128" y="3063240"/>
            <a:ext cx="6309360" cy="5120640"/>
          </a:xfrm>
          <a:prstGeom prst="roundRect">
            <a:avLst>
              <a:gd name="adj" fmla="val 2857"/>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527048" y="3520440"/>
            <a:ext cx="5303520" cy="1298448"/>
          </a:xfrm>
          <a:prstGeom prst="rect">
            <a:avLst/>
          </a:prstGeom>
          <a:noFill/>
        </p:spPr>
        <p:txBody>
          <a:bodyPr wrap="square" anchor="t" lIns="0" rIns="0" tIns="0" bIns="0">
            <a:spAutoFit/>
          </a:bodyPr>
          <a:lstStyle/>
          <a:p>
            <a:pPr algn="l">
              <a:lnSpc>
                <a:spcPct val="102000"/>
              </a:lnSpc>
            </a:pPr>
            <a:r>
              <a:rPr sz="9600" b="1" i="0">
                <a:solidFill>
                  <a:srgbClr val="8C7753"/>
                </a:solidFill>
                <a:latin typeface="Open Sauce Bold"/>
              </a:rPr>
              <a:t>95.1%</a:t>
            </a:r>
          </a:p>
        </p:txBody>
      </p:sp>
      <p:sp>
        <p:nvSpPr>
          <p:cNvPr id="8" name="TextBox 7"/>
          <p:cNvSpPr txBox="1"/>
          <p:nvPr/>
        </p:nvSpPr>
        <p:spPr>
          <a:xfrm>
            <a:off x="1527048" y="5074920"/>
            <a:ext cx="5303520" cy="1178052"/>
          </a:xfrm>
          <a:prstGeom prst="rect">
            <a:avLst/>
          </a:prstGeom>
          <a:noFill/>
        </p:spPr>
        <p:txBody>
          <a:bodyPr wrap="square" anchor="t" lIns="0" rIns="0" tIns="0" bIns="0">
            <a:spAutoFit/>
          </a:bodyPr>
          <a:lstStyle/>
          <a:p>
            <a:pPr algn="l">
              <a:lnSpc>
                <a:spcPct val="134000"/>
              </a:lnSpc>
            </a:pPr>
            <a:r>
              <a:rPr sz="2200" b="0" i="0">
                <a:solidFill>
                  <a:srgbClr val="FAF7F0"/>
                </a:solidFill>
                <a:latin typeface="Open Sauce"/>
              </a:rPr>
              <a:t>3,521 of 3,703 judgments yield a legal rule, read straight off the NLR / SLR headnote layout.</a:t>
            </a:r>
          </a:p>
        </p:txBody>
      </p:sp>
      <p:cxnSp>
        <p:nvCxnSpPr>
          <p:cNvPr id="9" name="Connector 8"/>
          <p:cNvCxnSpPr/>
          <p:nvPr/>
        </p:nvCxnSpPr>
        <p:spPr>
          <a:xfrm>
            <a:off x="1527048" y="6720840"/>
            <a:ext cx="2743200" cy="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527048" y="7040880"/>
            <a:ext cx="5303520" cy="973836"/>
          </a:xfrm>
          <a:prstGeom prst="rect">
            <a:avLst/>
          </a:prstGeom>
          <a:noFill/>
        </p:spPr>
        <p:txBody>
          <a:bodyPr wrap="square" anchor="t" lIns="0" rIns="0" tIns="0" bIns="0">
            <a:spAutoFit/>
          </a:bodyPr>
          <a:lstStyle/>
          <a:p>
            <a:pPr algn="l">
              <a:lnSpc>
                <a:spcPct val="134000"/>
              </a:lnSpc>
            </a:pPr>
            <a:r>
              <a:rPr sz="1800" b="0" i="0">
                <a:solidFill>
                  <a:srgbClr val="F1EADC"/>
                </a:solidFill>
                <a:latin typeface="Open Sauce"/>
              </a:rPr>
              <a:t>Deterministic and verbatim. The 182 that abstain fall through to a bounded LLM track with a quote-grounding gate.</a:t>
            </a:r>
          </a:p>
        </p:txBody>
      </p:sp>
      <p:sp>
        <p:nvSpPr>
          <p:cNvPr id="11" name="TextBox 10"/>
          <p:cNvSpPr txBox="1"/>
          <p:nvPr/>
        </p:nvSpPr>
        <p:spPr>
          <a:xfrm>
            <a:off x="8092440" y="3063240"/>
            <a:ext cx="2926080" cy="529844"/>
          </a:xfrm>
          <a:prstGeom prst="rect">
            <a:avLst/>
          </a:prstGeom>
          <a:noFill/>
        </p:spPr>
        <p:txBody>
          <a:bodyPr wrap="square" anchor="t" lIns="0" rIns="0" tIns="0" bIns="0">
            <a:spAutoFit/>
          </a:bodyPr>
          <a:lstStyle/>
          <a:p>
            <a:pPr algn="l">
              <a:lnSpc>
                <a:spcPct val="110000"/>
              </a:lnSpc>
            </a:pPr>
            <a:r>
              <a:rPr sz="3400" b="1" i="0">
                <a:solidFill>
                  <a:srgbClr val="8C7753"/>
                </a:solidFill>
                <a:latin typeface="Open Sauce Bold"/>
              </a:rPr>
              <a:t>11,739</a:t>
            </a:r>
          </a:p>
        </p:txBody>
      </p:sp>
      <p:sp>
        <p:nvSpPr>
          <p:cNvPr id="12" name="TextBox 11"/>
          <p:cNvSpPr txBox="1"/>
          <p:nvPr/>
        </p:nvSpPr>
        <p:spPr>
          <a:xfrm>
            <a:off x="11201400" y="3154680"/>
            <a:ext cx="6062472" cy="378206"/>
          </a:xfrm>
          <a:prstGeom prst="rect">
            <a:avLst/>
          </a:prstGeom>
          <a:noFill/>
        </p:spPr>
        <p:txBody>
          <a:bodyPr wrap="square" anchor="t" lIns="0" rIns="0" tIns="0" bIns="0">
            <a:spAutoFit/>
          </a:bodyPr>
          <a:lstStyle/>
          <a:p>
            <a:pPr algn="l">
              <a:lnSpc>
                <a:spcPct val="134000"/>
              </a:lnSpc>
            </a:pPr>
            <a:r>
              <a:rPr sz="1900" b="0" i="0">
                <a:solidFill>
                  <a:srgbClr val="331B0D"/>
                </a:solidFill>
                <a:latin typeface="Open Sauce"/>
              </a:rPr>
              <a:t>distinct catchword terms indexed, covering 3,461 cases</a:t>
            </a:r>
          </a:p>
        </p:txBody>
      </p:sp>
      <p:cxnSp>
        <p:nvCxnSpPr>
          <p:cNvPr id="13" name="Connector 12"/>
          <p:cNvCxnSpPr/>
          <p:nvPr/>
        </p:nvCxnSpPr>
        <p:spPr>
          <a:xfrm>
            <a:off x="8092440" y="4032504"/>
            <a:ext cx="917143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092440" y="4233672"/>
            <a:ext cx="2926080" cy="529844"/>
          </a:xfrm>
          <a:prstGeom prst="rect">
            <a:avLst/>
          </a:prstGeom>
          <a:noFill/>
        </p:spPr>
        <p:txBody>
          <a:bodyPr wrap="square" anchor="t" lIns="0" rIns="0" tIns="0" bIns="0">
            <a:spAutoFit/>
          </a:bodyPr>
          <a:lstStyle/>
          <a:p>
            <a:pPr algn="l">
              <a:lnSpc>
                <a:spcPct val="110000"/>
              </a:lnSpc>
            </a:pPr>
            <a:r>
              <a:rPr sz="3400" b="1" i="0">
                <a:solidFill>
                  <a:srgbClr val="8C7753"/>
                </a:solidFill>
                <a:latin typeface="Open Sauce Bold"/>
              </a:rPr>
              <a:t>2,512</a:t>
            </a:r>
          </a:p>
        </p:txBody>
      </p:sp>
      <p:sp>
        <p:nvSpPr>
          <p:cNvPr id="15" name="TextBox 14"/>
          <p:cNvSpPr txBox="1"/>
          <p:nvPr/>
        </p:nvSpPr>
        <p:spPr>
          <a:xfrm>
            <a:off x="11201400" y="4325112"/>
            <a:ext cx="6062472" cy="378206"/>
          </a:xfrm>
          <a:prstGeom prst="rect">
            <a:avLst/>
          </a:prstGeom>
          <a:noFill/>
        </p:spPr>
        <p:txBody>
          <a:bodyPr wrap="square" anchor="t" lIns="0" rIns="0" tIns="0" bIns="0">
            <a:spAutoFit/>
          </a:bodyPr>
          <a:lstStyle/>
          <a:p>
            <a:pPr algn="l">
              <a:lnSpc>
                <a:spcPct val="134000"/>
              </a:lnSpc>
            </a:pPr>
            <a:r>
              <a:rPr sz="1900" b="0" i="0">
                <a:solidFill>
                  <a:srgbClr val="331B0D"/>
                </a:solidFill>
                <a:latin typeface="Open Sauce"/>
              </a:rPr>
              <a:t>graded statute links, each carrying a confidence grade</a:t>
            </a:r>
          </a:p>
        </p:txBody>
      </p:sp>
      <p:cxnSp>
        <p:nvCxnSpPr>
          <p:cNvPr id="16" name="Connector 15"/>
          <p:cNvCxnSpPr/>
          <p:nvPr/>
        </p:nvCxnSpPr>
        <p:spPr>
          <a:xfrm>
            <a:off x="8092440" y="5202936"/>
            <a:ext cx="917143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092440" y="5404104"/>
            <a:ext cx="2926080" cy="529844"/>
          </a:xfrm>
          <a:prstGeom prst="rect">
            <a:avLst/>
          </a:prstGeom>
          <a:noFill/>
        </p:spPr>
        <p:txBody>
          <a:bodyPr wrap="square" anchor="t" lIns="0" rIns="0" tIns="0" bIns="0">
            <a:spAutoFit/>
          </a:bodyPr>
          <a:lstStyle/>
          <a:p>
            <a:pPr algn="l">
              <a:lnSpc>
                <a:spcPct val="110000"/>
              </a:lnSpc>
            </a:pPr>
            <a:r>
              <a:rPr sz="3400" b="1" i="0">
                <a:solidFill>
                  <a:srgbClr val="8C7753"/>
                </a:solidFill>
                <a:latin typeface="Open Sauce Bold"/>
              </a:rPr>
              <a:t>531</a:t>
            </a:r>
          </a:p>
        </p:txBody>
      </p:sp>
      <p:sp>
        <p:nvSpPr>
          <p:cNvPr id="18" name="TextBox 17"/>
          <p:cNvSpPr txBox="1"/>
          <p:nvPr/>
        </p:nvSpPr>
        <p:spPr>
          <a:xfrm>
            <a:off x="11201400" y="5495544"/>
            <a:ext cx="6062472" cy="701548"/>
          </a:xfrm>
          <a:prstGeom prst="rect">
            <a:avLst/>
          </a:prstGeom>
          <a:noFill/>
        </p:spPr>
        <p:txBody>
          <a:bodyPr wrap="square" anchor="t" lIns="0" rIns="0" tIns="0" bIns="0">
            <a:spAutoFit/>
          </a:bodyPr>
          <a:lstStyle/>
          <a:p>
            <a:pPr algn="l">
              <a:lnSpc>
                <a:spcPct val="134000"/>
              </a:lnSpc>
            </a:pPr>
            <a:r>
              <a:rPr sz="1900" b="0" i="0">
                <a:solidFill>
                  <a:srgbClr val="331B0D"/>
                </a:solidFill>
                <a:latin typeface="Open Sauce"/>
              </a:rPr>
              <a:t>section bundles: every judgment held to turn on one section</a:t>
            </a:r>
          </a:p>
        </p:txBody>
      </p:sp>
      <p:cxnSp>
        <p:nvCxnSpPr>
          <p:cNvPr id="19" name="Connector 18"/>
          <p:cNvCxnSpPr/>
          <p:nvPr/>
        </p:nvCxnSpPr>
        <p:spPr>
          <a:xfrm>
            <a:off x="8092440" y="6373368"/>
            <a:ext cx="917143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092440" y="6574536"/>
            <a:ext cx="2926080" cy="529844"/>
          </a:xfrm>
          <a:prstGeom prst="rect">
            <a:avLst/>
          </a:prstGeom>
          <a:noFill/>
        </p:spPr>
        <p:txBody>
          <a:bodyPr wrap="square" anchor="t" lIns="0" rIns="0" tIns="0" bIns="0">
            <a:spAutoFit/>
          </a:bodyPr>
          <a:lstStyle/>
          <a:p>
            <a:pPr algn="l">
              <a:lnSpc>
                <a:spcPct val="110000"/>
              </a:lnSpc>
            </a:pPr>
            <a:r>
              <a:rPr sz="3400" b="1" i="0">
                <a:solidFill>
                  <a:srgbClr val="8C7753"/>
                </a:solidFill>
                <a:latin typeface="Open Sauce Bold"/>
              </a:rPr>
              <a:t>810 → 94</a:t>
            </a:r>
          </a:p>
        </p:txBody>
      </p:sp>
      <p:sp>
        <p:nvSpPr>
          <p:cNvPr id="21" name="TextBox 20"/>
          <p:cNvSpPr txBox="1"/>
          <p:nvPr/>
        </p:nvSpPr>
        <p:spPr>
          <a:xfrm>
            <a:off x="11201400" y="6665975"/>
            <a:ext cx="6062472" cy="378206"/>
          </a:xfrm>
          <a:prstGeom prst="rect">
            <a:avLst/>
          </a:prstGeom>
          <a:noFill/>
        </p:spPr>
        <p:txBody>
          <a:bodyPr wrap="square" anchor="t" lIns="0" rIns="0" tIns="0" bIns="0">
            <a:spAutoFit/>
          </a:bodyPr>
          <a:lstStyle/>
          <a:p>
            <a:pPr algn="l">
              <a:lnSpc>
                <a:spcPct val="134000"/>
              </a:lnSpc>
            </a:pPr>
            <a:r>
              <a:rPr sz="1900" b="0" i="0">
                <a:solidFill>
                  <a:srgbClr val="331B0D"/>
                </a:solidFill>
                <a:latin typeface="Open Sauce"/>
              </a:rPr>
              <a:t>links that failed for want of an index entry</a:t>
            </a:r>
          </a:p>
        </p:txBody>
      </p:sp>
      <p:sp>
        <p:nvSpPr>
          <p:cNvPr id="22" name="TextBox 21"/>
          <p:cNvSpPr txBox="1"/>
          <p:nvPr/>
        </p:nvSpPr>
        <p:spPr>
          <a:xfrm>
            <a:off x="8092440" y="7635240"/>
            <a:ext cx="9171432" cy="711200"/>
          </a:xfrm>
          <a:prstGeom prst="rect">
            <a:avLst/>
          </a:prstGeom>
          <a:noFill/>
        </p:spPr>
        <p:txBody>
          <a:bodyPr wrap="square" anchor="t" lIns="0" rIns="0" tIns="0" bIns="0">
            <a:spAutoFit/>
          </a:bodyPr>
          <a:lstStyle/>
          <a:p>
            <a:pPr algn="l">
              <a:lnSpc>
                <a:spcPct val="136000"/>
              </a:lnSpc>
            </a:pPr>
            <a:r>
              <a:rPr sz="1900" b="0" i="1">
                <a:solidFill>
                  <a:srgbClr val="8C7753"/>
                </a:solidFill>
                <a:latin typeface="Open Sauce Italics"/>
              </a:rPr>
              <a:t>Bundles invert the corpus from “what does this case say?” to “what have the courts held about this section?”, which is the question a conveyancer actually asks.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RETRIEVAL ENGINE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15</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Retrieval approaches under investigation</a:t>
            </a:r>
          </a:p>
        </p:txBody>
      </p:sp>
      <p:sp>
        <p:nvSpPr>
          <p:cNvPr id="6" name="Rounded Rectangle 5"/>
          <p:cNvSpPr/>
          <p:nvPr/>
        </p:nvSpPr>
        <p:spPr>
          <a:xfrm>
            <a:off x="1024128" y="3127248"/>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08176" y="3401568"/>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Lexical</a:t>
            </a:r>
          </a:p>
        </p:txBody>
      </p:sp>
      <p:sp>
        <p:nvSpPr>
          <p:cNvPr id="8" name="TextBox 7"/>
          <p:cNvSpPr txBox="1"/>
          <p:nvPr/>
        </p:nvSpPr>
        <p:spPr>
          <a:xfrm>
            <a:off x="1408176" y="3913632"/>
            <a:ext cx="4425696" cy="624840"/>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Exact legal terminology, section numbers and citations.</a:t>
            </a:r>
          </a:p>
        </p:txBody>
      </p:sp>
      <p:sp>
        <p:nvSpPr>
          <p:cNvPr id="9" name="Rounded Rectangle 8"/>
          <p:cNvSpPr/>
          <p:nvPr/>
        </p:nvSpPr>
        <p:spPr>
          <a:xfrm>
            <a:off x="6547104" y="3127248"/>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31152" y="3401568"/>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Semantic</a:t>
            </a:r>
          </a:p>
        </p:txBody>
      </p:sp>
      <p:sp>
        <p:nvSpPr>
          <p:cNvPr id="11" name="TextBox 10"/>
          <p:cNvSpPr txBox="1"/>
          <p:nvPr/>
        </p:nvSpPr>
        <p:spPr>
          <a:xfrm>
            <a:off x="6931152" y="3913632"/>
            <a:ext cx="4425696" cy="624840"/>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Conceptually related provisions and judgments.</a:t>
            </a:r>
          </a:p>
        </p:txBody>
      </p:sp>
      <p:sp>
        <p:nvSpPr>
          <p:cNvPr id="12" name="Rounded Rectangle 11"/>
          <p:cNvSpPr/>
          <p:nvPr/>
        </p:nvSpPr>
        <p:spPr>
          <a:xfrm>
            <a:off x="12070080" y="3127248"/>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454128" y="3401568"/>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Hybrid fusion</a:t>
            </a:r>
          </a:p>
        </p:txBody>
      </p:sp>
      <p:sp>
        <p:nvSpPr>
          <p:cNvPr id="14" name="TextBox 13"/>
          <p:cNvSpPr txBox="1"/>
          <p:nvPr/>
        </p:nvSpPr>
        <p:spPr>
          <a:xfrm>
            <a:off x="12454128" y="3913632"/>
            <a:ext cx="4425696" cy="339852"/>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Lexical and semantic results fused by rank.</a:t>
            </a:r>
          </a:p>
        </p:txBody>
      </p:sp>
      <p:sp>
        <p:nvSpPr>
          <p:cNvPr id="15" name="Rounded Rectangle 14"/>
          <p:cNvSpPr/>
          <p:nvPr/>
        </p:nvSpPr>
        <p:spPr>
          <a:xfrm>
            <a:off x="1024128" y="4846320"/>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408176" y="5120640"/>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Metadata filtering</a:t>
            </a:r>
          </a:p>
        </p:txBody>
      </p:sp>
      <p:sp>
        <p:nvSpPr>
          <p:cNvPr id="17" name="TextBox 16"/>
          <p:cNvSpPr txBox="1"/>
          <p:nvPr/>
        </p:nvSpPr>
        <p:spPr>
          <a:xfrm>
            <a:off x="1408176" y="5632704"/>
            <a:ext cx="4425696" cy="339852"/>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Statute, section, court, date and topic.</a:t>
            </a:r>
          </a:p>
        </p:txBody>
      </p:sp>
      <p:sp>
        <p:nvSpPr>
          <p:cNvPr id="18" name="Rounded Rectangle 17"/>
          <p:cNvSpPr/>
          <p:nvPr/>
        </p:nvSpPr>
        <p:spPr>
          <a:xfrm>
            <a:off x="6547104" y="4846320"/>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31152" y="5120640"/>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Structure-aware</a:t>
            </a:r>
          </a:p>
        </p:txBody>
      </p:sp>
      <p:sp>
        <p:nvSpPr>
          <p:cNvPr id="20" name="TextBox 19"/>
          <p:cNvSpPr txBox="1"/>
          <p:nvPr/>
        </p:nvSpPr>
        <p:spPr>
          <a:xfrm>
            <a:off x="6931152" y="5632704"/>
            <a:ext cx="4425696" cy="624840"/>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Judgment sections and holdings, not flat chunks.</a:t>
            </a:r>
          </a:p>
        </p:txBody>
      </p:sp>
      <p:sp>
        <p:nvSpPr>
          <p:cNvPr id="21" name="Rounded Rectangle 20"/>
          <p:cNvSpPr/>
          <p:nvPr/>
        </p:nvSpPr>
        <p:spPr>
          <a:xfrm>
            <a:off x="12070080" y="4846320"/>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454128" y="5120640"/>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Citation graph</a:t>
            </a:r>
          </a:p>
        </p:txBody>
      </p:sp>
      <p:sp>
        <p:nvSpPr>
          <p:cNvPr id="23" name="TextBox 22"/>
          <p:cNvSpPr txBox="1"/>
          <p:nvPr/>
        </p:nvSpPr>
        <p:spPr>
          <a:xfrm>
            <a:off x="12454128" y="5632704"/>
            <a:ext cx="4425696" cy="624840"/>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Statute-to-case and case-to-case relationships.</a:t>
            </a:r>
          </a:p>
        </p:txBody>
      </p:sp>
      <p:sp>
        <p:nvSpPr>
          <p:cNvPr id="24" name="Rounded Rectangle 23"/>
          <p:cNvSpPr/>
          <p:nvPr/>
        </p:nvSpPr>
        <p:spPr>
          <a:xfrm>
            <a:off x="1024128" y="6565392"/>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408176" y="6839712"/>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Authority ranking</a:t>
            </a:r>
          </a:p>
        </p:txBody>
      </p:sp>
      <p:sp>
        <p:nvSpPr>
          <p:cNvPr id="26" name="TextBox 25"/>
          <p:cNvSpPr txBox="1"/>
          <p:nvPr/>
        </p:nvSpPr>
        <p:spPr>
          <a:xfrm>
            <a:off x="1408176" y="7351775"/>
            <a:ext cx="4425696" cy="339852"/>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Court hierarchy and precedential weight.</a:t>
            </a:r>
          </a:p>
        </p:txBody>
      </p:sp>
      <p:sp>
        <p:nvSpPr>
          <p:cNvPr id="27" name="Rounded Rectangle 26"/>
          <p:cNvSpPr/>
          <p:nvPr/>
        </p:nvSpPr>
        <p:spPr>
          <a:xfrm>
            <a:off x="6547104" y="6565392"/>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31152" y="6839712"/>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Temporal retrieval</a:t>
            </a:r>
          </a:p>
        </p:txBody>
      </p:sp>
      <p:sp>
        <p:nvSpPr>
          <p:cNvPr id="29" name="TextBox 28"/>
          <p:cNvSpPr txBox="1"/>
          <p:nvPr/>
        </p:nvSpPr>
        <p:spPr>
          <a:xfrm>
            <a:off x="6931152" y="7351775"/>
            <a:ext cx="4425696" cy="339852"/>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The version in force on the relevant date.</a:t>
            </a:r>
          </a:p>
        </p:txBody>
      </p:sp>
      <p:sp>
        <p:nvSpPr>
          <p:cNvPr id="30" name="Rounded Rectangle 29"/>
          <p:cNvSpPr/>
          <p:nvPr/>
        </p:nvSpPr>
        <p:spPr>
          <a:xfrm>
            <a:off x="12070080" y="6565392"/>
            <a:ext cx="5193792" cy="1536192"/>
          </a:xfrm>
          <a:prstGeom prst="roundRect">
            <a:avLst>
              <a:gd name="adj" fmla="val 8333"/>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2454128" y="6839712"/>
            <a:ext cx="4425696" cy="390779"/>
          </a:xfrm>
          <a:prstGeom prst="rect">
            <a:avLst/>
          </a:prstGeom>
          <a:noFill/>
        </p:spPr>
        <p:txBody>
          <a:bodyPr wrap="square" anchor="t" lIns="0" rIns="0" tIns="0" bIns="0">
            <a:spAutoFit/>
          </a:bodyPr>
          <a:lstStyle/>
          <a:p>
            <a:pPr algn="l">
              <a:lnSpc>
                <a:spcPct val="115000"/>
              </a:lnSpc>
            </a:pPr>
            <a:r>
              <a:rPr sz="2300" b="0" i="0">
                <a:solidFill>
                  <a:srgbClr val="331B0D"/>
                </a:solidFill>
                <a:latin typeface="Open Sauce"/>
              </a:rPr>
              <a:t>Evidence verification</a:t>
            </a:r>
          </a:p>
        </p:txBody>
      </p:sp>
      <p:sp>
        <p:nvSpPr>
          <p:cNvPr id="32" name="TextBox 31"/>
          <p:cNvSpPr txBox="1"/>
          <p:nvPr/>
        </p:nvSpPr>
        <p:spPr>
          <a:xfrm>
            <a:off x="12454128" y="7351775"/>
            <a:ext cx="4425696" cy="624840"/>
          </a:xfrm>
          <a:prstGeom prst="rect">
            <a:avLst/>
          </a:prstGeom>
          <a:noFill/>
        </p:spPr>
        <p:txBody>
          <a:bodyPr wrap="square" anchor="t" lIns="0" rIns="0" tIns="0" bIns="0">
            <a:spAutoFit/>
          </a:bodyPr>
          <a:lstStyle/>
          <a:p>
            <a:pPr algn="l">
              <a:lnSpc>
                <a:spcPct val="132000"/>
              </a:lnSpc>
            </a:pPr>
            <a:r>
              <a:rPr sz="1700" b="0" i="0">
                <a:solidFill>
                  <a:srgbClr val="8C7753"/>
                </a:solidFill>
                <a:latin typeface="Open Sauce"/>
              </a:rPr>
              <a:t>Claims checked against retrieved text before an answer is shown.</a:t>
            </a:r>
          </a:p>
        </p:txBody>
      </p:sp>
      <p:sp>
        <p:nvSpPr>
          <p:cNvPr id="33" name="TextBox 32"/>
          <p:cNvSpPr txBox="1"/>
          <p:nvPr/>
        </p:nvSpPr>
        <p:spPr>
          <a:xfrm>
            <a:off x="1024128" y="8275320"/>
            <a:ext cx="16239743" cy="368554"/>
          </a:xfrm>
          <a:prstGeom prst="rect">
            <a:avLst/>
          </a:prstGeom>
          <a:noFill/>
        </p:spPr>
        <p:txBody>
          <a:bodyPr wrap="square" anchor="t" lIns="0" rIns="0" tIns="0" bIns="0">
            <a:spAutoFit/>
          </a:bodyPr>
          <a:lstStyle/>
          <a:p>
            <a:pPr algn="l">
              <a:lnSpc>
                <a:spcPct val="130000"/>
              </a:lnSpc>
            </a:pPr>
            <a:r>
              <a:rPr sz="1900" b="0" i="1">
                <a:solidFill>
                  <a:srgbClr val="8C7753"/>
                </a:solidFill>
                <a:latin typeface="Open Sauce Italics"/>
              </a:rPr>
              <a:t>These are candidates being compared, not a shipped design. The current prototype fuses a lexical channel, a dense channel and a statute graph.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RETRIEVAL ENGINE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16</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How a question becomes a cited answer</a:t>
            </a:r>
          </a:p>
        </p:txBody>
      </p:sp>
      <p:sp>
        <p:nvSpPr>
          <p:cNvPr id="6" name="Rounded Rectangle 5"/>
          <p:cNvSpPr/>
          <p:nvPr/>
        </p:nvSpPr>
        <p:spPr>
          <a:xfrm>
            <a:off x="1024128" y="3154680"/>
            <a:ext cx="2084831" cy="1417320"/>
          </a:xfrm>
          <a:prstGeom prst="roundRect">
            <a:avLst>
              <a:gd name="adj" fmla="val 774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70432" y="3154680"/>
            <a:ext cx="1792223" cy="141732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User question</a:t>
            </a:r>
          </a:p>
        </p:txBody>
      </p:sp>
      <p:sp>
        <p:nvSpPr>
          <p:cNvPr id="8" name="Isosceles Triangle 7"/>
          <p:cNvSpPr/>
          <p:nvPr/>
        </p:nvSpPr>
        <p:spPr>
          <a:xfrm rot="5400000">
            <a:off x="3127248" y="37444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83279" y="3154680"/>
            <a:ext cx="2084831" cy="1417320"/>
          </a:xfrm>
          <a:prstGeom prst="roundRect">
            <a:avLst>
              <a:gd name="adj" fmla="val 774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29584" y="3154680"/>
            <a:ext cx="1792223" cy="141732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Query analysis</a:t>
            </a:r>
          </a:p>
        </p:txBody>
      </p:sp>
      <p:sp>
        <p:nvSpPr>
          <p:cNvPr id="11" name="Isosceles Triangle 10"/>
          <p:cNvSpPr/>
          <p:nvPr/>
        </p:nvSpPr>
        <p:spPr>
          <a:xfrm rot="5400000">
            <a:off x="5486399" y="37444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42431" y="3154680"/>
            <a:ext cx="2084831" cy="1417320"/>
          </a:xfrm>
          <a:prstGeom prst="roundRect">
            <a:avLst>
              <a:gd name="adj" fmla="val 774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888736" y="3154680"/>
            <a:ext cx="1792223" cy="141732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Lexical and semantic retrieval</a:t>
            </a:r>
          </a:p>
        </p:txBody>
      </p:sp>
      <p:sp>
        <p:nvSpPr>
          <p:cNvPr id="14" name="Isosceles Triangle 13"/>
          <p:cNvSpPr/>
          <p:nvPr/>
        </p:nvSpPr>
        <p:spPr>
          <a:xfrm rot="5400000">
            <a:off x="7845551" y="37444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3154680"/>
            <a:ext cx="2084831" cy="1417320"/>
          </a:xfrm>
          <a:prstGeom prst="roundRect">
            <a:avLst>
              <a:gd name="adj" fmla="val 774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47888" y="3154680"/>
            <a:ext cx="1792223" cy="141732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Metadata and date filter</a:t>
            </a:r>
          </a:p>
        </p:txBody>
      </p:sp>
      <p:sp>
        <p:nvSpPr>
          <p:cNvPr id="17" name="Isosceles Triangle 16"/>
          <p:cNvSpPr/>
          <p:nvPr/>
        </p:nvSpPr>
        <p:spPr>
          <a:xfrm rot="5400000">
            <a:off x="10204703" y="37444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460735" y="3154680"/>
            <a:ext cx="2084831" cy="1417320"/>
          </a:xfrm>
          <a:prstGeom prst="roundRect">
            <a:avLst>
              <a:gd name="adj" fmla="val 774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607039" y="3154680"/>
            <a:ext cx="1792223" cy="141732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Authority-aware reranking</a:t>
            </a:r>
          </a:p>
        </p:txBody>
      </p:sp>
      <p:sp>
        <p:nvSpPr>
          <p:cNvPr id="20" name="Isosceles Triangle 19"/>
          <p:cNvSpPr/>
          <p:nvPr/>
        </p:nvSpPr>
        <p:spPr>
          <a:xfrm rot="5400000">
            <a:off x="12563855" y="37444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2819888" y="3154680"/>
            <a:ext cx="2084831" cy="1417320"/>
          </a:xfrm>
          <a:prstGeom prst="roundRect">
            <a:avLst>
              <a:gd name="adj" fmla="val 774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966192" y="3154680"/>
            <a:ext cx="1792223" cy="141732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Evidence verification</a:t>
            </a:r>
          </a:p>
        </p:txBody>
      </p:sp>
      <p:sp>
        <p:nvSpPr>
          <p:cNvPr id="23" name="Isosceles Triangle 22"/>
          <p:cNvSpPr/>
          <p:nvPr/>
        </p:nvSpPr>
        <p:spPr>
          <a:xfrm rot="5400000">
            <a:off x="14923008" y="374446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5179039" y="3154680"/>
            <a:ext cx="2084831" cy="1417320"/>
          </a:xfrm>
          <a:prstGeom prst="roundRect">
            <a:avLst>
              <a:gd name="adj" fmla="val 7741"/>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5325343" y="3154680"/>
            <a:ext cx="1792223" cy="1417320"/>
          </a:xfrm>
          <a:prstGeom prst="rect">
            <a:avLst/>
          </a:prstGeom>
          <a:noFill/>
        </p:spPr>
        <p:txBody>
          <a:bodyPr wrap="square" anchor="ctr" lIns="0" rIns="0" tIns="0" bIns="0">
            <a:spAutoFit/>
          </a:bodyPr>
          <a:lstStyle/>
          <a:p>
            <a:pPr algn="ctr">
              <a:lnSpc>
                <a:spcPct val="122000"/>
              </a:lnSpc>
            </a:pPr>
            <a:r>
              <a:rPr sz="1600" b="0" i="0">
                <a:solidFill>
                  <a:srgbClr val="331B0D"/>
                </a:solidFill>
                <a:latin typeface="Open Sauce"/>
              </a:rPr>
              <a:t>Cited answer or abstention</a:t>
            </a:r>
          </a:p>
        </p:txBody>
      </p:sp>
      <p:cxnSp>
        <p:nvCxnSpPr>
          <p:cNvPr id="26" name="Connector 25"/>
          <p:cNvCxnSpPr/>
          <p:nvPr/>
        </p:nvCxnSpPr>
        <p:spPr>
          <a:xfrm>
            <a:off x="1024128" y="5074920"/>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24128" y="5394960"/>
            <a:ext cx="775411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The ranking considers</a:t>
            </a:r>
          </a:p>
        </p:txBody>
      </p:sp>
      <p:sp>
        <p:nvSpPr>
          <p:cNvPr id="28" name="TextBox 27"/>
          <p:cNvSpPr txBox="1"/>
          <p:nvPr/>
        </p:nvSpPr>
        <p:spPr>
          <a:xfrm>
            <a:off x="1024128" y="6035040"/>
            <a:ext cx="7754111" cy="1614932"/>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Court hierarchy and precedential authority</a:t>
            </a:r>
          </a:p>
          <a:p>
            <a:pPr algn="l" marL="310896" indent="-310896">
              <a:lnSpc>
                <a:spcPct val="134000"/>
              </a:lnSpc>
              <a:spcBef>
                <a:spcPts val="700"/>
              </a:spcBef>
            </a:pPr>
            <a:r>
              <a:rPr sz="1900" b="0" i="0">
                <a:solidFill>
                  <a:srgbClr val="331B0D"/>
                </a:solidFill>
                <a:latin typeface="Open Sauce"/>
              </a:rPr>
              <a:t>•   Whether a decision binds or merely persuades</a:t>
            </a:r>
          </a:p>
          <a:p>
            <a:pPr algn="l" marL="310896" indent="-310896">
              <a:lnSpc>
                <a:spcPct val="134000"/>
              </a:lnSpc>
              <a:spcBef>
                <a:spcPts val="700"/>
              </a:spcBef>
            </a:pPr>
            <a:r>
              <a:rPr sz="1900" b="0" i="0">
                <a:solidFill>
                  <a:srgbClr val="331B0D"/>
                </a:solidFill>
                <a:latin typeface="Open Sauce"/>
              </a:rPr>
              <a:t>•   Whether it has been followed or distinguished</a:t>
            </a:r>
          </a:p>
          <a:p>
            <a:pPr algn="l" marL="310896" indent="-310896">
              <a:lnSpc>
                <a:spcPct val="134000"/>
              </a:lnSpc>
              <a:spcBef>
                <a:spcPts val="700"/>
              </a:spcBef>
            </a:pPr>
            <a:r>
              <a:rPr sz="1900" b="0" i="0">
                <a:solidFill>
                  <a:srgbClr val="331B0D"/>
                </a:solidFill>
                <a:latin typeface="Open Sauce"/>
              </a:rPr>
              <a:t>•   Amendment and effective dates against the question date</a:t>
            </a:r>
          </a:p>
        </p:txBody>
      </p:sp>
      <p:sp>
        <p:nvSpPr>
          <p:cNvPr id="29" name="TextBox 28"/>
          <p:cNvSpPr txBox="1"/>
          <p:nvPr/>
        </p:nvSpPr>
        <p:spPr>
          <a:xfrm>
            <a:off x="9509759" y="5394960"/>
            <a:ext cx="775411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Every answer carries</a:t>
            </a:r>
          </a:p>
        </p:txBody>
      </p:sp>
      <p:sp>
        <p:nvSpPr>
          <p:cNvPr id="30" name="TextBox 29"/>
          <p:cNvSpPr txBox="1"/>
          <p:nvPr/>
        </p:nvSpPr>
        <p:spPr>
          <a:xfrm>
            <a:off x="9509759" y="6035040"/>
            <a:ext cx="7754111" cy="1614932"/>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The applicable statute, section and version</a:t>
            </a:r>
          </a:p>
          <a:p>
            <a:pPr algn="l" marL="310896" indent="-310896">
              <a:lnSpc>
                <a:spcPct val="134000"/>
              </a:lnSpc>
              <a:spcBef>
                <a:spcPts val="700"/>
              </a:spcBef>
            </a:pPr>
            <a:r>
              <a:rPr sz="1900" b="0" i="0">
                <a:solidFill>
                  <a:srgbClr val="331B0D"/>
                </a:solidFill>
                <a:latin typeface="Open Sauce"/>
              </a:rPr>
              <a:t>•   The relevant case citation and legal principle</a:t>
            </a:r>
          </a:p>
          <a:p>
            <a:pPr algn="l" marL="310896" indent="-310896">
              <a:lnSpc>
                <a:spcPct val="134000"/>
              </a:lnSpc>
              <a:spcBef>
                <a:spcPts val="700"/>
              </a:spcBef>
            </a:pPr>
            <a:r>
              <a:rPr sz="1900" b="0" i="0">
                <a:solidFill>
                  <a:srgbClr val="331B0D"/>
                </a:solidFill>
                <a:latin typeface="Open Sauce"/>
              </a:rPr>
              <a:t>•   The supporting passage and where it sits in the source</a:t>
            </a:r>
          </a:p>
          <a:p>
            <a:pPr algn="l" marL="310896" indent="-310896">
              <a:lnSpc>
                <a:spcPct val="134000"/>
              </a:lnSpc>
              <a:spcBef>
                <a:spcPts val="700"/>
              </a:spcBef>
            </a:pPr>
            <a:r>
              <a:rPr sz="1900" b="0" i="0">
                <a:solidFill>
                  <a:srgbClr val="331B0D"/>
                </a:solidFill>
                <a:latin typeface="Open Sauce"/>
              </a:rPr>
              <a:t>•   A verification status, or an abstention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RETRIEVAL ENGINE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17</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The research this is built on</a:t>
            </a:r>
          </a:p>
        </p:txBody>
      </p:sp>
      <p:sp>
        <p:nvSpPr>
          <p:cNvPr id="6" name="TextBox 5"/>
          <p:cNvSpPr txBox="1"/>
          <p:nvPr/>
        </p:nvSpPr>
        <p:spPr>
          <a:xfrm>
            <a:off x="1024128" y="3246120"/>
            <a:ext cx="548640" cy="313944"/>
          </a:xfrm>
          <a:prstGeom prst="rect">
            <a:avLst/>
          </a:prstGeom>
          <a:noFill/>
        </p:spPr>
        <p:txBody>
          <a:bodyPr wrap="square" anchor="t" lIns="0" rIns="0" tIns="0" bIns="0">
            <a:spAutoFit/>
          </a:bodyPr>
          <a:lstStyle/>
          <a:p>
            <a:pPr algn="l">
              <a:lnSpc>
                <a:spcPct val="120000"/>
              </a:lnSpc>
            </a:pPr>
            <a:r>
              <a:rPr sz="1700" b="1" i="0">
                <a:solidFill>
                  <a:srgbClr val="8C7753"/>
                </a:solidFill>
                <a:latin typeface="Open Sauce Bold"/>
              </a:rPr>
              <a:t>01</a:t>
            </a:r>
          </a:p>
        </p:txBody>
      </p:sp>
      <p:sp>
        <p:nvSpPr>
          <p:cNvPr id="7" name="TextBox 6"/>
          <p:cNvSpPr txBox="1"/>
          <p:nvPr/>
        </p:nvSpPr>
        <p:spPr>
          <a:xfrm>
            <a:off x="1645920" y="3246120"/>
            <a:ext cx="6720840" cy="342900"/>
          </a:xfrm>
          <a:prstGeom prst="rect">
            <a:avLst/>
          </a:prstGeom>
          <a:noFill/>
        </p:spPr>
        <p:txBody>
          <a:bodyPr wrap="square" anchor="t" lIns="0" rIns="0" tIns="0" bIns="0">
            <a:spAutoFit/>
          </a:bodyPr>
          <a:lstStyle/>
          <a:p>
            <a:pPr algn="l">
              <a:lnSpc>
                <a:spcPct val="126000"/>
              </a:lnSpc>
            </a:pPr>
            <a:r>
              <a:rPr sz="1800" b="0" i="0">
                <a:solidFill>
                  <a:srgbClr val="331B0D"/>
                </a:solidFill>
                <a:latin typeface="Open Sauce"/>
              </a:rPr>
              <a:t>Section-Weighted Hybrid Case Retrieval</a:t>
            </a:r>
          </a:p>
        </p:txBody>
      </p:sp>
      <p:sp>
        <p:nvSpPr>
          <p:cNvPr id="8" name="TextBox 7"/>
          <p:cNvSpPr txBox="1"/>
          <p:nvPr/>
        </p:nvSpPr>
        <p:spPr>
          <a:xfrm>
            <a:off x="8641080" y="3246120"/>
            <a:ext cx="8622792" cy="342900"/>
          </a:xfrm>
          <a:prstGeom prst="rect">
            <a:avLst/>
          </a:prstGeom>
          <a:noFill/>
        </p:spPr>
        <p:txBody>
          <a:bodyPr wrap="square" anchor="t" lIns="0" rIns="0" tIns="0" bIns="0">
            <a:spAutoFit/>
          </a:bodyPr>
          <a:lstStyle/>
          <a:p>
            <a:pPr algn="l">
              <a:lnSpc>
                <a:spcPct val="126000"/>
              </a:lnSpc>
            </a:pPr>
            <a:r>
              <a:rPr sz="1800" b="0" i="0">
                <a:solidFill>
                  <a:srgbClr val="8C7753"/>
                </a:solidFill>
                <a:latin typeface="Open Sauce"/>
              </a:rPr>
              <a:t>Segmentation, BM25, dense ANN, rank fusion, section-weighted reranking.</a:t>
            </a:r>
          </a:p>
        </p:txBody>
      </p:sp>
      <p:cxnSp>
        <p:nvCxnSpPr>
          <p:cNvPr id="9" name="Connector 8"/>
          <p:cNvCxnSpPr/>
          <p:nvPr/>
        </p:nvCxnSpPr>
        <p:spPr>
          <a:xfrm>
            <a:off x="1024128" y="3758183"/>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024128" y="3977639"/>
            <a:ext cx="548640" cy="313944"/>
          </a:xfrm>
          <a:prstGeom prst="rect">
            <a:avLst/>
          </a:prstGeom>
          <a:noFill/>
        </p:spPr>
        <p:txBody>
          <a:bodyPr wrap="square" anchor="t" lIns="0" rIns="0" tIns="0" bIns="0">
            <a:spAutoFit/>
          </a:bodyPr>
          <a:lstStyle/>
          <a:p>
            <a:pPr algn="l">
              <a:lnSpc>
                <a:spcPct val="120000"/>
              </a:lnSpc>
            </a:pPr>
            <a:r>
              <a:rPr sz="1700" b="1" i="0">
                <a:solidFill>
                  <a:srgbClr val="8C7753"/>
                </a:solidFill>
                <a:latin typeface="Open Sauce Bold"/>
              </a:rPr>
              <a:t>02</a:t>
            </a:r>
          </a:p>
        </p:txBody>
      </p:sp>
      <p:sp>
        <p:nvSpPr>
          <p:cNvPr id="11" name="TextBox 10"/>
          <p:cNvSpPr txBox="1"/>
          <p:nvPr/>
        </p:nvSpPr>
        <p:spPr>
          <a:xfrm>
            <a:off x="1645920" y="3977639"/>
            <a:ext cx="6720840" cy="342900"/>
          </a:xfrm>
          <a:prstGeom prst="rect">
            <a:avLst/>
          </a:prstGeom>
          <a:noFill/>
        </p:spPr>
        <p:txBody>
          <a:bodyPr wrap="square" anchor="t" lIns="0" rIns="0" tIns="0" bIns="0">
            <a:spAutoFit/>
          </a:bodyPr>
          <a:lstStyle/>
          <a:p>
            <a:pPr algn="l">
              <a:lnSpc>
                <a:spcPct val="126000"/>
              </a:lnSpc>
            </a:pPr>
            <a:r>
              <a:rPr sz="1800" b="0" i="0">
                <a:solidFill>
                  <a:srgbClr val="331B0D"/>
                </a:solidFill>
                <a:latin typeface="Open Sauce"/>
              </a:rPr>
              <a:t>LexPath: Multi-Path Article Retrieval</a:t>
            </a:r>
          </a:p>
        </p:txBody>
      </p:sp>
      <p:sp>
        <p:nvSpPr>
          <p:cNvPr id="12" name="TextBox 11"/>
          <p:cNvSpPr txBox="1"/>
          <p:nvPr/>
        </p:nvSpPr>
        <p:spPr>
          <a:xfrm>
            <a:off x="8641080" y="3977639"/>
            <a:ext cx="8622792" cy="342900"/>
          </a:xfrm>
          <a:prstGeom prst="rect">
            <a:avLst/>
          </a:prstGeom>
          <a:noFill/>
        </p:spPr>
        <p:txBody>
          <a:bodyPr wrap="square" anchor="t" lIns="0" rIns="0" tIns="0" bIns="0">
            <a:spAutoFit/>
          </a:bodyPr>
          <a:lstStyle/>
          <a:p>
            <a:pPr algn="l">
              <a:lnSpc>
                <a:spcPct val="126000"/>
              </a:lnSpc>
            </a:pPr>
            <a:r>
              <a:rPr sz="1800" b="0" i="0">
                <a:solidFill>
                  <a:srgbClr val="8C7753"/>
                </a:solidFill>
                <a:latin typeface="Open Sauce"/>
              </a:rPr>
              <a:t>Statute and section retrieval with legal hierarchy.</a:t>
            </a:r>
          </a:p>
        </p:txBody>
      </p:sp>
      <p:cxnSp>
        <p:nvCxnSpPr>
          <p:cNvPr id="13" name="Connector 12"/>
          <p:cNvCxnSpPr/>
          <p:nvPr/>
        </p:nvCxnSpPr>
        <p:spPr>
          <a:xfrm>
            <a:off x="1024128" y="4489704"/>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24128" y="4709160"/>
            <a:ext cx="548640" cy="313944"/>
          </a:xfrm>
          <a:prstGeom prst="rect">
            <a:avLst/>
          </a:prstGeom>
          <a:noFill/>
        </p:spPr>
        <p:txBody>
          <a:bodyPr wrap="square" anchor="t" lIns="0" rIns="0" tIns="0" bIns="0">
            <a:spAutoFit/>
          </a:bodyPr>
          <a:lstStyle/>
          <a:p>
            <a:pPr algn="l">
              <a:lnSpc>
                <a:spcPct val="120000"/>
              </a:lnSpc>
            </a:pPr>
            <a:r>
              <a:rPr sz="1700" b="1" i="0">
                <a:solidFill>
                  <a:srgbClr val="8C7753"/>
                </a:solidFill>
                <a:latin typeface="Open Sauce Bold"/>
              </a:rPr>
              <a:t>03</a:t>
            </a:r>
          </a:p>
        </p:txBody>
      </p:sp>
      <p:sp>
        <p:nvSpPr>
          <p:cNvPr id="15" name="TextBox 14"/>
          <p:cNvSpPr txBox="1"/>
          <p:nvPr/>
        </p:nvSpPr>
        <p:spPr>
          <a:xfrm>
            <a:off x="1645920" y="4709160"/>
            <a:ext cx="6720840" cy="342900"/>
          </a:xfrm>
          <a:prstGeom prst="rect">
            <a:avLst/>
          </a:prstGeom>
          <a:noFill/>
        </p:spPr>
        <p:txBody>
          <a:bodyPr wrap="square" anchor="t" lIns="0" rIns="0" tIns="0" bIns="0">
            <a:spAutoFit/>
          </a:bodyPr>
          <a:lstStyle/>
          <a:p>
            <a:pPr algn="l">
              <a:lnSpc>
                <a:spcPct val="126000"/>
              </a:lnSpc>
            </a:pPr>
            <a:r>
              <a:rPr sz="1800" b="0" i="0">
                <a:solidFill>
                  <a:srgbClr val="331B0D"/>
                </a:solidFill>
                <a:latin typeface="Open Sauce"/>
              </a:rPr>
              <a:t>IL-PCSR: Prior Case and Statute Retrieval</a:t>
            </a:r>
          </a:p>
        </p:txBody>
      </p:sp>
      <p:sp>
        <p:nvSpPr>
          <p:cNvPr id="16" name="TextBox 15"/>
          <p:cNvSpPr txBox="1"/>
          <p:nvPr/>
        </p:nvSpPr>
        <p:spPr>
          <a:xfrm>
            <a:off x="8641080" y="4709160"/>
            <a:ext cx="8622792" cy="342900"/>
          </a:xfrm>
          <a:prstGeom prst="rect">
            <a:avLst/>
          </a:prstGeom>
          <a:noFill/>
        </p:spPr>
        <p:txBody>
          <a:bodyPr wrap="square" anchor="t" lIns="0" rIns="0" tIns="0" bIns="0">
            <a:spAutoFit/>
          </a:bodyPr>
          <a:lstStyle/>
          <a:p>
            <a:pPr algn="l">
              <a:lnSpc>
                <a:spcPct val="126000"/>
              </a:lnSpc>
            </a:pPr>
            <a:r>
              <a:rPr sz="1800" b="0" i="0">
                <a:solidFill>
                  <a:srgbClr val="8C7753"/>
                </a:solidFill>
                <a:latin typeface="Open Sauce"/>
              </a:rPr>
              <a:t>Retrieves statutes and precedents jointly, as our model does.</a:t>
            </a:r>
          </a:p>
        </p:txBody>
      </p:sp>
      <p:cxnSp>
        <p:nvCxnSpPr>
          <p:cNvPr id="17" name="Connector 16"/>
          <p:cNvCxnSpPr/>
          <p:nvPr/>
        </p:nvCxnSpPr>
        <p:spPr>
          <a:xfrm>
            <a:off x="1024128" y="5221224"/>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24128" y="5440680"/>
            <a:ext cx="548640" cy="313944"/>
          </a:xfrm>
          <a:prstGeom prst="rect">
            <a:avLst/>
          </a:prstGeom>
          <a:noFill/>
        </p:spPr>
        <p:txBody>
          <a:bodyPr wrap="square" anchor="t" lIns="0" rIns="0" tIns="0" bIns="0">
            <a:spAutoFit/>
          </a:bodyPr>
          <a:lstStyle/>
          <a:p>
            <a:pPr algn="l">
              <a:lnSpc>
                <a:spcPct val="120000"/>
              </a:lnSpc>
            </a:pPr>
            <a:r>
              <a:rPr sz="1700" b="1" i="0">
                <a:solidFill>
                  <a:srgbClr val="8C7753"/>
                </a:solidFill>
                <a:latin typeface="Open Sauce Bold"/>
              </a:rPr>
              <a:t>04</a:t>
            </a:r>
          </a:p>
        </p:txBody>
      </p:sp>
      <p:sp>
        <p:nvSpPr>
          <p:cNvPr id="19" name="TextBox 18"/>
          <p:cNvSpPr txBox="1"/>
          <p:nvPr/>
        </p:nvSpPr>
        <p:spPr>
          <a:xfrm>
            <a:off x="1645920" y="5440680"/>
            <a:ext cx="6720840" cy="342900"/>
          </a:xfrm>
          <a:prstGeom prst="rect">
            <a:avLst/>
          </a:prstGeom>
          <a:noFill/>
        </p:spPr>
        <p:txBody>
          <a:bodyPr wrap="square" anchor="t" lIns="0" rIns="0" tIns="0" bIns="0">
            <a:spAutoFit/>
          </a:bodyPr>
          <a:lstStyle/>
          <a:p>
            <a:pPr algn="l">
              <a:lnSpc>
                <a:spcPct val="126000"/>
              </a:lnSpc>
            </a:pPr>
            <a:r>
              <a:rPr sz="1800" b="0" i="0">
                <a:solidFill>
                  <a:srgbClr val="331B0D"/>
                </a:solidFill>
                <a:latin typeface="Open Sauce"/>
              </a:rPr>
              <a:t>Temporal Misgrounding in Legal RAG</a:t>
            </a:r>
          </a:p>
        </p:txBody>
      </p:sp>
      <p:sp>
        <p:nvSpPr>
          <p:cNvPr id="20" name="TextBox 19"/>
          <p:cNvSpPr txBox="1"/>
          <p:nvPr/>
        </p:nvSpPr>
        <p:spPr>
          <a:xfrm>
            <a:off x="8641080" y="5440680"/>
            <a:ext cx="8622792" cy="342900"/>
          </a:xfrm>
          <a:prstGeom prst="rect">
            <a:avLst/>
          </a:prstGeom>
          <a:noFill/>
        </p:spPr>
        <p:txBody>
          <a:bodyPr wrap="square" anchor="t" lIns="0" rIns="0" tIns="0" bIns="0">
            <a:spAutoFit/>
          </a:bodyPr>
          <a:lstStyle/>
          <a:p>
            <a:pPr algn="l">
              <a:lnSpc>
                <a:spcPct val="126000"/>
              </a:lnSpc>
            </a:pPr>
            <a:r>
              <a:rPr sz="1800" b="0" i="0">
                <a:solidFill>
                  <a:srgbClr val="8C7753"/>
                </a:solidFill>
                <a:latin typeface="Open Sauce"/>
              </a:rPr>
              <a:t>Why retrieval must select the law in force on the date.</a:t>
            </a:r>
          </a:p>
        </p:txBody>
      </p:sp>
      <p:cxnSp>
        <p:nvCxnSpPr>
          <p:cNvPr id="21" name="Connector 20"/>
          <p:cNvCxnSpPr/>
          <p:nvPr/>
        </p:nvCxnSpPr>
        <p:spPr>
          <a:xfrm>
            <a:off x="1024128" y="5952744"/>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024128" y="6172200"/>
            <a:ext cx="548640" cy="313944"/>
          </a:xfrm>
          <a:prstGeom prst="rect">
            <a:avLst/>
          </a:prstGeom>
          <a:noFill/>
        </p:spPr>
        <p:txBody>
          <a:bodyPr wrap="square" anchor="t" lIns="0" rIns="0" tIns="0" bIns="0">
            <a:spAutoFit/>
          </a:bodyPr>
          <a:lstStyle/>
          <a:p>
            <a:pPr algn="l">
              <a:lnSpc>
                <a:spcPct val="120000"/>
              </a:lnSpc>
            </a:pPr>
            <a:r>
              <a:rPr sz="1700" b="1" i="0">
                <a:solidFill>
                  <a:srgbClr val="8C7753"/>
                </a:solidFill>
                <a:latin typeface="Open Sauce Bold"/>
              </a:rPr>
              <a:t>05</a:t>
            </a:r>
          </a:p>
        </p:txBody>
      </p:sp>
      <p:sp>
        <p:nvSpPr>
          <p:cNvPr id="23" name="TextBox 22"/>
          <p:cNvSpPr txBox="1"/>
          <p:nvPr/>
        </p:nvSpPr>
        <p:spPr>
          <a:xfrm>
            <a:off x="1645920" y="6172200"/>
            <a:ext cx="6720840" cy="342900"/>
          </a:xfrm>
          <a:prstGeom prst="rect">
            <a:avLst/>
          </a:prstGeom>
          <a:noFill/>
        </p:spPr>
        <p:txBody>
          <a:bodyPr wrap="square" anchor="t" lIns="0" rIns="0" tIns="0" bIns="0">
            <a:spAutoFit/>
          </a:bodyPr>
          <a:lstStyle/>
          <a:p>
            <a:pPr algn="l">
              <a:lnSpc>
                <a:spcPct val="126000"/>
              </a:lnSpc>
            </a:pPr>
            <a:r>
              <a:rPr sz="1800" b="0" i="0">
                <a:solidFill>
                  <a:srgbClr val="331B0D"/>
                </a:solidFill>
                <a:latin typeface="Open Sauce"/>
              </a:rPr>
              <a:t>LeSICiN: Heterogeneous Graph for Statutes</a:t>
            </a:r>
          </a:p>
        </p:txBody>
      </p:sp>
      <p:sp>
        <p:nvSpPr>
          <p:cNvPr id="24" name="TextBox 23"/>
          <p:cNvSpPr txBox="1"/>
          <p:nvPr/>
        </p:nvSpPr>
        <p:spPr>
          <a:xfrm>
            <a:off x="8641080" y="6172200"/>
            <a:ext cx="8622792" cy="342900"/>
          </a:xfrm>
          <a:prstGeom prst="rect">
            <a:avLst/>
          </a:prstGeom>
          <a:noFill/>
        </p:spPr>
        <p:txBody>
          <a:bodyPr wrap="square" anchor="t" lIns="0" rIns="0" tIns="0" bIns="0">
            <a:spAutoFit/>
          </a:bodyPr>
          <a:lstStyle/>
          <a:p>
            <a:pPr algn="l">
              <a:lnSpc>
                <a:spcPct val="126000"/>
              </a:lnSpc>
            </a:pPr>
            <a:r>
              <a:rPr sz="1800" b="0" i="0">
                <a:solidFill>
                  <a:srgbClr val="8C7753"/>
                </a:solidFill>
                <a:latin typeface="Open Sauce"/>
              </a:rPr>
              <a:t>Case text plus the citation network predicts the legislation.</a:t>
            </a:r>
          </a:p>
        </p:txBody>
      </p:sp>
      <p:cxnSp>
        <p:nvCxnSpPr>
          <p:cNvPr id="25" name="Connector 24"/>
          <p:cNvCxnSpPr/>
          <p:nvPr/>
        </p:nvCxnSpPr>
        <p:spPr>
          <a:xfrm>
            <a:off x="1024128" y="6684264"/>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024128" y="6903720"/>
            <a:ext cx="548640" cy="313944"/>
          </a:xfrm>
          <a:prstGeom prst="rect">
            <a:avLst/>
          </a:prstGeom>
          <a:noFill/>
        </p:spPr>
        <p:txBody>
          <a:bodyPr wrap="square" anchor="t" lIns="0" rIns="0" tIns="0" bIns="0">
            <a:spAutoFit/>
          </a:bodyPr>
          <a:lstStyle/>
          <a:p>
            <a:pPr algn="l">
              <a:lnSpc>
                <a:spcPct val="120000"/>
              </a:lnSpc>
            </a:pPr>
            <a:r>
              <a:rPr sz="1700" b="1" i="0">
                <a:solidFill>
                  <a:srgbClr val="8C7753"/>
                </a:solidFill>
                <a:latin typeface="Open Sauce Bold"/>
              </a:rPr>
              <a:t>06</a:t>
            </a:r>
          </a:p>
        </p:txBody>
      </p:sp>
      <p:sp>
        <p:nvSpPr>
          <p:cNvPr id="27" name="TextBox 26"/>
          <p:cNvSpPr txBox="1"/>
          <p:nvPr/>
        </p:nvSpPr>
        <p:spPr>
          <a:xfrm>
            <a:off x="1645920" y="6903720"/>
            <a:ext cx="6720840" cy="342900"/>
          </a:xfrm>
          <a:prstGeom prst="rect">
            <a:avLst/>
          </a:prstGeom>
          <a:noFill/>
        </p:spPr>
        <p:txBody>
          <a:bodyPr wrap="square" anchor="t" lIns="0" rIns="0" tIns="0" bIns="0">
            <a:spAutoFit/>
          </a:bodyPr>
          <a:lstStyle/>
          <a:p>
            <a:pPr algn="l">
              <a:lnSpc>
                <a:spcPct val="126000"/>
              </a:lnSpc>
            </a:pPr>
            <a:r>
              <a:rPr sz="1800" b="0" i="0">
                <a:solidFill>
                  <a:srgbClr val="331B0D"/>
                </a:solidFill>
                <a:latin typeface="Open Sauce"/>
              </a:rPr>
              <a:t>Legal Structure in Retrieval-Augmented Generation</a:t>
            </a:r>
          </a:p>
        </p:txBody>
      </p:sp>
      <p:sp>
        <p:nvSpPr>
          <p:cNvPr id="28" name="TextBox 27"/>
          <p:cNvSpPr txBox="1"/>
          <p:nvPr/>
        </p:nvSpPr>
        <p:spPr>
          <a:xfrm>
            <a:off x="8641080" y="6903720"/>
            <a:ext cx="8622792" cy="342900"/>
          </a:xfrm>
          <a:prstGeom prst="rect">
            <a:avLst/>
          </a:prstGeom>
          <a:noFill/>
        </p:spPr>
        <p:txBody>
          <a:bodyPr wrap="square" anchor="t" lIns="0" rIns="0" tIns="0" bIns="0">
            <a:spAutoFit/>
          </a:bodyPr>
          <a:lstStyle/>
          <a:p>
            <a:pPr algn="l">
              <a:lnSpc>
                <a:spcPct val="126000"/>
              </a:lnSpc>
            </a:pPr>
            <a:r>
              <a:rPr sz="1800" b="0" i="0">
                <a:solidFill>
                  <a:srgbClr val="8C7753"/>
                </a:solidFill>
                <a:latin typeface="Open Sauce"/>
              </a:rPr>
              <a:t>Authority-aware ranking from hierarchy, citations and PageRank.</a:t>
            </a:r>
          </a:p>
        </p:txBody>
      </p:sp>
      <p:cxnSp>
        <p:nvCxnSpPr>
          <p:cNvPr id="29" name="Connector 28"/>
          <p:cNvCxnSpPr/>
          <p:nvPr/>
        </p:nvCxnSpPr>
        <p:spPr>
          <a:xfrm>
            <a:off x="1024128" y="7415783"/>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24128" y="7635240"/>
            <a:ext cx="548640" cy="313944"/>
          </a:xfrm>
          <a:prstGeom prst="rect">
            <a:avLst/>
          </a:prstGeom>
          <a:noFill/>
        </p:spPr>
        <p:txBody>
          <a:bodyPr wrap="square" anchor="t" lIns="0" rIns="0" tIns="0" bIns="0">
            <a:spAutoFit/>
          </a:bodyPr>
          <a:lstStyle/>
          <a:p>
            <a:pPr algn="l">
              <a:lnSpc>
                <a:spcPct val="120000"/>
              </a:lnSpc>
            </a:pPr>
            <a:r>
              <a:rPr sz="1700" b="1" i="0">
                <a:solidFill>
                  <a:srgbClr val="8C7753"/>
                </a:solidFill>
                <a:latin typeface="Open Sauce Bold"/>
              </a:rPr>
              <a:t>07</a:t>
            </a:r>
          </a:p>
        </p:txBody>
      </p:sp>
      <p:sp>
        <p:nvSpPr>
          <p:cNvPr id="31" name="TextBox 30"/>
          <p:cNvSpPr txBox="1"/>
          <p:nvPr/>
        </p:nvSpPr>
        <p:spPr>
          <a:xfrm>
            <a:off x="1645920" y="7635240"/>
            <a:ext cx="6720840" cy="342900"/>
          </a:xfrm>
          <a:prstGeom prst="rect">
            <a:avLst/>
          </a:prstGeom>
          <a:noFill/>
        </p:spPr>
        <p:txBody>
          <a:bodyPr wrap="square" anchor="t" lIns="0" rIns="0" tIns="0" bIns="0">
            <a:spAutoFit/>
          </a:bodyPr>
          <a:lstStyle/>
          <a:p>
            <a:pPr algn="l">
              <a:lnSpc>
                <a:spcPct val="126000"/>
              </a:lnSpc>
            </a:pPr>
            <a:r>
              <a:rPr sz="1800" b="0" i="0">
                <a:solidFill>
                  <a:srgbClr val="331B0D"/>
                </a:solidFill>
                <a:latin typeface="Open Sauce"/>
              </a:rPr>
              <a:t>DoSSIER: Dense Retrieval, Summarisation Reranking</a:t>
            </a:r>
          </a:p>
        </p:txBody>
      </p:sp>
      <p:sp>
        <p:nvSpPr>
          <p:cNvPr id="32" name="TextBox 31"/>
          <p:cNvSpPr txBox="1"/>
          <p:nvPr/>
        </p:nvSpPr>
        <p:spPr>
          <a:xfrm>
            <a:off x="8641080" y="7635240"/>
            <a:ext cx="8622792" cy="342900"/>
          </a:xfrm>
          <a:prstGeom prst="rect">
            <a:avLst/>
          </a:prstGeom>
          <a:noFill/>
        </p:spPr>
        <p:txBody>
          <a:bodyPr wrap="square" anchor="t" lIns="0" rIns="0" tIns="0" bIns="0">
            <a:spAutoFit/>
          </a:bodyPr>
          <a:lstStyle/>
          <a:p>
            <a:pPr algn="l">
              <a:lnSpc>
                <a:spcPct val="126000"/>
              </a:lnSpc>
            </a:pPr>
            <a:r>
              <a:rPr sz="1800" b="0" i="0">
                <a:solidFill>
                  <a:srgbClr val="8C7753"/>
                </a:solidFill>
                <a:latin typeface="Open Sauce"/>
              </a:rPr>
              <a:t>Long judgments via paragraph retrieval and summary reranking.</a:t>
            </a:r>
          </a:p>
        </p:txBody>
      </p:sp>
      <p:cxnSp>
        <p:nvCxnSpPr>
          <p:cNvPr id="33" name="Connector 32"/>
          <p:cNvCxnSpPr/>
          <p:nvPr/>
        </p:nvCxnSpPr>
        <p:spPr>
          <a:xfrm>
            <a:off x="1024128" y="8147304"/>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331B0D"/>
        </a:solidFill>
        <a:effectLst/>
      </p:bgPr>
    </p:bg>
    <p:spTree>
      <p:nvGrpSpPr>
        <p:cNvPr id="1" name=""/>
        <p:cNvGrpSpPr/>
        <p:nvPr/>
      </p:nvGrpSpPr>
      <p:grpSpPr/>
      <p:sp>
        <p:nvSpPr>
          <p:cNvPr id="2" name="Rectangle 1"/>
          <p:cNvSpPr/>
          <p:nvPr/>
        </p:nvSpPr>
        <p:spPr>
          <a:xfrm>
            <a:off x="0" y="0"/>
            <a:ext cx="274320" cy="10287000"/>
          </a:xfrm>
          <a:prstGeom prst="rect">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SECTION</a:t>
            </a:r>
          </a:p>
        </p:txBody>
      </p:sp>
      <p:sp>
        <p:nvSpPr>
          <p:cNvPr id="4" name="TextBox 3"/>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Draftly  |  Mid-evaluation</a:t>
            </a:r>
          </a:p>
        </p:txBody>
      </p:sp>
      <p:sp>
        <p:nvSpPr>
          <p:cNvPr id="5" name="TextBox 4"/>
          <p:cNvSpPr txBox="1"/>
          <p:nvPr/>
        </p:nvSpPr>
        <p:spPr>
          <a:xfrm>
            <a:off x="1024128" y="2788920"/>
            <a:ext cx="5486400" cy="1764792"/>
          </a:xfrm>
          <a:prstGeom prst="rect">
            <a:avLst/>
          </a:prstGeom>
          <a:noFill/>
        </p:spPr>
        <p:txBody>
          <a:bodyPr wrap="square" anchor="t" lIns="0" rIns="0" tIns="0" bIns="0">
            <a:spAutoFit/>
          </a:bodyPr>
          <a:lstStyle/>
          <a:p>
            <a:pPr algn="l">
              <a:lnSpc>
                <a:spcPct val="102000"/>
              </a:lnSpc>
            </a:pPr>
            <a:r>
              <a:rPr sz="13200" b="1" i="0">
                <a:solidFill>
                  <a:srgbClr val="8C7753"/>
                </a:solidFill>
                <a:latin typeface="Open Sauce Bold"/>
              </a:rPr>
              <a:t>03</a:t>
            </a:r>
          </a:p>
        </p:txBody>
      </p:sp>
      <p:sp>
        <p:nvSpPr>
          <p:cNvPr id="6" name="TextBox 5"/>
          <p:cNvSpPr txBox="1"/>
          <p:nvPr/>
        </p:nvSpPr>
        <p:spPr>
          <a:xfrm>
            <a:off x="1024128" y="5074920"/>
            <a:ext cx="13716000" cy="908304"/>
          </a:xfrm>
          <a:prstGeom prst="rect">
            <a:avLst/>
          </a:prstGeom>
          <a:noFill/>
        </p:spPr>
        <p:txBody>
          <a:bodyPr wrap="square" anchor="t" lIns="0" rIns="0" tIns="0" bIns="0">
            <a:spAutoFit/>
          </a:bodyPr>
          <a:lstStyle/>
          <a:p>
            <a:pPr algn="l">
              <a:lnSpc>
                <a:spcPct val="112000"/>
              </a:lnSpc>
            </a:pPr>
            <a:r>
              <a:rPr sz="6000" b="0" i="0">
                <a:solidFill>
                  <a:srgbClr val="FAF7F0"/>
                </a:solidFill>
                <a:latin typeface="Open Sauce"/>
              </a:rPr>
              <a:t>The drafting platform</a:t>
            </a:r>
          </a:p>
        </p:txBody>
      </p:sp>
      <p:cxnSp>
        <p:nvCxnSpPr>
          <p:cNvPr id="7" name="Connector 6"/>
          <p:cNvCxnSpPr/>
          <p:nvPr/>
        </p:nvCxnSpPr>
        <p:spPr>
          <a:xfrm>
            <a:off x="1024128" y="6720840"/>
            <a:ext cx="5486400" cy="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4128" y="7086600"/>
            <a:ext cx="11887200" cy="440435"/>
          </a:xfrm>
          <a:prstGeom prst="rect">
            <a:avLst/>
          </a:prstGeom>
          <a:noFill/>
        </p:spPr>
        <p:txBody>
          <a:bodyPr wrap="square" anchor="t" lIns="0" rIns="0" tIns="0" bIns="0">
            <a:spAutoFit/>
          </a:bodyPr>
          <a:lstStyle/>
          <a:p>
            <a:pPr algn="l">
              <a:lnSpc>
                <a:spcPct val="138000"/>
              </a:lnSpc>
            </a:pPr>
            <a:r>
              <a:rPr sz="2200" b="0" i="0">
                <a:solidFill>
                  <a:srgbClr val="F1EADC"/>
                </a:solidFill>
                <a:latin typeface="Open Sauce"/>
              </a:rPr>
              <a:t>Where the retrieved law turns into checks, prescribed forms and a reviewable draft.</a:t>
            </a:r>
          </a:p>
        </p:txBody>
      </p:sp>
      <p:sp>
        <p:nvSpPr>
          <p:cNvPr id="9" name="TextBox 8"/>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F1EADC"/>
                </a:solidFill>
                <a:latin typeface="Open Sauce"/>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PLATFORM SCOPE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19</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Four registration contexts, one starting point</a:t>
            </a:r>
          </a:p>
        </p:txBody>
      </p:sp>
      <p:sp>
        <p:nvSpPr>
          <p:cNvPr id="6" name="Rounded Rectangle 5"/>
          <p:cNvSpPr/>
          <p:nvPr/>
        </p:nvSpPr>
        <p:spPr>
          <a:xfrm>
            <a:off x="1024128" y="3108960"/>
            <a:ext cx="6675120" cy="1005840"/>
          </a:xfrm>
          <a:prstGeom prst="roundRect">
            <a:avLst>
              <a:gd name="adj" fmla="val 1090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35608" y="3108960"/>
            <a:ext cx="4937760" cy="1005840"/>
          </a:xfrm>
          <a:prstGeom prst="rect">
            <a:avLst/>
          </a:prstGeom>
          <a:noFill/>
        </p:spPr>
        <p:txBody>
          <a:bodyPr wrap="square" anchor="ctr" lIns="0" rIns="0" tIns="0" bIns="0">
            <a:spAutoFit/>
          </a:bodyPr>
          <a:lstStyle/>
          <a:p>
            <a:pPr algn="l">
              <a:lnSpc>
                <a:spcPct val="124000"/>
              </a:lnSpc>
            </a:pPr>
            <a:r>
              <a:rPr sz="2100" b="0" i="0">
                <a:solidFill>
                  <a:srgbClr val="331B0D"/>
                </a:solidFill>
                <a:latin typeface="Open Sauce"/>
              </a:rPr>
              <a:t>Registration of Documents Ordinance</a:t>
            </a:r>
          </a:p>
        </p:txBody>
      </p:sp>
      <p:sp>
        <p:nvSpPr>
          <p:cNvPr id="8" name="Rounded Rectangle 7"/>
          <p:cNvSpPr/>
          <p:nvPr/>
        </p:nvSpPr>
        <p:spPr>
          <a:xfrm>
            <a:off x="1024128" y="4251960"/>
            <a:ext cx="6675120" cy="1005840"/>
          </a:xfrm>
          <a:prstGeom prst="roundRect">
            <a:avLst>
              <a:gd name="adj" fmla="val 10909"/>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435608" y="4251960"/>
            <a:ext cx="4937760" cy="1005840"/>
          </a:xfrm>
          <a:prstGeom prst="rect">
            <a:avLst/>
          </a:prstGeom>
          <a:noFill/>
        </p:spPr>
        <p:txBody>
          <a:bodyPr wrap="square" anchor="ctr" lIns="0" rIns="0" tIns="0" bIns="0">
            <a:spAutoFit/>
          </a:bodyPr>
          <a:lstStyle/>
          <a:p>
            <a:pPr algn="l">
              <a:lnSpc>
                <a:spcPct val="124000"/>
              </a:lnSpc>
            </a:pPr>
            <a:r>
              <a:rPr sz="2100" b="0" i="0">
                <a:solidFill>
                  <a:srgbClr val="FAF7F0"/>
                </a:solidFill>
                <a:latin typeface="Open Sauce"/>
              </a:rPr>
              <a:t>Registration of Title Act</a:t>
            </a:r>
          </a:p>
        </p:txBody>
      </p:sp>
      <p:sp>
        <p:nvSpPr>
          <p:cNvPr id="10" name="TextBox 9"/>
          <p:cNvSpPr txBox="1"/>
          <p:nvPr/>
        </p:nvSpPr>
        <p:spPr>
          <a:xfrm>
            <a:off x="6464808" y="4251960"/>
            <a:ext cx="822960" cy="1005840"/>
          </a:xfrm>
          <a:prstGeom prst="rect">
            <a:avLst/>
          </a:prstGeom>
          <a:noFill/>
        </p:spPr>
        <p:txBody>
          <a:bodyPr wrap="square" anchor="ctr" lIns="0" rIns="0" tIns="0" bIns="0">
            <a:spAutoFit/>
          </a:bodyPr>
          <a:lstStyle/>
          <a:p>
            <a:pPr algn="r">
              <a:lnSpc>
                <a:spcPct val="120000"/>
              </a:lnSpc>
            </a:pPr>
            <a:r>
              <a:rPr sz="2000" b="1" i="0">
                <a:solidFill>
                  <a:srgbClr val="8C7753"/>
                </a:solidFill>
                <a:latin typeface="Open Sauce Bold"/>
              </a:rPr>
              <a:t>V1</a:t>
            </a:r>
          </a:p>
        </p:txBody>
      </p:sp>
      <p:sp>
        <p:nvSpPr>
          <p:cNvPr id="11" name="Rounded Rectangle 10"/>
          <p:cNvSpPr/>
          <p:nvPr/>
        </p:nvSpPr>
        <p:spPr>
          <a:xfrm>
            <a:off x="1024128" y="5394960"/>
            <a:ext cx="6675120" cy="1005840"/>
          </a:xfrm>
          <a:prstGeom prst="roundRect">
            <a:avLst>
              <a:gd name="adj" fmla="val 1090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435608" y="5394960"/>
            <a:ext cx="4937760" cy="1005840"/>
          </a:xfrm>
          <a:prstGeom prst="rect">
            <a:avLst/>
          </a:prstGeom>
          <a:noFill/>
        </p:spPr>
        <p:txBody>
          <a:bodyPr wrap="square" anchor="ctr" lIns="0" rIns="0" tIns="0" bIns="0">
            <a:spAutoFit/>
          </a:bodyPr>
          <a:lstStyle/>
          <a:p>
            <a:pPr algn="l">
              <a:lnSpc>
                <a:spcPct val="124000"/>
              </a:lnSpc>
            </a:pPr>
            <a:r>
              <a:rPr sz="2100" b="0" i="0">
                <a:solidFill>
                  <a:srgbClr val="331B0D"/>
                </a:solidFill>
                <a:latin typeface="Open Sauce"/>
              </a:rPr>
              <a:t>Apartment ownership</a:t>
            </a:r>
          </a:p>
        </p:txBody>
      </p:sp>
      <p:sp>
        <p:nvSpPr>
          <p:cNvPr id="13" name="Rounded Rectangle 12"/>
          <p:cNvSpPr/>
          <p:nvPr/>
        </p:nvSpPr>
        <p:spPr>
          <a:xfrm>
            <a:off x="1024128" y="6537960"/>
            <a:ext cx="6675120" cy="1005840"/>
          </a:xfrm>
          <a:prstGeom prst="roundRect">
            <a:avLst>
              <a:gd name="adj" fmla="val 1090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435608" y="6537960"/>
            <a:ext cx="4937760" cy="1005840"/>
          </a:xfrm>
          <a:prstGeom prst="rect">
            <a:avLst/>
          </a:prstGeom>
          <a:noFill/>
        </p:spPr>
        <p:txBody>
          <a:bodyPr wrap="square" anchor="ctr" lIns="0" rIns="0" tIns="0" bIns="0">
            <a:spAutoFit/>
          </a:bodyPr>
          <a:lstStyle/>
          <a:p>
            <a:pPr algn="l">
              <a:lnSpc>
                <a:spcPct val="124000"/>
              </a:lnSpc>
            </a:pPr>
            <a:r>
              <a:rPr sz="2100" b="0" i="0">
                <a:solidFill>
                  <a:srgbClr val="331B0D"/>
                </a:solidFill>
                <a:latin typeface="Open Sauce"/>
              </a:rPr>
              <a:t>Special-area registration</a:t>
            </a:r>
          </a:p>
        </p:txBody>
      </p:sp>
      <p:sp>
        <p:nvSpPr>
          <p:cNvPr id="15" name="TextBox 14"/>
          <p:cNvSpPr txBox="1"/>
          <p:nvPr/>
        </p:nvSpPr>
        <p:spPr>
          <a:xfrm>
            <a:off x="1024128" y="7863840"/>
            <a:ext cx="6675120" cy="658368"/>
          </a:xfrm>
          <a:prstGeom prst="rect">
            <a:avLst/>
          </a:prstGeom>
          <a:noFill/>
        </p:spPr>
        <p:txBody>
          <a:bodyPr wrap="square" anchor="t" lIns="0" rIns="0" tIns="0" bIns="0">
            <a:spAutoFit/>
          </a:bodyPr>
          <a:lstStyle/>
          <a:p>
            <a:pPr algn="l">
              <a:lnSpc>
                <a:spcPct val="132000"/>
              </a:lnSpc>
            </a:pPr>
            <a:r>
              <a:rPr sz="1800" b="0" i="1">
                <a:solidFill>
                  <a:srgbClr val="8C7753"/>
                </a:solidFill>
                <a:latin typeface="Open Sauce Italics"/>
              </a:rPr>
              <a:t>Each regime differs in ownership effect, documents, forms, verification and registration process.</a:t>
            </a:r>
          </a:p>
        </p:txBody>
      </p:sp>
      <p:sp>
        <p:nvSpPr>
          <p:cNvPr id="16" name="TextBox 15"/>
          <p:cNvSpPr txBox="1"/>
          <p:nvPr/>
        </p:nvSpPr>
        <p:spPr>
          <a:xfrm>
            <a:off x="8503920" y="3154680"/>
            <a:ext cx="8759952"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Why we start with the Registration of Title Act No. 21 of 1998</a:t>
            </a:r>
          </a:p>
        </p:txBody>
      </p:sp>
      <p:sp>
        <p:nvSpPr>
          <p:cNvPr id="17" name="TextBox 16"/>
          <p:cNvSpPr txBox="1"/>
          <p:nvPr/>
        </p:nvSpPr>
        <p:spPr>
          <a:xfrm>
            <a:off x="8503920" y="4434840"/>
            <a:ext cx="8759952" cy="2668524"/>
          </a:xfrm>
          <a:prstGeom prst="rect">
            <a:avLst/>
          </a:prstGeom>
          <a:noFill/>
        </p:spPr>
        <p:txBody>
          <a:bodyPr wrap="square" anchor="t" lIns="0" rIns="0" tIns="0" bIns="0">
            <a:spAutoFit/>
          </a:bodyPr>
          <a:lstStyle/>
          <a:p>
            <a:pPr algn="l" marL="310896" indent="-310896">
              <a:lnSpc>
                <a:spcPct val="134000"/>
              </a:lnSpc>
            </a:pPr>
            <a:r>
              <a:rPr sz="2000" b="0" i="0">
                <a:solidFill>
                  <a:srgbClr val="331B0D"/>
                </a:solidFill>
                <a:latin typeface="Open Sauce"/>
              </a:rPr>
              <a:t>•   The workflow is statute-driven and structured</a:t>
            </a:r>
          </a:p>
          <a:p>
            <a:pPr algn="l" marL="310896" indent="-310896">
              <a:lnSpc>
                <a:spcPct val="134000"/>
              </a:lnSpc>
              <a:spcBef>
                <a:spcPts val="900"/>
              </a:spcBef>
            </a:pPr>
            <a:r>
              <a:rPr sz="2000" b="0" i="0">
                <a:solidFill>
                  <a:srgbClr val="331B0D"/>
                </a:solidFill>
                <a:latin typeface="Open Sauce"/>
              </a:rPr>
              <a:t>•   It uses prescribed forms published in the gazette</a:t>
            </a:r>
          </a:p>
          <a:p>
            <a:pPr algn="l" marL="310896" indent="-310896">
              <a:lnSpc>
                <a:spcPct val="134000"/>
              </a:lnSpc>
              <a:spcBef>
                <a:spcPts val="900"/>
              </a:spcBef>
            </a:pPr>
            <a:r>
              <a:rPr sz="2000" b="0" i="0">
                <a:solidFill>
                  <a:srgbClr val="331B0D"/>
                </a:solidFill>
                <a:latin typeface="Open Sauce"/>
              </a:rPr>
              <a:t>•   The scope is comparatively self-contained</a:t>
            </a:r>
          </a:p>
          <a:p>
            <a:pPr algn="l" marL="310896" indent="-310896">
              <a:lnSpc>
                <a:spcPct val="134000"/>
              </a:lnSpc>
              <a:spcBef>
                <a:spcPts val="900"/>
              </a:spcBef>
            </a:pPr>
            <a:r>
              <a:rPr sz="2000" b="0" i="0">
                <a:solidFill>
                  <a:srgbClr val="331B0D"/>
                </a:solidFill>
                <a:latin typeface="Open Sauce"/>
              </a:rPr>
              <a:t>•   Its documents are generally more machine-readable</a:t>
            </a:r>
          </a:p>
          <a:p>
            <a:pPr algn="l" marL="310896" indent="-310896">
              <a:lnSpc>
                <a:spcPct val="134000"/>
              </a:lnSpc>
              <a:spcBef>
                <a:spcPts val="900"/>
              </a:spcBef>
            </a:pPr>
            <a:r>
              <a:rPr sz="2000" b="0" i="0">
                <a:solidFill>
                  <a:srgbClr val="331B0D"/>
                </a:solidFill>
                <a:latin typeface="Open Sauce"/>
              </a:rPr>
              <a:t>•   Practitioners are often unfamiliar with its procedures</a:t>
            </a:r>
          </a:p>
          <a:p>
            <a:pPr algn="l" marL="310896" indent="-310896">
              <a:lnSpc>
                <a:spcPct val="134000"/>
              </a:lnSpc>
              <a:spcBef>
                <a:spcPts val="900"/>
              </a:spcBef>
            </a:pPr>
            <a:r>
              <a:rPr sz="2000" b="0" i="0">
                <a:solidFill>
                  <a:srgbClr val="331B0D"/>
                </a:solidFill>
                <a:latin typeface="Open Sauce"/>
              </a:rPr>
              <a:t>•   It is a manageable domain to build and evaluate against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PLATFORM SCOPE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20</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Six notarial functions, four in scope</a:t>
            </a:r>
          </a:p>
        </p:txBody>
      </p:sp>
      <p:sp>
        <p:nvSpPr>
          <p:cNvPr id="6" name="Rounded Rectangle 5"/>
          <p:cNvSpPr/>
          <p:nvPr/>
        </p:nvSpPr>
        <p:spPr>
          <a:xfrm>
            <a:off x="1024128" y="3154680"/>
            <a:ext cx="2478023" cy="2103120"/>
          </a:xfrm>
          <a:prstGeom prst="roundRect">
            <a:avLst>
              <a:gd name="adj" fmla="val 6086"/>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44168" y="3456432"/>
            <a:ext cx="1837943" cy="334264"/>
          </a:xfrm>
          <a:prstGeom prst="rect">
            <a:avLst/>
          </a:prstGeom>
          <a:noFill/>
        </p:spPr>
        <p:txBody>
          <a:bodyPr wrap="square" anchor="t" lIns="0" rIns="0" tIns="0" bIns="0">
            <a:spAutoFit/>
          </a:bodyPr>
          <a:lstStyle/>
          <a:p>
            <a:pPr algn="l">
              <a:lnSpc>
                <a:spcPct val="110000"/>
              </a:lnSpc>
            </a:pPr>
            <a:r>
              <a:rPr sz="2000" b="1" i="0">
                <a:solidFill>
                  <a:srgbClr val="8C7753"/>
                </a:solidFill>
                <a:latin typeface="Open Sauce Bold"/>
              </a:rPr>
              <a:t>01</a:t>
            </a:r>
          </a:p>
        </p:txBody>
      </p:sp>
      <p:sp>
        <p:nvSpPr>
          <p:cNvPr id="8" name="TextBox 7"/>
          <p:cNvSpPr txBox="1"/>
          <p:nvPr/>
        </p:nvSpPr>
        <p:spPr>
          <a:xfrm>
            <a:off x="1344168" y="3950208"/>
            <a:ext cx="1837943" cy="705612"/>
          </a:xfrm>
          <a:prstGeom prst="rect">
            <a:avLst/>
          </a:prstGeom>
          <a:noFill/>
        </p:spPr>
        <p:txBody>
          <a:bodyPr wrap="square" anchor="t" lIns="0" rIns="0" tIns="0" bIns="0">
            <a:spAutoFit/>
          </a:bodyPr>
          <a:lstStyle/>
          <a:p>
            <a:pPr algn="l">
              <a:lnSpc>
                <a:spcPct val="122000"/>
              </a:lnSpc>
            </a:pPr>
            <a:r>
              <a:rPr sz="2100" b="0" i="0">
                <a:solidFill>
                  <a:srgbClr val="FAF7F0"/>
                </a:solidFill>
                <a:latin typeface="Open Sauce"/>
              </a:rPr>
              <a:t>Examination of title</a:t>
            </a:r>
          </a:p>
        </p:txBody>
      </p:sp>
      <p:sp>
        <p:nvSpPr>
          <p:cNvPr id="9" name="TextBox 8"/>
          <p:cNvSpPr txBox="1"/>
          <p:nvPr/>
        </p:nvSpPr>
        <p:spPr>
          <a:xfrm>
            <a:off x="1344168" y="4828032"/>
            <a:ext cx="1837943" cy="298704"/>
          </a:xfrm>
          <a:prstGeom prst="rect">
            <a:avLst/>
          </a:prstGeom>
          <a:noFill/>
        </p:spPr>
        <p:txBody>
          <a:bodyPr wrap="square" anchor="t" lIns="0" rIns="0" tIns="0" bIns="0">
            <a:spAutoFit/>
          </a:bodyPr>
          <a:lstStyle/>
          <a:p>
            <a:pPr algn="l">
              <a:lnSpc>
                <a:spcPct val="120000"/>
              </a:lnSpc>
            </a:pPr>
            <a:r>
              <a:rPr sz="1600" b="0" i="1">
                <a:solidFill>
                  <a:srgbClr val="8C7753"/>
                </a:solidFill>
                <a:latin typeface="Open Sauce Italics"/>
              </a:rPr>
              <a:t>in scope</a:t>
            </a:r>
          </a:p>
        </p:txBody>
      </p:sp>
      <p:sp>
        <p:nvSpPr>
          <p:cNvPr id="10" name="Rounded Rectangle 9"/>
          <p:cNvSpPr/>
          <p:nvPr/>
        </p:nvSpPr>
        <p:spPr>
          <a:xfrm>
            <a:off x="3776471" y="3154680"/>
            <a:ext cx="2478023" cy="2103120"/>
          </a:xfrm>
          <a:prstGeom prst="roundRect">
            <a:avLst>
              <a:gd name="adj" fmla="val 6086"/>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096511" y="3456432"/>
            <a:ext cx="1837943" cy="334264"/>
          </a:xfrm>
          <a:prstGeom prst="rect">
            <a:avLst/>
          </a:prstGeom>
          <a:noFill/>
        </p:spPr>
        <p:txBody>
          <a:bodyPr wrap="square" anchor="t" lIns="0" rIns="0" tIns="0" bIns="0">
            <a:spAutoFit/>
          </a:bodyPr>
          <a:lstStyle/>
          <a:p>
            <a:pPr algn="l">
              <a:lnSpc>
                <a:spcPct val="110000"/>
              </a:lnSpc>
            </a:pPr>
            <a:r>
              <a:rPr sz="2000" b="1" i="0">
                <a:solidFill>
                  <a:srgbClr val="8C7753"/>
                </a:solidFill>
                <a:latin typeface="Open Sauce Bold"/>
              </a:rPr>
              <a:t>02</a:t>
            </a:r>
          </a:p>
        </p:txBody>
      </p:sp>
      <p:sp>
        <p:nvSpPr>
          <p:cNvPr id="12" name="TextBox 11"/>
          <p:cNvSpPr txBox="1"/>
          <p:nvPr/>
        </p:nvSpPr>
        <p:spPr>
          <a:xfrm>
            <a:off x="4096511" y="3950208"/>
            <a:ext cx="1837943" cy="380238"/>
          </a:xfrm>
          <a:prstGeom prst="rect">
            <a:avLst/>
          </a:prstGeom>
          <a:noFill/>
        </p:spPr>
        <p:txBody>
          <a:bodyPr wrap="square" anchor="t" lIns="0" rIns="0" tIns="0" bIns="0">
            <a:spAutoFit/>
          </a:bodyPr>
          <a:lstStyle/>
          <a:p>
            <a:pPr algn="l">
              <a:lnSpc>
                <a:spcPct val="122000"/>
              </a:lnSpc>
            </a:pPr>
            <a:r>
              <a:rPr sz="2100" b="0" i="0">
                <a:solidFill>
                  <a:srgbClr val="FAF7F0"/>
                </a:solidFill>
                <a:latin typeface="Open Sauce"/>
              </a:rPr>
              <a:t>Drafting</a:t>
            </a:r>
          </a:p>
        </p:txBody>
      </p:sp>
      <p:sp>
        <p:nvSpPr>
          <p:cNvPr id="13" name="TextBox 12"/>
          <p:cNvSpPr txBox="1"/>
          <p:nvPr/>
        </p:nvSpPr>
        <p:spPr>
          <a:xfrm>
            <a:off x="4096511" y="4828032"/>
            <a:ext cx="1837943" cy="298704"/>
          </a:xfrm>
          <a:prstGeom prst="rect">
            <a:avLst/>
          </a:prstGeom>
          <a:noFill/>
        </p:spPr>
        <p:txBody>
          <a:bodyPr wrap="square" anchor="t" lIns="0" rIns="0" tIns="0" bIns="0">
            <a:spAutoFit/>
          </a:bodyPr>
          <a:lstStyle/>
          <a:p>
            <a:pPr algn="l">
              <a:lnSpc>
                <a:spcPct val="120000"/>
              </a:lnSpc>
            </a:pPr>
            <a:r>
              <a:rPr sz="1600" b="0" i="1">
                <a:solidFill>
                  <a:srgbClr val="8C7753"/>
                </a:solidFill>
                <a:latin typeface="Open Sauce Italics"/>
              </a:rPr>
              <a:t>in scope</a:t>
            </a:r>
          </a:p>
        </p:txBody>
      </p:sp>
      <p:sp>
        <p:nvSpPr>
          <p:cNvPr id="14" name="Rounded Rectangle 13"/>
          <p:cNvSpPr/>
          <p:nvPr/>
        </p:nvSpPr>
        <p:spPr>
          <a:xfrm>
            <a:off x="6528815" y="3154680"/>
            <a:ext cx="2478023" cy="2103120"/>
          </a:xfrm>
          <a:prstGeom prst="roundRect">
            <a:avLst>
              <a:gd name="adj" fmla="val 6086"/>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848855" y="3456432"/>
            <a:ext cx="1837943" cy="334264"/>
          </a:xfrm>
          <a:prstGeom prst="rect">
            <a:avLst/>
          </a:prstGeom>
          <a:noFill/>
        </p:spPr>
        <p:txBody>
          <a:bodyPr wrap="square" anchor="t" lIns="0" rIns="0" tIns="0" bIns="0">
            <a:spAutoFit/>
          </a:bodyPr>
          <a:lstStyle/>
          <a:p>
            <a:pPr algn="l">
              <a:lnSpc>
                <a:spcPct val="110000"/>
              </a:lnSpc>
            </a:pPr>
            <a:r>
              <a:rPr sz="2000" b="1" i="0">
                <a:solidFill>
                  <a:srgbClr val="8C7753"/>
                </a:solidFill>
                <a:latin typeface="Open Sauce Bold"/>
              </a:rPr>
              <a:t>03</a:t>
            </a:r>
          </a:p>
        </p:txBody>
      </p:sp>
      <p:sp>
        <p:nvSpPr>
          <p:cNvPr id="16" name="TextBox 15"/>
          <p:cNvSpPr txBox="1"/>
          <p:nvPr/>
        </p:nvSpPr>
        <p:spPr>
          <a:xfrm>
            <a:off x="6848855" y="3950208"/>
            <a:ext cx="1837943" cy="380238"/>
          </a:xfrm>
          <a:prstGeom prst="rect">
            <a:avLst/>
          </a:prstGeom>
          <a:noFill/>
        </p:spPr>
        <p:txBody>
          <a:bodyPr wrap="square" anchor="t" lIns="0" rIns="0" tIns="0" bIns="0">
            <a:spAutoFit/>
          </a:bodyPr>
          <a:lstStyle/>
          <a:p>
            <a:pPr algn="l">
              <a:lnSpc>
                <a:spcPct val="122000"/>
              </a:lnSpc>
            </a:pPr>
            <a:r>
              <a:rPr sz="2100" b="0" i="0">
                <a:solidFill>
                  <a:srgbClr val="FAF7F0"/>
                </a:solidFill>
                <a:latin typeface="Open Sauce"/>
              </a:rPr>
              <a:t>Execution</a:t>
            </a:r>
          </a:p>
        </p:txBody>
      </p:sp>
      <p:sp>
        <p:nvSpPr>
          <p:cNvPr id="17" name="TextBox 16"/>
          <p:cNvSpPr txBox="1"/>
          <p:nvPr/>
        </p:nvSpPr>
        <p:spPr>
          <a:xfrm>
            <a:off x="6848855" y="4828032"/>
            <a:ext cx="1837943" cy="298704"/>
          </a:xfrm>
          <a:prstGeom prst="rect">
            <a:avLst/>
          </a:prstGeom>
          <a:noFill/>
        </p:spPr>
        <p:txBody>
          <a:bodyPr wrap="square" anchor="t" lIns="0" rIns="0" tIns="0" bIns="0">
            <a:spAutoFit/>
          </a:bodyPr>
          <a:lstStyle/>
          <a:p>
            <a:pPr algn="l">
              <a:lnSpc>
                <a:spcPct val="120000"/>
              </a:lnSpc>
            </a:pPr>
            <a:r>
              <a:rPr sz="1600" b="0" i="1">
                <a:solidFill>
                  <a:srgbClr val="8C7753"/>
                </a:solidFill>
                <a:latin typeface="Open Sauce Italics"/>
              </a:rPr>
              <a:t>in scope</a:t>
            </a:r>
          </a:p>
        </p:txBody>
      </p:sp>
      <p:sp>
        <p:nvSpPr>
          <p:cNvPr id="18" name="Rounded Rectangle 17"/>
          <p:cNvSpPr/>
          <p:nvPr/>
        </p:nvSpPr>
        <p:spPr>
          <a:xfrm>
            <a:off x="9281159" y="3154680"/>
            <a:ext cx="2478023" cy="2103120"/>
          </a:xfrm>
          <a:prstGeom prst="roundRect">
            <a:avLst>
              <a:gd name="adj" fmla="val 608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01199" y="3456432"/>
            <a:ext cx="1837943" cy="334264"/>
          </a:xfrm>
          <a:prstGeom prst="rect">
            <a:avLst/>
          </a:prstGeom>
          <a:noFill/>
        </p:spPr>
        <p:txBody>
          <a:bodyPr wrap="square" anchor="t" lIns="0" rIns="0" tIns="0" bIns="0">
            <a:spAutoFit/>
          </a:bodyPr>
          <a:lstStyle/>
          <a:p>
            <a:pPr algn="l">
              <a:lnSpc>
                <a:spcPct val="110000"/>
              </a:lnSpc>
            </a:pPr>
            <a:r>
              <a:rPr sz="2000" b="1" i="0">
                <a:solidFill>
                  <a:srgbClr val="8C7753"/>
                </a:solidFill>
                <a:latin typeface="Open Sauce Bold"/>
              </a:rPr>
              <a:t>04</a:t>
            </a:r>
          </a:p>
        </p:txBody>
      </p:sp>
      <p:sp>
        <p:nvSpPr>
          <p:cNvPr id="20" name="TextBox 19"/>
          <p:cNvSpPr txBox="1"/>
          <p:nvPr/>
        </p:nvSpPr>
        <p:spPr>
          <a:xfrm>
            <a:off x="9601199" y="3950208"/>
            <a:ext cx="1837943" cy="380238"/>
          </a:xfrm>
          <a:prstGeom prst="rect">
            <a:avLst/>
          </a:prstGeom>
          <a:noFill/>
        </p:spPr>
        <p:txBody>
          <a:bodyPr wrap="square" anchor="t" lIns="0" rIns="0" tIns="0" bIns="0">
            <a:spAutoFit/>
          </a:bodyPr>
          <a:lstStyle/>
          <a:p>
            <a:pPr algn="l">
              <a:lnSpc>
                <a:spcPct val="122000"/>
              </a:lnSpc>
            </a:pPr>
            <a:r>
              <a:rPr sz="2100" b="0" i="0">
                <a:solidFill>
                  <a:srgbClr val="331B0D"/>
                </a:solidFill>
                <a:latin typeface="Open Sauce"/>
              </a:rPr>
              <a:t>Stamping</a:t>
            </a:r>
          </a:p>
        </p:txBody>
      </p:sp>
      <p:sp>
        <p:nvSpPr>
          <p:cNvPr id="21" name="TextBox 20"/>
          <p:cNvSpPr txBox="1"/>
          <p:nvPr/>
        </p:nvSpPr>
        <p:spPr>
          <a:xfrm>
            <a:off x="9601199" y="4828032"/>
            <a:ext cx="1837943" cy="298704"/>
          </a:xfrm>
          <a:prstGeom prst="rect">
            <a:avLst/>
          </a:prstGeom>
          <a:noFill/>
        </p:spPr>
        <p:txBody>
          <a:bodyPr wrap="square" anchor="t" lIns="0" rIns="0" tIns="0" bIns="0">
            <a:spAutoFit/>
          </a:bodyPr>
          <a:lstStyle/>
          <a:p>
            <a:pPr algn="l">
              <a:lnSpc>
                <a:spcPct val="120000"/>
              </a:lnSpc>
            </a:pPr>
            <a:r>
              <a:rPr sz="1600" b="0" i="1">
                <a:solidFill>
                  <a:srgbClr val="8C7753"/>
                </a:solidFill>
                <a:latin typeface="Open Sauce Italics"/>
              </a:rPr>
              <a:t>later</a:t>
            </a:r>
          </a:p>
        </p:txBody>
      </p:sp>
      <p:sp>
        <p:nvSpPr>
          <p:cNvPr id="22" name="Rounded Rectangle 21"/>
          <p:cNvSpPr/>
          <p:nvPr/>
        </p:nvSpPr>
        <p:spPr>
          <a:xfrm>
            <a:off x="12033503" y="3154680"/>
            <a:ext cx="2478023" cy="2103120"/>
          </a:xfrm>
          <a:prstGeom prst="roundRect">
            <a:avLst>
              <a:gd name="adj" fmla="val 6086"/>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2353543" y="3456432"/>
            <a:ext cx="1837943" cy="334264"/>
          </a:xfrm>
          <a:prstGeom prst="rect">
            <a:avLst/>
          </a:prstGeom>
          <a:noFill/>
        </p:spPr>
        <p:txBody>
          <a:bodyPr wrap="square" anchor="t" lIns="0" rIns="0" tIns="0" bIns="0">
            <a:spAutoFit/>
          </a:bodyPr>
          <a:lstStyle/>
          <a:p>
            <a:pPr algn="l">
              <a:lnSpc>
                <a:spcPct val="110000"/>
              </a:lnSpc>
            </a:pPr>
            <a:r>
              <a:rPr sz="2000" b="1" i="0">
                <a:solidFill>
                  <a:srgbClr val="8C7753"/>
                </a:solidFill>
                <a:latin typeface="Open Sauce Bold"/>
              </a:rPr>
              <a:t>05</a:t>
            </a:r>
          </a:p>
        </p:txBody>
      </p:sp>
      <p:sp>
        <p:nvSpPr>
          <p:cNvPr id="24" name="TextBox 23"/>
          <p:cNvSpPr txBox="1"/>
          <p:nvPr/>
        </p:nvSpPr>
        <p:spPr>
          <a:xfrm>
            <a:off x="12353543" y="3950208"/>
            <a:ext cx="1837943" cy="380238"/>
          </a:xfrm>
          <a:prstGeom prst="rect">
            <a:avLst/>
          </a:prstGeom>
          <a:noFill/>
        </p:spPr>
        <p:txBody>
          <a:bodyPr wrap="square" anchor="t" lIns="0" rIns="0" tIns="0" bIns="0">
            <a:spAutoFit/>
          </a:bodyPr>
          <a:lstStyle/>
          <a:p>
            <a:pPr algn="l">
              <a:lnSpc>
                <a:spcPct val="122000"/>
              </a:lnSpc>
            </a:pPr>
            <a:r>
              <a:rPr sz="2100" b="0" i="0">
                <a:solidFill>
                  <a:srgbClr val="FAF7F0"/>
                </a:solidFill>
                <a:latin typeface="Open Sauce"/>
              </a:rPr>
              <a:t>Attestation</a:t>
            </a:r>
          </a:p>
        </p:txBody>
      </p:sp>
      <p:sp>
        <p:nvSpPr>
          <p:cNvPr id="25" name="TextBox 24"/>
          <p:cNvSpPr txBox="1"/>
          <p:nvPr/>
        </p:nvSpPr>
        <p:spPr>
          <a:xfrm>
            <a:off x="12353543" y="4828032"/>
            <a:ext cx="1837943" cy="298704"/>
          </a:xfrm>
          <a:prstGeom prst="rect">
            <a:avLst/>
          </a:prstGeom>
          <a:noFill/>
        </p:spPr>
        <p:txBody>
          <a:bodyPr wrap="square" anchor="t" lIns="0" rIns="0" tIns="0" bIns="0">
            <a:spAutoFit/>
          </a:bodyPr>
          <a:lstStyle/>
          <a:p>
            <a:pPr algn="l">
              <a:lnSpc>
                <a:spcPct val="120000"/>
              </a:lnSpc>
            </a:pPr>
            <a:r>
              <a:rPr sz="1600" b="0" i="1">
                <a:solidFill>
                  <a:srgbClr val="8C7753"/>
                </a:solidFill>
                <a:latin typeface="Open Sauce Italics"/>
              </a:rPr>
              <a:t>in scope</a:t>
            </a:r>
          </a:p>
        </p:txBody>
      </p:sp>
      <p:sp>
        <p:nvSpPr>
          <p:cNvPr id="26" name="Rounded Rectangle 25"/>
          <p:cNvSpPr/>
          <p:nvPr/>
        </p:nvSpPr>
        <p:spPr>
          <a:xfrm>
            <a:off x="14785847" y="3154680"/>
            <a:ext cx="2478023" cy="2103120"/>
          </a:xfrm>
          <a:prstGeom prst="roundRect">
            <a:avLst>
              <a:gd name="adj" fmla="val 608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5105888" y="3456432"/>
            <a:ext cx="1837943" cy="334264"/>
          </a:xfrm>
          <a:prstGeom prst="rect">
            <a:avLst/>
          </a:prstGeom>
          <a:noFill/>
        </p:spPr>
        <p:txBody>
          <a:bodyPr wrap="square" anchor="t" lIns="0" rIns="0" tIns="0" bIns="0">
            <a:spAutoFit/>
          </a:bodyPr>
          <a:lstStyle/>
          <a:p>
            <a:pPr algn="l">
              <a:lnSpc>
                <a:spcPct val="110000"/>
              </a:lnSpc>
            </a:pPr>
            <a:r>
              <a:rPr sz="2000" b="1" i="0">
                <a:solidFill>
                  <a:srgbClr val="8C7753"/>
                </a:solidFill>
                <a:latin typeface="Open Sauce Bold"/>
              </a:rPr>
              <a:t>06</a:t>
            </a:r>
          </a:p>
        </p:txBody>
      </p:sp>
      <p:sp>
        <p:nvSpPr>
          <p:cNvPr id="28" name="TextBox 27"/>
          <p:cNvSpPr txBox="1"/>
          <p:nvPr/>
        </p:nvSpPr>
        <p:spPr>
          <a:xfrm>
            <a:off x="15105888" y="3950208"/>
            <a:ext cx="1837943" cy="380238"/>
          </a:xfrm>
          <a:prstGeom prst="rect">
            <a:avLst/>
          </a:prstGeom>
          <a:noFill/>
        </p:spPr>
        <p:txBody>
          <a:bodyPr wrap="square" anchor="t" lIns="0" rIns="0" tIns="0" bIns="0">
            <a:spAutoFit/>
          </a:bodyPr>
          <a:lstStyle/>
          <a:p>
            <a:pPr algn="l">
              <a:lnSpc>
                <a:spcPct val="122000"/>
              </a:lnSpc>
            </a:pPr>
            <a:r>
              <a:rPr sz="2100" b="0" i="0">
                <a:solidFill>
                  <a:srgbClr val="331B0D"/>
                </a:solidFill>
                <a:latin typeface="Open Sauce"/>
              </a:rPr>
              <a:t>Registration</a:t>
            </a:r>
          </a:p>
        </p:txBody>
      </p:sp>
      <p:sp>
        <p:nvSpPr>
          <p:cNvPr id="29" name="TextBox 28"/>
          <p:cNvSpPr txBox="1"/>
          <p:nvPr/>
        </p:nvSpPr>
        <p:spPr>
          <a:xfrm>
            <a:off x="15105888" y="4828032"/>
            <a:ext cx="1837943" cy="298704"/>
          </a:xfrm>
          <a:prstGeom prst="rect">
            <a:avLst/>
          </a:prstGeom>
          <a:noFill/>
        </p:spPr>
        <p:txBody>
          <a:bodyPr wrap="square" anchor="t" lIns="0" rIns="0" tIns="0" bIns="0">
            <a:spAutoFit/>
          </a:bodyPr>
          <a:lstStyle/>
          <a:p>
            <a:pPr algn="l">
              <a:lnSpc>
                <a:spcPct val="120000"/>
              </a:lnSpc>
            </a:pPr>
            <a:r>
              <a:rPr sz="1600" b="0" i="1">
                <a:solidFill>
                  <a:srgbClr val="8C7753"/>
                </a:solidFill>
                <a:latin typeface="Open Sauce Italics"/>
              </a:rPr>
              <a:t>later</a:t>
            </a:r>
          </a:p>
        </p:txBody>
      </p:sp>
      <p:cxnSp>
        <p:nvCxnSpPr>
          <p:cNvPr id="30" name="Connector 29"/>
          <p:cNvCxnSpPr/>
          <p:nvPr/>
        </p:nvCxnSpPr>
        <p:spPr>
          <a:xfrm>
            <a:off x="1024128" y="5715000"/>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024128" y="6035040"/>
            <a:ext cx="775411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In the first version</a:t>
            </a:r>
          </a:p>
        </p:txBody>
      </p:sp>
      <p:sp>
        <p:nvSpPr>
          <p:cNvPr id="32" name="TextBox 31"/>
          <p:cNvSpPr txBox="1"/>
          <p:nvPr/>
        </p:nvSpPr>
        <p:spPr>
          <a:xfrm>
            <a:off x="1024128" y="6675120"/>
            <a:ext cx="7754111" cy="1614932"/>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Post-certificate RTA transactions</a:t>
            </a:r>
          </a:p>
          <a:p>
            <a:pPr algn="l" marL="310896" indent="-310896">
              <a:lnSpc>
                <a:spcPct val="134000"/>
              </a:lnSpc>
              <a:spcBef>
                <a:spcPts val="700"/>
              </a:spcBef>
            </a:pPr>
            <a:r>
              <a:rPr sz="1900" b="0" i="0">
                <a:solidFill>
                  <a:srgbClr val="331B0D"/>
                </a:solidFill>
                <a:latin typeface="Open Sauce"/>
              </a:rPr>
              <a:t>•   Retrieval of the applicable statutes and regulations</a:t>
            </a:r>
          </a:p>
          <a:p>
            <a:pPr algn="l" marL="310896" indent="-310896">
              <a:lnSpc>
                <a:spcPct val="134000"/>
              </a:lnSpc>
              <a:spcBef>
                <a:spcPts val="700"/>
              </a:spcBef>
            </a:pPr>
            <a:r>
              <a:rPr sz="1900" b="0" i="0">
                <a:solidFill>
                  <a:srgbClr val="331B0D"/>
                </a:solidFill>
                <a:latin typeface="Open Sauce"/>
              </a:rPr>
              <a:t>•   Prescribed forms, transaction-specific workflows</a:t>
            </a:r>
          </a:p>
          <a:p>
            <a:pPr algn="l" marL="310896" indent="-310896">
              <a:lnSpc>
                <a:spcPct val="134000"/>
              </a:lnSpc>
              <a:spcBef>
                <a:spcPts val="700"/>
              </a:spcBef>
            </a:pPr>
            <a:r>
              <a:rPr sz="1900" b="0" i="0">
                <a:solidFill>
                  <a:srgbClr val="331B0D"/>
                </a:solidFill>
                <a:latin typeface="Open Sauce"/>
              </a:rPr>
              <a:t>•   Document verification, draft generation, lawyer review</a:t>
            </a:r>
          </a:p>
        </p:txBody>
      </p:sp>
      <p:sp>
        <p:nvSpPr>
          <p:cNvPr id="33" name="TextBox 32"/>
          <p:cNvSpPr txBox="1"/>
          <p:nvPr/>
        </p:nvSpPr>
        <p:spPr>
          <a:xfrm>
            <a:off x="9509759" y="6035040"/>
            <a:ext cx="775411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Deliberately outside it</a:t>
            </a:r>
          </a:p>
        </p:txBody>
      </p:sp>
      <p:sp>
        <p:nvSpPr>
          <p:cNvPr id="34" name="TextBox 33"/>
          <p:cNvSpPr txBox="1"/>
          <p:nvPr/>
        </p:nvSpPr>
        <p:spPr>
          <a:xfrm>
            <a:off x="9509759" y="6675120"/>
            <a:ext cx="7754111" cy="1614932"/>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Initial title compilation and title-settlement disputes</a:t>
            </a:r>
          </a:p>
          <a:p>
            <a:pPr algn="l" marL="310896" indent="-310896">
              <a:lnSpc>
                <a:spcPct val="134000"/>
              </a:lnSpc>
              <a:spcBef>
                <a:spcPts val="700"/>
              </a:spcBef>
            </a:pPr>
            <a:r>
              <a:rPr sz="1900" b="0" i="0">
                <a:solidFill>
                  <a:srgbClr val="331B0D"/>
                </a:solidFill>
                <a:latin typeface="Open Sauce"/>
              </a:rPr>
              <a:t>•   Company, probate, power-of-attorney and co-owner cases</a:t>
            </a:r>
          </a:p>
          <a:p>
            <a:pPr algn="l" marL="310896" indent="-310896">
              <a:lnSpc>
                <a:spcPct val="134000"/>
              </a:lnSpc>
              <a:spcBef>
                <a:spcPts val="700"/>
              </a:spcBef>
            </a:pPr>
            <a:r>
              <a:rPr sz="1900" b="0" i="0">
                <a:solidFill>
                  <a:srgbClr val="331B0D"/>
                </a:solidFill>
                <a:latin typeface="Open Sauce"/>
              </a:rPr>
              <a:t>•   Part-parcel dealings, subdivision and condominium</a:t>
            </a:r>
          </a:p>
          <a:p>
            <a:pPr algn="l" marL="310896" indent="-310896">
              <a:lnSpc>
                <a:spcPct val="134000"/>
              </a:lnSpc>
              <a:spcBef>
                <a:spcPts val="700"/>
              </a:spcBef>
            </a:pPr>
            <a:r>
              <a:rPr sz="1900" b="0" i="0">
                <a:solidFill>
                  <a:srgbClr val="331B0D"/>
                </a:solidFill>
                <a:latin typeface="Open Sauce"/>
              </a:rPr>
              <a:t>•   Anything with a live dispute or court notice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PLATFORM WORKFLOW</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21</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Examination of title, as the lawyer described it</a:t>
            </a:r>
          </a:p>
        </p:txBody>
      </p:sp>
      <p:sp>
        <p:nvSpPr>
          <p:cNvPr id="6" name="Oval 5"/>
          <p:cNvSpPr/>
          <p:nvPr/>
        </p:nvSpPr>
        <p:spPr>
          <a:xfrm>
            <a:off x="1024128" y="3355848"/>
            <a:ext cx="310896" cy="310896"/>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24128" y="3355848"/>
            <a:ext cx="310896" cy="310896"/>
          </a:xfrm>
          <a:prstGeom prst="rect">
            <a:avLst/>
          </a:prstGeom>
          <a:noFill/>
        </p:spPr>
        <p:txBody>
          <a:bodyPr wrap="square" anchor="ctr" lIns="0" rIns="0" tIns="0" bIns="0">
            <a:spAutoFit/>
          </a:bodyPr>
          <a:lstStyle/>
          <a:p>
            <a:pPr algn="ctr">
              <a:lnSpc>
                <a:spcPct val="100000"/>
              </a:lnSpc>
            </a:pPr>
            <a:r>
              <a:rPr sz="1500" b="1" i="0">
                <a:solidFill>
                  <a:srgbClr val="FAF7F0"/>
                </a:solidFill>
                <a:latin typeface="Open Sauce Bold"/>
              </a:rPr>
              <a:t>1</a:t>
            </a:r>
          </a:p>
        </p:txBody>
      </p:sp>
      <p:sp>
        <p:nvSpPr>
          <p:cNvPr id="8" name="TextBox 7"/>
          <p:cNvSpPr txBox="1"/>
          <p:nvPr/>
        </p:nvSpPr>
        <p:spPr>
          <a:xfrm>
            <a:off x="1591056" y="3300984"/>
            <a:ext cx="7278623" cy="396239"/>
          </a:xfrm>
          <a:prstGeom prst="rect">
            <a:avLst/>
          </a:prstGeom>
          <a:noFill/>
        </p:spPr>
        <p:txBody>
          <a:bodyPr wrap="square" anchor="t" lIns="0" rIns="0" tIns="0" bIns="0">
            <a:spAutoFit/>
          </a:bodyPr>
          <a:lstStyle/>
          <a:p>
            <a:pPr algn="l">
              <a:lnSpc>
                <a:spcPct val="128000"/>
              </a:lnSpc>
            </a:pPr>
            <a:r>
              <a:rPr sz="2100" b="0" i="0">
                <a:solidFill>
                  <a:srgbClr val="331B0D"/>
                </a:solidFill>
                <a:latin typeface="Open Sauce"/>
              </a:rPr>
              <a:t>Search the relevant land records</a:t>
            </a:r>
          </a:p>
        </p:txBody>
      </p:sp>
      <p:cxnSp>
        <p:nvCxnSpPr>
          <p:cNvPr id="9" name="Connector 8"/>
          <p:cNvCxnSpPr/>
          <p:nvPr/>
        </p:nvCxnSpPr>
        <p:spPr>
          <a:xfrm>
            <a:off x="1024128" y="4087368"/>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4128" y="4489704"/>
            <a:ext cx="310896" cy="310896"/>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4489704"/>
            <a:ext cx="310896" cy="310896"/>
          </a:xfrm>
          <a:prstGeom prst="rect">
            <a:avLst/>
          </a:prstGeom>
          <a:noFill/>
        </p:spPr>
        <p:txBody>
          <a:bodyPr wrap="square" anchor="ctr" lIns="0" rIns="0" tIns="0" bIns="0">
            <a:spAutoFit/>
          </a:bodyPr>
          <a:lstStyle/>
          <a:p>
            <a:pPr algn="ctr">
              <a:lnSpc>
                <a:spcPct val="100000"/>
              </a:lnSpc>
            </a:pPr>
            <a:r>
              <a:rPr sz="1500" b="1" i="0">
                <a:solidFill>
                  <a:srgbClr val="FAF7F0"/>
                </a:solidFill>
                <a:latin typeface="Open Sauce Bold"/>
              </a:rPr>
              <a:t>2</a:t>
            </a:r>
          </a:p>
        </p:txBody>
      </p:sp>
      <p:sp>
        <p:nvSpPr>
          <p:cNvPr id="12" name="TextBox 11"/>
          <p:cNvSpPr txBox="1"/>
          <p:nvPr/>
        </p:nvSpPr>
        <p:spPr>
          <a:xfrm>
            <a:off x="1591056" y="4434840"/>
            <a:ext cx="7278623" cy="396239"/>
          </a:xfrm>
          <a:prstGeom prst="rect">
            <a:avLst/>
          </a:prstGeom>
          <a:noFill/>
        </p:spPr>
        <p:txBody>
          <a:bodyPr wrap="square" anchor="t" lIns="0" rIns="0" tIns="0" bIns="0">
            <a:spAutoFit/>
          </a:bodyPr>
          <a:lstStyle/>
          <a:p>
            <a:pPr algn="l">
              <a:lnSpc>
                <a:spcPct val="128000"/>
              </a:lnSpc>
            </a:pPr>
            <a:r>
              <a:rPr sz="2100" b="0" i="0">
                <a:solidFill>
                  <a:srgbClr val="331B0D"/>
                </a:solidFill>
                <a:latin typeface="Open Sauce"/>
              </a:rPr>
              <a:t>Identify the present owner</a:t>
            </a:r>
          </a:p>
        </p:txBody>
      </p:sp>
      <p:cxnSp>
        <p:nvCxnSpPr>
          <p:cNvPr id="13" name="Connector 12"/>
          <p:cNvCxnSpPr/>
          <p:nvPr/>
        </p:nvCxnSpPr>
        <p:spPr>
          <a:xfrm>
            <a:off x="1024128" y="5221224"/>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4128" y="5623559"/>
            <a:ext cx="310896" cy="310896"/>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5623559"/>
            <a:ext cx="310896" cy="310896"/>
          </a:xfrm>
          <a:prstGeom prst="rect">
            <a:avLst/>
          </a:prstGeom>
          <a:noFill/>
        </p:spPr>
        <p:txBody>
          <a:bodyPr wrap="square" anchor="ctr" lIns="0" rIns="0" tIns="0" bIns="0">
            <a:spAutoFit/>
          </a:bodyPr>
          <a:lstStyle/>
          <a:p>
            <a:pPr algn="ctr">
              <a:lnSpc>
                <a:spcPct val="100000"/>
              </a:lnSpc>
            </a:pPr>
            <a:r>
              <a:rPr sz="1500" b="1" i="0">
                <a:solidFill>
                  <a:srgbClr val="FAF7F0"/>
                </a:solidFill>
                <a:latin typeface="Open Sauce Bold"/>
              </a:rPr>
              <a:t>3</a:t>
            </a:r>
          </a:p>
        </p:txBody>
      </p:sp>
      <p:sp>
        <p:nvSpPr>
          <p:cNvPr id="16" name="TextBox 15"/>
          <p:cNvSpPr txBox="1"/>
          <p:nvPr/>
        </p:nvSpPr>
        <p:spPr>
          <a:xfrm>
            <a:off x="1591056" y="5568696"/>
            <a:ext cx="7278623" cy="396239"/>
          </a:xfrm>
          <a:prstGeom prst="rect">
            <a:avLst/>
          </a:prstGeom>
          <a:noFill/>
        </p:spPr>
        <p:txBody>
          <a:bodyPr wrap="square" anchor="t" lIns="0" rIns="0" tIns="0" bIns="0">
            <a:spAutoFit/>
          </a:bodyPr>
          <a:lstStyle/>
          <a:p>
            <a:pPr algn="l">
              <a:lnSpc>
                <a:spcPct val="128000"/>
              </a:lnSpc>
            </a:pPr>
            <a:r>
              <a:rPr sz="2100" b="0" i="0">
                <a:solidFill>
                  <a:srgbClr val="331B0D"/>
                </a:solidFill>
                <a:latin typeface="Open Sauce"/>
              </a:rPr>
              <a:t>Trace the chain of title</a:t>
            </a:r>
          </a:p>
        </p:txBody>
      </p:sp>
      <p:cxnSp>
        <p:nvCxnSpPr>
          <p:cNvPr id="17" name="Connector 16"/>
          <p:cNvCxnSpPr/>
          <p:nvPr/>
        </p:nvCxnSpPr>
        <p:spPr>
          <a:xfrm>
            <a:off x="1024128" y="6355079"/>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1024128" y="6757416"/>
            <a:ext cx="310896" cy="310896"/>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4128" y="6757416"/>
            <a:ext cx="310896" cy="310896"/>
          </a:xfrm>
          <a:prstGeom prst="rect">
            <a:avLst/>
          </a:prstGeom>
          <a:noFill/>
        </p:spPr>
        <p:txBody>
          <a:bodyPr wrap="square" anchor="ctr" lIns="0" rIns="0" tIns="0" bIns="0">
            <a:spAutoFit/>
          </a:bodyPr>
          <a:lstStyle/>
          <a:p>
            <a:pPr algn="ctr">
              <a:lnSpc>
                <a:spcPct val="100000"/>
              </a:lnSpc>
            </a:pPr>
            <a:r>
              <a:rPr sz="1500" b="1" i="0">
                <a:solidFill>
                  <a:srgbClr val="FAF7F0"/>
                </a:solidFill>
                <a:latin typeface="Open Sauce Bold"/>
              </a:rPr>
              <a:t>4</a:t>
            </a:r>
          </a:p>
        </p:txBody>
      </p:sp>
      <p:sp>
        <p:nvSpPr>
          <p:cNvPr id="20" name="TextBox 19"/>
          <p:cNvSpPr txBox="1"/>
          <p:nvPr/>
        </p:nvSpPr>
        <p:spPr>
          <a:xfrm>
            <a:off x="1591056" y="6702552"/>
            <a:ext cx="7278623" cy="396239"/>
          </a:xfrm>
          <a:prstGeom prst="rect">
            <a:avLst/>
          </a:prstGeom>
          <a:noFill/>
        </p:spPr>
        <p:txBody>
          <a:bodyPr wrap="square" anchor="t" lIns="0" rIns="0" tIns="0" bIns="0">
            <a:spAutoFit/>
          </a:bodyPr>
          <a:lstStyle/>
          <a:p>
            <a:pPr algn="l">
              <a:lnSpc>
                <a:spcPct val="128000"/>
              </a:lnSpc>
            </a:pPr>
            <a:r>
              <a:rPr sz="2100" b="0" i="0">
                <a:solidFill>
                  <a:srgbClr val="331B0D"/>
                </a:solidFill>
                <a:latin typeface="Open Sauce"/>
              </a:rPr>
              <a:t>Check mortgages, charges and encumbrances</a:t>
            </a:r>
          </a:p>
        </p:txBody>
      </p:sp>
      <p:sp>
        <p:nvSpPr>
          <p:cNvPr id="21" name="Oval 20"/>
          <p:cNvSpPr/>
          <p:nvPr/>
        </p:nvSpPr>
        <p:spPr>
          <a:xfrm>
            <a:off x="9418319" y="3355848"/>
            <a:ext cx="310896" cy="310896"/>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19" y="3355848"/>
            <a:ext cx="310896" cy="310896"/>
          </a:xfrm>
          <a:prstGeom prst="rect">
            <a:avLst/>
          </a:prstGeom>
          <a:noFill/>
        </p:spPr>
        <p:txBody>
          <a:bodyPr wrap="square" anchor="ctr" lIns="0" rIns="0" tIns="0" bIns="0">
            <a:spAutoFit/>
          </a:bodyPr>
          <a:lstStyle/>
          <a:p>
            <a:pPr algn="ctr">
              <a:lnSpc>
                <a:spcPct val="100000"/>
              </a:lnSpc>
            </a:pPr>
            <a:r>
              <a:rPr sz="1500" b="1" i="0">
                <a:solidFill>
                  <a:srgbClr val="FAF7F0"/>
                </a:solidFill>
                <a:latin typeface="Open Sauce Bold"/>
              </a:rPr>
              <a:t>5</a:t>
            </a:r>
          </a:p>
        </p:txBody>
      </p:sp>
      <p:sp>
        <p:nvSpPr>
          <p:cNvPr id="23" name="TextBox 22"/>
          <p:cNvSpPr txBox="1"/>
          <p:nvPr/>
        </p:nvSpPr>
        <p:spPr>
          <a:xfrm>
            <a:off x="9985247" y="3300984"/>
            <a:ext cx="7278623" cy="396239"/>
          </a:xfrm>
          <a:prstGeom prst="rect">
            <a:avLst/>
          </a:prstGeom>
          <a:noFill/>
        </p:spPr>
        <p:txBody>
          <a:bodyPr wrap="square" anchor="t" lIns="0" rIns="0" tIns="0" bIns="0">
            <a:spAutoFit/>
          </a:bodyPr>
          <a:lstStyle/>
          <a:p>
            <a:pPr algn="l">
              <a:lnSpc>
                <a:spcPct val="128000"/>
              </a:lnSpc>
            </a:pPr>
            <a:r>
              <a:rPr sz="2100" b="0" i="0">
                <a:solidFill>
                  <a:srgbClr val="331B0D"/>
                </a:solidFill>
                <a:latin typeface="Open Sauce"/>
              </a:rPr>
              <a:t>Verify local-authority documents</a:t>
            </a:r>
          </a:p>
        </p:txBody>
      </p:sp>
      <p:cxnSp>
        <p:nvCxnSpPr>
          <p:cNvPr id="24" name="Connector 23"/>
          <p:cNvCxnSpPr/>
          <p:nvPr/>
        </p:nvCxnSpPr>
        <p:spPr>
          <a:xfrm>
            <a:off x="9418319" y="4087368"/>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9418319" y="4489704"/>
            <a:ext cx="310896" cy="310896"/>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19" y="4489704"/>
            <a:ext cx="310896" cy="310896"/>
          </a:xfrm>
          <a:prstGeom prst="rect">
            <a:avLst/>
          </a:prstGeom>
          <a:noFill/>
        </p:spPr>
        <p:txBody>
          <a:bodyPr wrap="square" anchor="ctr" lIns="0" rIns="0" tIns="0" bIns="0">
            <a:spAutoFit/>
          </a:bodyPr>
          <a:lstStyle/>
          <a:p>
            <a:pPr algn="ctr">
              <a:lnSpc>
                <a:spcPct val="100000"/>
              </a:lnSpc>
            </a:pPr>
            <a:r>
              <a:rPr sz="1500" b="1" i="0">
                <a:solidFill>
                  <a:srgbClr val="FAF7F0"/>
                </a:solidFill>
                <a:latin typeface="Open Sauce Bold"/>
              </a:rPr>
              <a:t>6</a:t>
            </a:r>
          </a:p>
        </p:txBody>
      </p:sp>
      <p:sp>
        <p:nvSpPr>
          <p:cNvPr id="27" name="TextBox 26"/>
          <p:cNvSpPr txBox="1"/>
          <p:nvPr/>
        </p:nvSpPr>
        <p:spPr>
          <a:xfrm>
            <a:off x="9985247" y="4434840"/>
            <a:ext cx="7278623" cy="396239"/>
          </a:xfrm>
          <a:prstGeom prst="rect">
            <a:avLst/>
          </a:prstGeom>
          <a:noFill/>
        </p:spPr>
        <p:txBody>
          <a:bodyPr wrap="square" anchor="t" lIns="0" rIns="0" tIns="0" bIns="0">
            <a:spAutoFit/>
          </a:bodyPr>
          <a:lstStyle/>
          <a:p>
            <a:pPr algn="l">
              <a:lnSpc>
                <a:spcPct val="128000"/>
              </a:lnSpc>
            </a:pPr>
            <a:r>
              <a:rPr sz="2100" b="0" i="0">
                <a:solidFill>
                  <a:srgbClr val="331B0D"/>
                </a:solidFill>
                <a:latin typeface="Open Sauce"/>
              </a:rPr>
              <a:t>Confirm the identities of the parties</a:t>
            </a:r>
          </a:p>
        </p:txBody>
      </p:sp>
      <p:cxnSp>
        <p:nvCxnSpPr>
          <p:cNvPr id="28" name="Connector 27"/>
          <p:cNvCxnSpPr/>
          <p:nvPr/>
        </p:nvCxnSpPr>
        <p:spPr>
          <a:xfrm>
            <a:off x="9418319" y="5221224"/>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9418319" y="5623559"/>
            <a:ext cx="310896" cy="310896"/>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19" y="5623559"/>
            <a:ext cx="310896" cy="310896"/>
          </a:xfrm>
          <a:prstGeom prst="rect">
            <a:avLst/>
          </a:prstGeom>
          <a:noFill/>
        </p:spPr>
        <p:txBody>
          <a:bodyPr wrap="square" anchor="ctr" lIns="0" rIns="0" tIns="0" bIns="0">
            <a:spAutoFit/>
          </a:bodyPr>
          <a:lstStyle/>
          <a:p>
            <a:pPr algn="ctr">
              <a:lnSpc>
                <a:spcPct val="100000"/>
              </a:lnSpc>
            </a:pPr>
            <a:r>
              <a:rPr sz="1500" b="1" i="0">
                <a:solidFill>
                  <a:srgbClr val="FAF7F0"/>
                </a:solidFill>
                <a:latin typeface="Open Sauce Bold"/>
              </a:rPr>
              <a:t>7</a:t>
            </a:r>
          </a:p>
        </p:txBody>
      </p:sp>
      <p:sp>
        <p:nvSpPr>
          <p:cNvPr id="31" name="TextBox 30"/>
          <p:cNvSpPr txBox="1"/>
          <p:nvPr/>
        </p:nvSpPr>
        <p:spPr>
          <a:xfrm>
            <a:off x="9985247" y="5568696"/>
            <a:ext cx="7278623" cy="396239"/>
          </a:xfrm>
          <a:prstGeom prst="rect">
            <a:avLst/>
          </a:prstGeom>
          <a:noFill/>
        </p:spPr>
        <p:txBody>
          <a:bodyPr wrap="square" anchor="t" lIns="0" rIns="0" tIns="0" bIns="0">
            <a:spAutoFit/>
          </a:bodyPr>
          <a:lstStyle/>
          <a:p>
            <a:pPr algn="l">
              <a:lnSpc>
                <a:spcPct val="128000"/>
              </a:lnSpc>
            </a:pPr>
            <a:r>
              <a:rPr sz="2100" b="0" i="0">
                <a:solidFill>
                  <a:srgbClr val="331B0D"/>
                </a:solidFill>
                <a:latin typeface="Open Sauce"/>
              </a:rPr>
              <a:t>Identify inconsistencies and risks</a:t>
            </a:r>
          </a:p>
        </p:txBody>
      </p:sp>
      <p:cxnSp>
        <p:nvCxnSpPr>
          <p:cNvPr id="32" name="Connector 31"/>
          <p:cNvCxnSpPr/>
          <p:nvPr/>
        </p:nvCxnSpPr>
        <p:spPr>
          <a:xfrm>
            <a:off x="9418319" y="6355079"/>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9418319" y="6757416"/>
            <a:ext cx="310896" cy="310896"/>
          </a:xfrm>
          <a:prstGeom prst="ellips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6757416"/>
            <a:ext cx="310896" cy="310896"/>
          </a:xfrm>
          <a:prstGeom prst="rect">
            <a:avLst/>
          </a:prstGeom>
          <a:noFill/>
        </p:spPr>
        <p:txBody>
          <a:bodyPr wrap="square" anchor="ctr" lIns="0" rIns="0" tIns="0" bIns="0">
            <a:spAutoFit/>
          </a:bodyPr>
          <a:lstStyle/>
          <a:p>
            <a:pPr algn="ctr">
              <a:lnSpc>
                <a:spcPct val="100000"/>
              </a:lnSpc>
            </a:pPr>
            <a:r>
              <a:rPr sz="1500" b="1" i="0">
                <a:solidFill>
                  <a:srgbClr val="FAF7F0"/>
                </a:solidFill>
                <a:latin typeface="Open Sauce Bold"/>
              </a:rPr>
              <a:t>8</a:t>
            </a:r>
          </a:p>
        </p:txBody>
      </p:sp>
      <p:sp>
        <p:nvSpPr>
          <p:cNvPr id="35" name="TextBox 34"/>
          <p:cNvSpPr txBox="1"/>
          <p:nvPr/>
        </p:nvSpPr>
        <p:spPr>
          <a:xfrm>
            <a:off x="9985247" y="6702552"/>
            <a:ext cx="7278623" cy="396239"/>
          </a:xfrm>
          <a:prstGeom prst="rect">
            <a:avLst/>
          </a:prstGeom>
          <a:noFill/>
        </p:spPr>
        <p:txBody>
          <a:bodyPr wrap="square" anchor="t" lIns="0" rIns="0" tIns="0" bIns="0">
            <a:spAutoFit/>
          </a:bodyPr>
          <a:lstStyle/>
          <a:p>
            <a:pPr algn="l">
              <a:lnSpc>
                <a:spcPct val="128000"/>
              </a:lnSpc>
            </a:pPr>
            <a:r>
              <a:rPr sz="2100" b="0" i="0">
                <a:solidFill>
                  <a:srgbClr val="331B0D"/>
                </a:solidFill>
                <a:latin typeface="Open Sauce"/>
              </a:rPr>
              <a:t>Prepare the title report</a:t>
            </a:r>
          </a:p>
        </p:txBody>
      </p:sp>
      <p:sp>
        <p:nvSpPr>
          <p:cNvPr id="36" name="Rounded Rectangle 35"/>
          <p:cNvSpPr/>
          <p:nvPr/>
        </p:nvSpPr>
        <p:spPr>
          <a:xfrm>
            <a:off x="1024128" y="7726679"/>
            <a:ext cx="16239743" cy="960120"/>
          </a:xfrm>
          <a:prstGeom prst="roundRect">
            <a:avLst>
              <a:gd name="adj" fmla="val 1142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435608" y="7726679"/>
            <a:ext cx="15416784" cy="960120"/>
          </a:xfrm>
          <a:prstGeom prst="rect">
            <a:avLst/>
          </a:prstGeom>
          <a:noFill/>
        </p:spPr>
        <p:txBody>
          <a:bodyPr wrap="square" anchor="ctr" lIns="0" rIns="0" tIns="0" bIns="0">
            <a:spAutoFit/>
          </a:bodyPr>
          <a:lstStyle/>
          <a:p>
            <a:pPr algn="l">
              <a:lnSpc>
                <a:spcPct val="130000"/>
              </a:lnSpc>
            </a:pPr>
            <a:r>
              <a:rPr sz="2000" b="0" i="0">
                <a:solidFill>
                  <a:srgbClr val="331B0D"/>
                </a:solidFill>
                <a:latin typeface="Open Sauce"/>
              </a:rPr>
              <a:t>At every step the retrieval engine supplies the applicable legal requirement and the cautionary case-law principle that goes with 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PLATFORM BUILD</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22</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The RTA rule pack, versioned and governed</a:t>
            </a:r>
          </a:p>
        </p:txBody>
      </p:sp>
      <p:sp>
        <p:nvSpPr>
          <p:cNvPr id="6" name="TextBox 5"/>
          <p:cNvSpPr txBox="1"/>
          <p:nvPr/>
        </p:nvSpPr>
        <p:spPr>
          <a:xfrm>
            <a:off x="1024128" y="2880360"/>
            <a:ext cx="14173200" cy="401574"/>
          </a:xfrm>
          <a:prstGeom prst="rect">
            <a:avLst/>
          </a:prstGeom>
          <a:noFill/>
        </p:spPr>
        <p:txBody>
          <a:bodyPr wrap="square" anchor="t" lIns="0" rIns="0" tIns="0" bIns="0">
            <a:spAutoFit/>
          </a:bodyPr>
          <a:lstStyle/>
          <a:p>
            <a:pPr algn="l">
              <a:lnSpc>
                <a:spcPct val="130000"/>
              </a:lnSpc>
            </a:pPr>
            <a:r>
              <a:rPr sz="2100" b="0" i="0">
                <a:solidFill>
                  <a:srgbClr val="8C7753"/>
                </a:solidFill>
                <a:latin typeface="Open Sauce"/>
              </a:rPr>
              <a:t>The legal content the platform runs on is data, not code paths. Version 1.0.0 holds:</a:t>
            </a:r>
          </a:p>
        </p:txBody>
      </p:sp>
      <p:sp>
        <p:nvSpPr>
          <p:cNvPr id="7" name="Rounded Rectangle 6"/>
          <p:cNvSpPr/>
          <p:nvPr/>
        </p:nvSpPr>
        <p:spPr>
          <a:xfrm>
            <a:off x="1024128" y="3520440"/>
            <a:ext cx="3826763" cy="1874519"/>
          </a:xfrm>
          <a:prstGeom prst="roundRect">
            <a:avLst>
              <a:gd name="adj" fmla="val 682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08176" y="3813048"/>
            <a:ext cx="3058668" cy="748284"/>
          </a:xfrm>
          <a:prstGeom prst="rect">
            <a:avLst/>
          </a:prstGeom>
          <a:noFill/>
        </p:spPr>
        <p:txBody>
          <a:bodyPr wrap="square" anchor="t" lIns="0" rIns="0" tIns="0" bIns="0">
            <a:spAutoFit/>
          </a:bodyPr>
          <a:lstStyle/>
          <a:p>
            <a:pPr algn="l">
              <a:lnSpc>
                <a:spcPct val="105000"/>
              </a:lnSpc>
            </a:pPr>
            <a:r>
              <a:rPr sz="5200" b="1" i="0">
                <a:solidFill>
                  <a:srgbClr val="8C7753"/>
                </a:solidFill>
                <a:latin typeface="Open Sauce Bold"/>
              </a:rPr>
              <a:t>9</a:t>
            </a:r>
          </a:p>
        </p:txBody>
      </p:sp>
      <p:sp>
        <p:nvSpPr>
          <p:cNvPr id="9" name="TextBox 8"/>
          <p:cNvSpPr txBox="1"/>
          <p:nvPr/>
        </p:nvSpPr>
        <p:spPr>
          <a:xfrm>
            <a:off x="1408176" y="4690872"/>
            <a:ext cx="3058668" cy="363728"/>
          </a:xfrm>
          <a:prstGeom prst="rect">
            <a:avLst/>
          </a:prstGeom>
          <a:noFill/>
        </p:spPr>
        <p:txBody>
          <a:bodyPr wrap="square" anchor="t" lIns="0" rIns="0" tIns="0" bIns="0">
            <a:spAutoFit/>
          </a:bodyPr>
          <a:lstStyle/>
          <a:p>
            <a:pPr algn="l">
              <a:lnSpc>
                <a:spcPct val="128000"/>
              </a:lnSpc>
            </a:pPr>
            <a:r>
              <a:rPr sz="1900" b="0" i="0">
                <a:solidFill>
                  <a:srgbClr val="331B0D"/>
                </a:solidFill>
                <a:latin typeface="Open Sauce"/>
              </a:rPr>
              <a:t>transaction families</a:t>
            </a:r>
          </a:p>
        </p:txBody>
      </p:sp>
      <p:sp>
        <p:nvSpPr>
          <p:cNvPr id="10" name="Rounded Rectangle 9"/>
          <p:cNvSpPr/>
          <p:nvPr/>
        </p:nvSpPr>
        <p:spPr>
          <a:xfrm>
            <a:off x="5161788" y="3520440"/>
            <a:ext cx="3826763" cy="1874519"/>
          </a:xfrm>
          <a:prstGeom prst="roundRect">
            <a:avLst>
              <a:gd name="adj" fmla="val 682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545836" y="3813048"/>
            <a:ext cx="3058668" cy="748284"/>
          </a:xfrm>
          <a:prstGeom prst="rect">
            <a:avLst/>
          </a:prstGeom>
          <a:noFill/>
        </p:spPr>
        <p:txBody>
          <a:bodyPr wrap="square" anchor="t" lIns="0" rIns="0" tIns="0" bIns="0">
            <a:spAutoFit/>
          </a:bodyPr>
          <a:lstStyle/>
          <a:p>
            <a:pPr algn="l">
              <a:lnSpc>
                <a:spcPct val="105000"/>
              </a:lnSpc>
            </a:pPr>
            <a:r>
              <a:rPr sz="5200" b="1" i="0">
                <a:solidFill>
                  <a:srgbClr val="8C7753"/>
                </a:solidFill>
                <a:latin typeface="Open Sauce Bold"/>
              </a:rPr>
              <a:t>33</a:t>
            </a:r>
          </a:p>
        </p:txBody>
      </p:sp>
      <p:sp>
        <p:nvSpPr>
          <p:cNvPr id="12" name="TextBox 11"/>
          <p:cNvSpPr txBox="1"/>
          <p:nvPr/>
        </p:nvSpPr>
        <p:spPr>
          <a:xfrm>
            <a:off x="5545836" y="4690872"/>
            <a:ext cx="3058668" cy="363728"/>
          </a:xfrm>
          <a:prstGeom prst="rect">
            <a:avLst/>
          </a:prstGeom>
          <a:noFill/>
        </p:spPr>
        <p:txBody>
          <a:bodyPr wrap="square" anchor="t" lIns="0" rIns="0" tIns="0" bIns="0">
            <a:spAutoFit/>
          </a:bodyPr>
          <a:lstStyle/>
          <a:p>
            <a:pPr algn="l">
              <a:lnSpc>
                <a:spcPct val="128000"/>
              </a:lnSpc>
            </a:pPr>
            <a:r>
              <a:rPr sz="1900" b="0" i="0">
                <a:solidFill>
                  <a:srgbClr val="331B0D"/>
                </a:solidFill>
                <a:latin typeface="Open Sauce"/>
              </a:rPr>
              <a:t>prescribed subtypes</a:t>
            </a:r>
          </a:p>
        </p:txBody>
      </p:sp>
      <p:sp>
        <p:nvSpPr>
          <p:cNvPr id="13" name="Rounded Rectangle 12"/>
          <p:cNvSpPr/>
          <p:nvPr/>
        </p:nvSpPr>
        <p:spPr>
          <a:xfrm>
            <a:off x="9299447" y="3520440"/>
            <a:ext cx="3826763" cy="1874519"/>
          </a:xfrm>
          <a:prstGeom prst="roundRect">
            <a:avLst>
              <a:gd name="adj" fmla="val 682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83495" y="3813048"/>
            <a:ext cx="3058668" cy="748284"/>
          </a:xfrm>
          <a:prstGeom prst="rect">
            <a:avLst/>
          </a:prstGeom>
          <a:noFill/>
        </p:spPr>
        <p:txBody>
          <a:bodyPr wrap="square" anchor="t" lIns="0" rIns="0" tIns="0" bIns="0">
            <a:spAutoFit/>
          </a:bodyPr>
          <a:lstStyle/>
          <a:p>
            <a:pPr algn="l">
              <a:lnSpc>
                <a:spcPct val="105000"/>
              </a:lnSpc>
            </a:pPr>
            <a:r>
              <a:rPr sz="5200" b="1" i="0">
                <a:solidFill>
                  <a:srgbClr val="8C7753"/>
                </a:solidFill>
                <a:latin typeface="Open Sauce Bold"/>
              </a:rPr>
              <a:t>145</a:t>
            </a:r>
          </a:p>
        </p:txBody>
      </p:sp>
      <p:sp>
        <p:nvSpPr>
          <p:cNvPr id="15" name="TextBox 14"/>
          <p:cNvSpPr txBox="1"/>
          <p:nvPr/>
        </p:nvSpPr>
        <p:spPr>
          <a:xfrm>
            <a:off x="9683495" y="4690872"/>
            <a:ext cx="3058668" cy="363728"/>
          </a:xfrm>
          <a:prstGeom prst="rect">
            <a:avLst/>
          </a:prstGeom>
          <a:noFill/>
        </p:spPr>
        <p:txBody>
          <a:bodyPr wrap="square" anchor="t" lIns="0" rIns="0" tIns="0" bIns="0">
            <a:spAutoFit/>
          </a:bodyPr>
          <a:lstStyle/>
          <a:p>
            <a:pPr algn="l">
              <a:lnSpc>
                <a:spcPct val="128000"/>
              </a:lnSpc>
            </a:pPr>
            <a:r>
              <a:rPr sz="1900" b="0" i="0">
                <a:solidFill>
                  <a:srgbClr val="331B0D"/>
                </a:solidFill>
                <a:latin typeface="Open Sauce"/>
              </a:rPr>
              <a:t>checklist requirements</a:t>
            </a:r>
          </a:p>
        </p:txBody>
      </p:sp>
      <p:sp>
        <p:nvSpPr>
          <p:cNvPr id="16" name="Rounded Rectangle 15"/>
          <p:cNvSpPr/>
          <p:nvPr/>
        </p:nvSpPr>
        <p:spPr>
          <a:xfrm>
            <a:off x="13437108" y="3520440"/>
            <a:ext cx="3826763" cy="1874519"/>
          </a:xfrm>
          <a:prstGeom prst="roundRect">
            <a:avLst>
              <a:gd name="adj" fmla="val 682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3821156" y="3813048"/>
            <a:ext cx="3058668" cy="748284"/>
          </a:xfrm>
          <a:prstGeom prst="rect">
            <a:avLst/>
          </a:prstGeom>
          <a:noFill/>
        </p:spPr>
        <p:txBody>
          <a:bodyPr wrap="square" anchor="t" lIns="0" rIns="0" tIns="0" bIns="0">
            <a:spAutoFit/>
          </a:bodyPr>
          <a:lstStyle/>
          <a:p>
            <a:pPr algn="l">
              <a:lnSpc>
                <a:spcPct val="105000"/>
              </a:lnSpc>
            </a:pPr>
            <a:r>
              <a:rPr sz="5200" b="1" i="0">
                <a:solidFill>
                  <a:srgbClr val="8C7753"/>
                </a:solidFill>
                <a:latin typeface="Open Sauce Bold"/>
              </a:rPr>
              <a:t>23</a:t>
            </a:r>
          </a:p>
        </p:txBody>
      </p:sp>
      <p:sp>
        <p:nvSpPr>
          <p:cNvPr id="18" name="TextBox 17"/>
          <p:cNvSpPr txBox="1"/>
          <p:nvPr/>
        </p:nvSpPr>
        <p:spPr>
          <a:xfrm>
            <a:off x="13821156" y="4690872"/>
            <a:ext cx="3058668" cy="363728"/>
          </a:xfrm>
          <a:prstGeom prst="rect">
            <a:avLst/>
          </a:prstGeom>
          <a:noFill/>
        </p:spPr>
        <p:txBody>
          <a:bodyPr wrap="square" anchor="t" lIns="0" rIns="0" tIns="0" bIns="0">
            <a:spAutoFit/>
          </a:bodyPr>
          <a:lstStyle/>
          <a:p>
            <a:pPr algn="l">
              <a:lnSpc>
                <a:spcPct val="128000"/>
              </a:lnSpc>
            </a:pPr>
            <a:r>
              <a:rPr sz="1900" b="0" i="0">
                <a:solidFill>
                  <a:srgbClr val="331B0D"/>
                </a:solidFill>
                <a:latin typeface="Open Sauce"/>
              </a:rPr>
              <a:t>checklist modules</a:t>
            </a:r>
          </a:p>
        </p:txBody>
      </p:sp>
      <p:sp>
        <p:nvSpPr>
          <p:cNvPr id="19" name="Rounded Rectangle 18"/>
          <p:cNvSpPr/>
          <p:nvPr/>
        </p:nvSpPr>
        <p:spPr>
          <a:xfrm>
            <a:off x="1024128" y="5623560"/>
            <a:ext cx="3826763" cy="1874519"/>
          </a:xfrm>
          <a:prstGeom prst="roundRect">
            <a:avLst>
              <a:gd name="adj" fmla="val 682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408176" y="5916168"/>
            <a:ext cx="3058668" cy="748284"/>
          </a:xfrm>
          <a:prstGeom prst="rect">
            <a:avLst/>
          </a:prstGeom>
          <a:noFill/>
        </p:spPr>
        <p:txBody>
          <a:bodyPr wrap="square" anchor="t" lIns="0" rIns="0" tIns="0" bIns="0">
            <a:spAutoFit/>
          </a:bodyPr>
          <a:lstStyle/>
          <a:p>
            <a:pPr algn="l">
              <a:lnSpc>
                <a:spcPct val="105000"/>
              </a:lnSpc>
            </a:pPr>
            <a:r>
              <a:rPr sz="5200" b="1" i="0">
                <a:solidFill>
                  <a:srgbClr val="8C7753"/>
                </a:solidFill>
                <a:latin typeface="Open Sauce Bold"/>
              </a:rPr>
              <a:t>25</a:t>
            </a:r>
          </a:p>
        </p:txBody>
      </p:sp>
      <p:sp>
        <p:nvSpPr>
          <p:cNvPr id="21" name="TextBox 20"/>
          <p:cNvSpPr txBox="1"/>
          <p:nvPr/>
        </p:nvSpPr>
        <p:spPr>
          <a:xfrm>
            <a:off x="1408176" y="6793992"/>
            <a:ext cx="3058668" cy="363728"/>
          </a:xfrm>
          <a:prstGeom prst="rect">
            <a:avLst/>
          </a:prstGeom>
          <a:noFill/>
        </p:spPr>
        <p:txBody>
          <a:bodyPr wrap="square" anchor="t" lIns="0" rIns="0" tIns="0" bIns="0">
            <a:spAutoFit/>
          </a:bodyPr>
          <a:lstStyle/>
          <a:p>
            <a:pPr algn="l">
              <a:lnSpc>
                <a:spcPct val="128000"/>
              </a:lnSpc>
            </a:pPr>
            <a:r>
              <a:rPr sz="1900" b="0" i="0">
                <a:solidFill>
                  <a:srgbClr val="331B0D"/>
                </a:solidFill>
                <a:latin typeface="Open Sauce"/>
              </a:rPr>
              <a:t>deterministic checks</a:t>
            </a:r>
          </a:p>
        </p:txBody>
      </p:sp>
      <p:sp>
        <p:nvSpPr>
          <p:cNvPr id="22" name="Rounded Rectangle 21"/>
          <p:cNvSpPr/>
          <p:nvPr/>
        </p:nvSpPr>
        <p:spPr>
          <a:xfrm>
            <a:off x="5161788" y="5623560"/>
            <a:ext cx="3826763" cy="1874519"/>
          </a:xfrm>
          <a:prstGeom prst="roundRect">
            <a:avLst>
              <a:gd name="adj" fmla="val 682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5545836" y="5916168"/>
            <a:ext cx="3058668" cy="748284"/>
          </a:xfrm>
          <a:prstGeom prst="rect">
            <a:avLst/>
          </a:prstGeom>
          <a:noFill/>
        </p:spPr>
        <p:txBody>
          <a:bodyPr wrap="square" anchor="t" lIns="0" rIns="0" tIns="0" bIns="0">
            <a:spAutoFit/>
          </a:bodyPr>
          <a:lstStyle/>
          <a:p>
            <a:pPr algn="l">
              <a:lnSpc>
                <a:spcPct val="105000"/>
              </a:lnSpc>
            </a:pPr>
            <a:r>
              <a:rPr sz="5200" b="1" i="0">
                <a:solidFill>
                  <a:srgbClr val="8C7753"/>
                </a:solidFill>
                <a:latin typeface="Open Sauce Bold"/>
              </a:rPr>
              <a:t>52</a:t>
            </a:r>
          </a:p>
        </p:txBody>
      </p:sp>
      <p:sp>
        <p:nvSpPr>
          <p:cNvPr id="24" name="TextBox 23"/>
          <p:cNvSpPr txBox="1"/>
          <p:nvPr/>
        </p:nvSpPr>
        <p:spPr>
          <a:xfrm>
            <a:off x="5545836" y="6793992"/>
            <a:ext cx="3058668" cy="363728"/>
          </a:xfrm>
          <a:prstGeom prst="rect">
            <a:avLst/>
          </a:prstGeom>
          <a:noFill/>
        </p:spPr>
        <p:txBody>
          <a:bodyPr wrap="square" anchor="t" lIns="0" rIns="0" tIns="0" bIns="0">
            <a:spAutoFit/>
          </a:bodyPr>
          <a:lstStyle/>
          <a:p>
            <a:pPr algn="l">
              <a:lnSpc>
                <a:spcPct val="128000"/>
              </a:lnSpc>
            </a:pPr>
            <a:r>
              <a:rPr sz="1900" b="0" i="0">
                <a:solidFill>
                  <a:srgbClr val="331B0D"/>
                </a:solidFill>
                <a:latin typeface="Open Sauce"/>
              </a:rPr>
              <a:t>document classes</a:t>
            </a:r>
          </a:p>
        </p:txBody>
      </p:sp>
      <p:sp>
        <p:nvSpPr>
          <p:cNvPr id="25" name="Rounded Rectangle 24"/>
          <p:cNvSpPr/>
          <p:nvPr/>
        </p:nvSpPr>
        <p:spPr>
          <a:xfrm>
            <a:off x="9299447" y="5623560"/>
            <a:ext cx="3826763" cy="1874519"/>
          </a:xfrm>
          <a:prstGeom prst="roundRect">
            <a:avLst>
              <a:gd name="adj" fmla="val 682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683495" y="5916168"/>
            <a:ext cx="3058668" cy="748284"/>
          </a:xfrm>
          <a:prstGeom prst="rect">
            <a:avLst/>
          </a:prstGeom>
          <a:noFill/>
        </p:spPr>
        <p:txBody>
          <a:bodyPr wrap="square" anchor="t" lIns="0" rIns="0" tIns="0" bIns="0">
            <a:spAutoFit/>
          </a:bodyPr>
          <a:lstStyle/>
          <a:p>
            <a:pPr algn="l">
              <a:lnSpc>
                <a:spcPct val="105000"/>
              </a:lnSpc>
            </a:pPr>
            <a:r>
              <a:rPr sz="5200" b="1" i="0">
                <a:solidFill>
                  <a:srgbClr val="8C7753"/>
                </a:solidFill>
                <a:latin typeface="Open Sauce Bold"/>
              </a:rPr>
              <a:t>32</a:t>
            </a:r>
          </a:p>
        </p:txBody>
      </p:sp>
      <p:sp>
        <p:nvSpPr>
          <p:cNvPr id="27" name="TextBox 26"/>
          <p:cNvSpPr txBox="1"/>
          <p:nvPr/>
        </p:nvSpPr>
        <p:spPr>
          <a:xfrm>
            <a:off x="9683495" y="6793992"/>
            <a:ext cx="3058668" cy="363728"/>
          </a:xfrm>
          <a:prstGeom prst="rect">
            <a:avLst/>
          </a:prstGeom>
          <a:noFill/>
        </p:spPr>
        <p:txBody>
          <a:bodyPr wrap="square" anchor="t" lIns="0" rIns="0" tIns="0" bIns="0">
            <a:spAutoFit/>
          </a:bodyPr>
          <a:lstStyle/>
          <a:p>
            <a:pPr algn="l">
              <a:lnSpc>
                <a:spcPct val="128000"/>
              </a:lnSpc>
            </a:pPr>
            <a:r>
              <a:rPr sz="1900" b="0" i="0">
                <a:solidFill>
                  <a:srgbClr val="331B0D"/>
                </a:solidFill>
                <a:latin typeface="Open Sauce"/>
              </a:rPr>
              <a:t>form templates</a:t>
            </a:r>
          </a:p>
        </p:txBody>
      </p:sp>
      <p:sp>
        <p:nvSpPr>
          <p:cNvPr id="28" name="Rounded Rectangle 27"/>
          <p:cNvSpPr/>
          <p:nvPr/>
        </p:nvSpPr>
        <p:spPr>
          <a:xfrm>
            <a:off x="13437108" y="5623560"/>
            <a:ext cx="3826763" cy="1874519"/>
          </a:xfrm>
          <a:prstGeom prst="roundRect">
            <a:avLst>
              <a:gd name="adj" fmla="val 6829"/>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3821156" y="5916168"/>
            <a:ext cx="3058668" cy="748284"/>
          </a:xfrm>
          <a:prstGeom prst="rect">
            <a:avLst/>
          </a:prstGeom>
          <a:noFill/>
        </p:spPr>
        <p:txBody>
          <a:bodyPr wrap="square" anchor="t" lIns="0" rIns="0" tIns="0" bIns="0">
            <a:spAutoFit/>
          </a:bodyPr>
          <a:lstStyle/>
          <a:p>
            <a:pPr algn="l">
              <a:lnSpc>
                <a:spcPct val="105000"/>
              </a:lnSpc>
            </a:pPr>
            <a:r>
              <a:rPr sz="5200" b="1" i="0">
                <a:solidFill>
                  <a:srgbClr val="8C7753"/>
                </a:solidFill>
                <a:latin typeface="Open Sauce Bold"/>
              </a:rPr>
              <a:t>25</a:t>
            </a:r>
          </a:p>
        </p:txBody>
      </p:sp>
      <p:sp>
        <p:nvSpPr>
          <p:cNvPr id="30" name="TextBox 29"/>
          <p:cNvSpPr txBox="1"/>
          <p:nvPr/>
        </p:nvSpPr>
        <p:spPr>
          <a:xfrm>
            <a:off x="13821156" y="6793992"/>
            <a:ext cx="3058668" cy="363728"/>
          </a:xfrm>
          <a:prstGeom prst="rect">
            <a:avLst/>
          </a:prstGeom>
          <a:noFill/>
        </p:spPr>
        <p:txBody>
          <a:bodyPr wrap="square" anchor="t" lIns="0" rIns="0" tIns="0" bIns="0">
            <a:spAutoFit/>
          </a:bodyPr>
          <a:lstStyle/>
          <a:p>
            <a:pPr algn="l">
              <a:lnSpc>
                <a:spcPct val="128000"/>
              </a:lnSpc>
            </a:pPr>
            <a:r>
              <a:rPr sz="1900" b="0" i="0">
                <a:solidFill>
                  <a:srgbClr val="331B0D"/>
                </a:solidFill>
                <a:latin typeface="Open Sauce"/>
              </a:rPr>
              <a:t>routing questions</a:t>
            </a:r>
          </a:p>
        </p:txBody>
      </p:sp>
      <p:sp>
        <p:nvSpPr>
          <p:cNvPr id="31" name="TextBox 30"/>
          <p:cNvSpPr txBox="1"/>
          <p:nvPr/>
        </p:nvSpPr>
        <p:spPr>
          <a:xfrm>
            <a:off x="1024128" y="7863840"/>
            <a:ext cx="16239743" cy="711200"/>
          </a:xfrm>
          <a:prstGeom prst="rect">
            <a:avLst/>
          </a:prstGeom>
          <a:noFill/>
        </p:spPr>
        <p:txBody>
          <a:bodyPr wrap="square" anchor="t" lIns="0" rIns="0" tIns="0" bIns="0">
            <a:spAutoFit/>
          </a:bodyPr>
          <a:lstStyle/>
          <a:p>
            <a:pPr algn="l">
              <a:lnSpc>
                <a:spcPct val="136000"/>
              </a:lnSpc>
            </a:pPr>
            <a:r>
              <a:rPr sz="1900" b="0" i="0">
                <a:solidFill>
                  <a:srgbClr val="331B0D"/>
                </a:solidFill>
                <a:latin typeface="Open Sauce"/>
              </a:rPr>
              <a:t>Every requirement records its source class, so the interface can say whether something is required by the Act, by a gazetted regulation, by current registry practice, or only by prudent professional practice. Ten governed sources back the pack.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PLATFORM BUILD</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23</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What is standing up on the platform side</a:t>
            </a:r>
          </a:p>
        </p:txBody>
      </p:sp>
      <p:sp>
        <p:nvSpPr>
          <p:cNvPr id="6" name="Rounded Rectangle 5"/>
          <p:cNvSpPr/>
          <p:nvPr/>
        </p:nvSpPr>
        <p:spPr>
          <a:xfrm>
            <a:off x="1024128" y="3127248"/>
            <a:ext cx="5193792" cy="1719072"/>
          </a:xfrm>
          <a:prstGeom prst="roundRect">
            <a:avLst>
              <a:gd name="adj" fmla="val 744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389888" y="3383280"/>
            <a:ext cx="4462272" cy="384555"/>
          </a:xfrm>
          <a:prstGeom prst="rect">
            <a:avLst/>
          </a:prstGeom>
          <a:noFill/>
        </p:spPr>
        <p:txBody>
          <a:bodyPr wrap="square" anchor="t" lIns="0" rIns="0" tIns="0" bIns="0">
            <a:spAutoFit/>
          </a:bodyPr>
          <a:lstStyle/>
          <a:p>
            <a:pPr algn="l">
              <a:lnSpc>
                <a:spcPct val="118000"/>
              </a:lnSpc>
            </a:pPr>
            <a:r>
              <a:rPr sz="2200" b="0" i="0">
                <a:solidFill>
                  <a:srgbClr val="331B0D"/>
                </a:solidFill>
                <a:latin typeface="Open Sauce"/>
              </a:rPr>
              <a:t>Identity and access</a:t>
            </a:r>
          </a:p>
        </p:txBody>
      </p:sp>
      <p:sp>
        <p:nvSpPr>
          <p:cNvPr id="8" name="TextBox 7"/>
          <p:cNvSpPr txBox="1"/>
          <p:nvPr/>
        </p:nvSpPr>
        <p:spPr>
          <a:xfrm>
            <a:off x="1389888" y="3904487"/>
            <a:ext cx="4462272" cy="335534"/>
          </a:xfrm>
          <a:prstGeom prst="rect">
            <a:avLst/>
          </a:prstGeom>
          <a:noFill/>
        </p:spPr>
        <p:txBody>
          <a:bodyPr wrap="square" anchor="t" lIns="0" rIns="0" tIns="0" bIns="0">
            <a:spAutoFit/>
          </a:bodyPr>
          <a:lstStyle/>
          <a:p>
            <a:pPr algn="l">
              <a:lnSpc>
                <a:spcPct val="130000"/>
              </a:lnSpc>
            </a:pPr>
            <a:r>
              <a:rPr sz="1700" b="0" i="0">
                <a:solidFill>
                  <a:srgbClr val="8C7753"/>
                </a:solidFill>
                <a:latin typeface="Open Sauce"/>
              </a:rPr>
              <a:t>auth  ·  billing</a:t>
            </a:r>
          </a:p>
        </p:txBody>
      </p:sp>
      <p:sp>
        <p:nvSpPr>
          <p:cNvPr id="9" name="Rounded Rectangle 8"/>
          <p:cNvSpPr/>
          <p:nvPr/>
        </p:nvSpPr>
        <p:spPr>
          <a:xfrm>
            <a:off x="6547104" y="3127248"/>
            <a:ext cx="5193792" cy="1719072"/>
          </a:xfrm>
          <a:prstGeom prst="roundRect">
            <a:avLst>
              <a:gd name="adj" fmla="val 744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12864" y="3383280"/>
            <a:ext cx="4462272" cy="384555"/>
          </a:xfrm>
          <a:prstGeom prst="rect">
            <a:avLst/>
          </a:prstGeom>
          <a:noFill/>
        </p:spPr>
        <p:txBody>
          <a:bodyPr wrap="square" anchor="t" lIns="0" rIns="0" tIns="0" bIns="0">
            <a:spAutoFit/>
          </a:bodyPr>
          <a:lstStyle/>
          <a:p>
            <a:pPr algn="l">
              <a:lnSpc>
                <a:spcPct val="118000"/>
              </a:lnSpc>
            </a:pPr>
            <a:r>
              <a:rPr sz="2200" b="0" i="0">
                <a:solidFill>
                  <a:srgbClr val="331B0D"/>
                </a:solidFill>
                <a:latin typeface="Open Sauce"/>
              </a:rPr>
              <a:t>Matter and parties</a:t>
            </a:r>
          </a:p>
        </p:txBody>
      </p:sp>
      <p:sp>
        <p:nvSpPr>
          <p:cNvPr id="11" name="TextBox 10"/>
          <p:cNvSpPr txBox="1"/>
          <p:nvPr/>
        </p:nvSpPr>
        <p:spPr>
          <a:xfrm>
            <a:off x="6912864" y="3904487"/>
            <a:ext cx="4462272" cy="335534"/>
          </a:xfrm>
          <a:prstGeom prst="rect">
            <a:avLst/>
          </a:prstGeom>
          <a:noFill/>
        </p:spPr>
        <p:txBody>
          <a:bodyPr wrap="square" anchor="t" lIns="0" rIns="0" tIns="0" bIns="0">
            <a:spAutoFit/>
          </a:bodyPr>
          <a:lstStyle/>
          <a:p>
            <a:pPr algn="l">
              <a:lnSpc>
                <a:spcPct val="130000"/>
              </a:lnSpc>
            </a:pPr>
            <a:r>
              <a:rPr sz="1700" b="0" i="0">
                <a:solidFill>
                  <a:srgbClr val="8C7753"/>
                </a:solidFill>
                <a:latin typeface="Open Sauce"/>
              </a:rPr>
              <a:t>matter  ·  party  ·  task  ·  obligations</a:t>
            </a:r>
          </a:p>
        </p:txBody>
      </p:sp>
      <p:sp>
        <p:nvSpPr>
          <p:cNvPr id="12" name="Rounded Rectangle 11"/>
          <p:cNvSpPr/>
          <p:nvPr/>
        </p:nvSpPr>
        <p:spPr>
          <a:xfrm>
            <a:off x="12070080" y="3127248"/>
            <a:ext cx="5193792" cy="1719072"/>
          </a:xfrm>
          <a:prstGeom prst="roundRect">
            <a:avLst>
              <a:gd name="adj" fmla="val 744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435840" y="3383280"/>
            <a:ext cx="4462272" cy="384555"/>
          </a:xfrm>
          <a:prstGeom prst="rect">
            <a:avLst/>
          </a:prstGeom>
          <a:noFill/>
        </p:spPr>
        <p:txBody>
          <a:bodyPr wrap="square" anchor="t" lIns="0" rIns="0" tIns="0" bIns="0">
            <a:spAutoFit/>
          </a:bodyPr>
          <a:lstStyle/>
          <a:p>
            <a:pPr algn="l">
              <a:lnSpc>
                <a:spcPct val="118000"/>
              </a:lnSpc>
            </a:pPr>
            <a:r>
              <a:rPr sz="2200" b="0" i="0">
                <a:solidFill>
                  <a:srgbClr val="331B0D"/>
                </a:solidFill>
                <a:latin typeface="Open Sauce"/>
              </a:rPr>
              <a:t>Documents</a:t>
            </a:r>
          </a:p>
        </p:txBody>
      </p:sp>
      <p:sp>
        <p:nvSpPr>
          <p:cNvPr id="14" name="TextBox 13"/>
          <p:cNvSpPr txBox="1"/>
          <p:nvPr/>
        </p:nvSpPr>
        <p:spPr>
          <a:xfrm>
            <a:off x="12435840" y="3904487"/>
            <a:ext cx="4462272" cy="616204"/>
          </a:xfrm>
          <a:prstGeom prst="rect">
            <a:avLst/>
          </a:prstGeom>
          <a:noFill/>
        </p:spPr>
        <p:txBody>
          <a:bodyPr wrap="square" anchor="t" lIns="0" rIns="0" tIns="0" bIns="0">
            <a:spAutoFit/>
          </a:bodyPr>
          <a:lstStyle/>
          <a:p>
            <a:pPr algn="l">
              <a:lnSpc>
                <a:spcPct val="130000"/>
              </a:lnSpc>
            </a:pPr>
            <a:r>
              <a:rPr sz="1700" b="0" i="0">
                <a:solidFill>
                  <a:srgbClr val="8C7753"/>
                </a:solidFill>
                <a:latin typeface="Open Sauce"/>
              </a:rPr>
              <a:t>document  ·  storage  ·  processing  ·  verification</a:t>
            </a:r>
          </a:p>
        </p:txBody>
      </p:sp>
      <p:sp>
        <p:nvSpPr>
          <p:cNvPr id="15" name="Rounded Rectangle 14"/>
          <p:cNvSpPr/>
          <p:nvPr/>
        </p:nvSpPr>
        <p:spPr>
          <a:xfrm>
            <a:off x="1024128" y="5065776"/>
            <a:ext cx="5193792" cy="1719072"/>
          </a:xfrm>
          <a:prstGeom prst="roundRect">
            <a:avLst>
              <a:gd name="adj" fmla="val 744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89888" y="5321808"/>
            <a:ext cx="4462272" cy="384555"/>
          </a:xfrm>
          <a:prstGeom prst="rect">
            <a:avLst/>
          </a:prstGeom>
          <a:noFill/>
        </p:spPr>
        <p:txBody>
          <a:bodyPr wrap="square" anchor="t" lIns="0" rIns="0" tIns="0" bIns="0">
            <a:spAutoFit/>
          </a:bodyPr>
          <a:lstStyle/>
          <a:p>
            <a:pPr algn="l">
              <a:lnSpc>
                <a:spcPct val="118000"/>
              </a:lnSpc>
            </a:pPr>
            <a:r>
              <a:rPr sz="2200" b="0" i="0">
                <a:solidFill>
                  <a:srgbClr val="331B0D"/>
                </a:solidFill>
                <a:latin typeface="Open Sauce"/>
              </a:rPr>
              <a:t>Legal content</a:t>
            </a:r>
          </a:p>
        </p:txBody>
      </p:sp>
      <p:sp>
        <p:nvSpPr>
          <p:cNvPr id="17" name="TextBox 16"/>
          <p:cNvSpPr txBox="1"/>
          <p:nvPr/>
        </p:nvSpPr>
        <p:spPr>
          <a:xfrm>
            <a:off x="1389888" y="5843016"/>
            <a:ext cx="4462272" cy="616204"/>
          </a:xfrm>
          <a:prstGeom prst="rect">
            <a:avLst/>
          </a:prstGeom>
          <a:noFill/>
        </p:spPr>
        <p:txBody>
          <a:bodyPr wrap="square" anchor="t" lIns="0" rIns="0" tIns="0" bIns="0">
            <a:spAutoFit/>
          </a:bodyPr>
          <a:lstStyle/>
          <a:p>
            <a:pPr algn="l">
              <a:lnSpc>
                <a:spcPct val="130000"/>
              </a:lnSpc>
            </a:pPr>
            <a:r>
              <a:rPr sz="1700" b="0" i="0">
                <a:solidFill>
                  <a:srgbClr val="8C7753"/>
                </a:solidFill>
                <a:latin typeface="Open Sauce"/>
              </a:rPr>
              <a:t>content governance  ·  corpus governance  ·  library  ·  research  ·  memory</a:t>
            </a:r>
          </a:p>
        </p:txBody>
      </p:sp>
      <p:sp>
        <p:nvSpPr>
          <p:cNvPr id="18" name="Rounded Rectangle 17"/>
          <p:cNvSpPr/>
          <p:nvPr/>
        </p:nvSpPr>
        <p:spPr>
          <a:xfrm>
            <a:off x="6547104" y="5065776"/>
            <a:ext cx="5193792" cy="1719072"/>
          </a:xfrm>
          <a:prstGeom prst="roundRect">
            <a:avLst>
              <a:gd name="adj" fmla="val 744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12864" y="5321808"/>
            <a:ext cx="4462272" cy="384555"/>
          </a:xfrm>
          <a:prstGeom prst="rect">
            <a:avLst/>
          </a:prstGeom>
          <a:noFill/>
        </p:spPr>
        <p:txBody>
          <a:bodyPr wrap="square" anchor="t" lIns="0" rIns="0" tIns="0" bIns="0">
            <a:spAutoFit/>
          </a:bodyPr>
          <a:lstStyle/>
          <a:p>
            <a:pPr algn="l">
              <a:lnSpc>
                <a:spcPct val="118000"/>
              </a:lnSpc>
            </a:pPr>
            <a:r>
              <a:rPr sz="2200" b="0" i="0">
                <a:solidFill>
                  <a:srgbClr val="331B0D"/>
                </a:solidFill>
                <a:latin typeface="Open Sauce"/>
              </a:rPr>
              <a:t>Output and control</a:t>
            </a:r>
          </a:p>
        </p:txBody>
      </p:sp>
      <p:sp>
        <p:nvSpPr>
          <p:cNvPr id="20" name="TextBox 19"/>
          <p:cNvSpPr txBox="1"/>
          <p:nvPr/>
        </p:nvSpPr>
        <p:spPr>
          <a:xfrm>
            <a:off x="6912864" y="5843016"/>
            <a:ext cx="4462272" cy="616204"/>
          </a:xfrm>
          <a:prstGeom prst="rect">
            <a:avLst/>
          </a:prstGeom>
          <a:noFill/>
        </p:spPr>
        <p:txBody>
          <a:bodyPr wrap="square" anchor="t" lIns="0" rIns="0" tIns="0" bIns="0">
            <a:spAutoFit/>
          </a:bodyPr>
          <a:lstStyle/>
          <a:p>
            <a:pPr algn="l">
              <a:lnSpc>
                <a:spcPct val="130000"/>
              </a:lnSpc>
            </a:pPr>
            <a:r>
              <a:rPr sz="1700" b="0" i="0">
                <a:solidFill>
                  <a:srgbClr val="8C7753"/>
                </a:solidFill>
                <a:latin typeface="Open Sauce"/>
              </a:rPr>
              <a:t>check  ·  draft  ·  approval  ·  export  ·  notarial register</a:t>
            </a:r>
          </a:p>
        </p:txBody>
      </p:sp>
      <p:sp>
        <p:nvSpPr>
          <p:cNvPr id="21" name="Rounded Rectangle 20"/>
          <p:cNvSpPr/>
          <p:nvPr/>
        </p:nvSpPr>
        <p:spPr>
          <a:xfrm>
            <a:off x="12070080" y="5065776"/>
            <a:ext cx="5193792" cy="1719072"/>
          </a:xfrm>
          <a:prstGeom prst="roundRect">
            <a:avLst>
              <a:gd name="adj" fmla="val 7446"/>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2435840" y="5321808"/>
            <a:ext cx="4462272" cy="384555"/>
          </a:xfrm>
          <a:prstGeom prst="rect">
            <a:avLst/>
          </a:prstGeom>
          <a:noFill/>
        </p:spPr>
        <p:txBody>
          <a:bodyPr wrap="square" anchor="t" lIns="0" rIns="0" tIns="0" bIns="0">
            <a:spAutoFit/>
          </a:bodyPr>
          <a:lstStyle/>
          <a:p>
            <a:pPr algn="l">
              <a:lnSpc>
                <a:spcPct val="118000"/>
              </a:lnSpc>
            </a:pPr>
            <a:r>
              <a:rPr sz="2200" b="0" i="0">
                <a:solidFill>
                  <a:srgbClr val="331B0D"/>
                </a:solidFill>
                <a:latin typeface="Open Sauce"/>
              </a:rPr>
              <a:t>Platform services</a:t>
            </a:r>
          </a:p>
        </p:txBody>
      </p:sp>
      <p:sp>
        <p:nvSpPr>
          <p:cNvPr id="23" name="TextBox 22"/>
          <p:cNvSpPr txBox="1"/>
          <p:nvPr/>
        </p:nvSpPr>
        <p:spPr>
          <a:xfrm>
            <a:off x="12435840" y="5843016"/>
            <a:ext cx="4462272" cy="335534"/>
          </a:xfrm>
          <a:prstGeom prst="rect">
            <a:avLst/>
          </a:prstGeom>
          <a:noFill/>
        </p:spPr>
        <p:txBody>
          <a:bodyPr wrap="square" anchor="t" lIns="0" rIns="0" tIns="0" bIns="0">
            <a:spAutoFit/>
          </a:bodyPr>
          <a:lstStyle/>
          <a:p>
            <a:pPr algn="l">
              <a:lnSpc>
                <a:spcPct val="130000"/>
              </a:lnSpc>
            </a:pPr>
            <a:r>
              <a:rPr sz="1700" b="0" i="0">
                <a:solidFill>
                  <a:srgbClr val="8C7753"/>
                </a:solidFill>
                <a:latin typeface="Open Sauce"/>
              </a:rPr>
              <a:t>audit  ·  retention  ·  notification  ·  voice</a:t>
            </a:r>
          </a:p>
        </p:txBody>
      </p:sp>
      <p:sp>
        <p:nvSpPr>
          <p:cNvPr id="24" name="Rounded Rectangle 23"/>
          <p:cNvSpPr/>
          <p:nvPr/>
        </p:nvSpPr>
        <p:spPr>
          <a:xfrm>
            <a:off x="1024128" y="7150608"/>
            <a:ext cx="16239743" cy="1417320"/>
          </a:xfrm>
          <a:prstGeom prst="roundRect">
            <a:avLst>
              <a:gd name="adj" fmla="val 9032"/>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481328" y="7360920"/>
            <a:ext cx="7680960" cy="701548"/>
          </a:xfrm>
          <a:prstGeom prst="rect">
            <a:avLst/>
          </a:prstGeom>
          <a:noFill/>
        </p:spPr>
        <p:txBody>
          <a:bodyPr wrap="square" anchor="t" lIns="0" rIns="0" tIns="0" bIns="0">
            <a:spAutoFit/>
          </a:bodyPr>
          <a:lstStyle/>
          <a:p>
            <a:pPr algn="l">
              <a:lnSpc>
                <a:spcPct val="134000"/>
              </a:lnSpc>
            </a:pPr>
            <a:r>
              <a:rPr sz="1900" b="0" i="0">
                <a:solidFill>
                  <a:srgbClr val="FAF7F0"/>
                </a:solidFill>
                <a:latin typeface="Open Sauce"/>
              </a:rPr>
              <a:t>24 services in a modular monolith, each with a written design doc, a contract entry and a CI check that fails if the two drift.</a:t>
            </a:r>
          </a:p>
        </p:txBody>
      </p:sp>
      <p:sp>
        <p:nvSpPr>
          <p:cNvPr id="26" name="TextBox 25"/>
          <p:cNvSpPr txBox="1"/>
          <p:nvPr/>
        </p:nvSpPr>
        <p:spPr>
          <a:xfrm>
            <a:off x="9802367" y="7360920"/>
            <a:ext cx="7498079" cy="701548"/>
          </a:xfrm>
          <a:prstGeom prst="rect">
            <a:avLst/>
          </a:prstGeom>
          <a:noFill/>
        </p:spPr>
        <p:txBody>
          <a:bodyPr wrap="square" anchor="t" lIns="0" rIns="0" tIns="0" bIns="0">
            <a:spAutoFit/>
          </a:bodyPr>
          <a:lstStyle/>
          <a:p>
            <a:pPr algn="l">
              <a:lnSpc>
                <a:spcPct val="134000"/>
              </a:lnSpc>
            </a:pPr>
            <a:r>
              <a:rPr sz="1900" b="0" i="0">
                <a:solidFill>
                  <a:srgbClr val="FAF7F0"/>
                </a:solidFill>
                <a:latin typeface="Open Sauce"/>
              </a:rPr>
              <a:t>A Next.js front end with 25 routes, including the matter workspace: documents, facts, checks, workflow, drafts, activity.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PLATFORM BUILD</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24</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The document-processing pipeline</a:t>
            </a:r>
          </a:p>
        </p:txBody>
      </p:sp>
      <p:sp>
        <p:nvSpPr>
          <p:cNvPr id="6" name="Rounded Rectangle 5"/>
          <p:cNvSpPr/>
          <p:nvPr/>
        </p:nvSpPr>
        <p:spPr>
          <a:xfrm>
            <a:off x="1024128" y="3200400"/>
            <a:ext cx="2447543" cy="1463040"/>
          </a:xfrm>
          <a:prstGeom prst="roundRect">
            <a:avLst>
              <a:gd name="adj" fmla="val 7500"/>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70432" y="3200400"/>
            <a:ext cx="2154936" cy="1463040"/>
          </a:xfrm>
          <a:prstGeom prst="rect">
            <a:avLst/>
          </a:prstGeom>
          <a:noFill/>
        </p:spPr>
        <p:txBody>
          <a:bodyPr wrap="square" anchor="ctr" lIns="0" rIns="0" tIns="0" bIns="0">
            <a:spAutoFit/>
          </a:bodyPr>
          <a:lstStyle/>
          <a:p>
            <a:pPr algn="ctr">
              <a:lnSpc>
                <a:spcPct val="122000"/>
              </a:lnSpc>
            </a:pPr>
            <a:r>
              <a:rPr sz="1700" b="0" i="0">
                <a:solidFill>
                  <a:srgbClr val="331B0D"/>
                </a:solidFill>
                <a:latin typeface="Open Sauce"/>
              </a:rPr>
              <a:t>Upload, split and classify</a:t>
            </a:r>
          </a:p>
        </p:txBody>
      </p:sp>
      <p:sp>
        <p:nvSpPr>
          <p:cNvPr id="8" name="Isosceles Triangle 7"/>
          <p:cNvSpPr/>
          <p:nvPr/>
        </p:nvSpPr>
        <p:spPr>
          <a:xfrm rot="5400000">
            <a:off x="3508248" y="381304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782568" y="3200400"/>
            <a:ext cx="2447543" cy="1463040"/>
          </a:xfrm>
          <a:prstGeom prst="roundRect">
            <a:avLst>
              <a:gd name="adj" fmla="val 7500"/>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928872" y="3200400"/>
            <a:ext cx="2154936" cy="1463040"/>
          </a:xfrm>
          <a:prstGeom prst="rect">
            <a:avLst/>
          </a:prstGeom>
          <a:noFill/>
        </p:spPr>
        <p:txBody>
          <a:bodyPr wrap="square" anchor="ctr" lIns="0" rIns="0" tIns="0" bIns="0">
            <a:spAutoFit/>
          </a:bodyPr>
          <a:lstStyle/>
          <a:p>
            <a:pPr algn="ctr">
              <a:lnSpc>
                <a:spcPct val="122000"/>
              </a:lnSpc>
            </a:pPr>
            <a:r>
              <a:rPr sz="1700" b="0" i="0">
                <a:solidFill>
                  <a:srgbClr val="331B0D"/>
                </a:solidFill>
                <a:latin typeface="Open Sauce"/>
              </a:rPr>
              <a:t>OCR, layout analysis or OCR-free extraction</a:t>
            </a:r>
          </a:p>
        </p:txBody>
      </p:sp>
      <p:sp>
        <p:nvSpPr>
          <p:cNvPr id="11" name="Isosceles Triangle 10"/>
          <p:cNvSpPr/>
          <p:nvPr/>
        </p:nvSpPr>
        <p:spPr>
          <a:xfrm rot="5400000">
            <a:off x="6266687" y="381304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541007" y="3200400"/>
            <a:ext cx="2447543" cy="1463040"/>
          </a:xfrm>
          <a:prstGeom prst="roundRect">
            <a:avLst>
              <a:gd name="adj" fmla="val 7500"/>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687311" y="3200400"/>
            <a:ext cx="2154936" cy="1463040"/>
          </a:xfrm>
          <a:prstGeom prst="rect">
            <a:avLst/>
          </a:prstGeom>
          <a:noFill/>
        </p:spPr>
        <p:txBody>
          <a:bodyPr wrap="square" anchor="ctr" lIns="0" rIns="0" tIns="0" bIns="0">
            <a:spAutoFit/>
          </a:bodyPr>
          <a:lstStyle/>
          <a:p>
            <a:pPr algn="ctr">
              <a:lnSpc>
                <a:spcPct val="122000"/>
              </a:lnSpc>
            </a:pPr>
            <a:r>
              <a:rPr sz="1700" b="0" i="0">
                <a:solidFill>
                  <a:srgbClr val="331B0D"/>
                </a:solidFill>
                <a:latin typeface="Open Sauce"/>
              </a:rPr>
              <a:t>Structured legal-information extraction</a:t>
            </a:r>
          </a:p>
        </p:txBody>
      </p:sp>
      <p:sp>
        <p:nvSpPr>
          <p:cNvPr id="14" name="Isosceles Triangle 13"/>
          <p:cNvSpPr/>
          <p:nvPr/>
        </p:nvSpPr>
        <p:spPr>
          <a:xfrm rot="5400000">
            <a:off x="9025127" y="381304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299447" y="3200400"/>
            <a:ext cx="2447543" cy="1463040"/>
          </a:xfrm>
          <a:prstGeom prst="roundRect">
            <a:avLst>
              <a:gd name="adj" fmla="val 7500"/>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445751" y="3200400"/>
            <a:ext cx="2154936" cy="1463040"/>
          </a:xfrm>
          <a:prstGeom prst="rect">
            <a:avLst/>
          </a:prstGeom>
          <a:noFill/>
        </p:spPr>
        <p:txBody>
          <a:bodyPr wrap="square" anchor="ctr" lIns="0" rIns="0" tIns="0" bIns="0">
            <a:spAutoFit/>
          </a:bodyPr>
          <a:lstStyle/>
          <a:p>
            <a:pPr algn="ctr">
              <a:lnSpc>
                <a:spcPct val="122000"/>
              </a:lnSpc>
            </a:pPr>
            <a:r>
              <a:rPr sz="1700" b="0" i="0">
                <a:solidFill>
                  <a:srgbClr val="331B0D"/>
                </a:solidFill>
                <a:latin typeface="Open Sauce"/>
              </a:rPr>
              <a:t>Cross-document linking and chain of title</a:t>
            </a:r>
          </a:p>
        </p:txBody>
      </p:sp>
      <p:sp>
        <p:nvSpPr>
          <p:cNvPr id="17" name="Isosceles Triangle 16"/>
          <p:cNvSpPr/>
          <p:nvPr/>
        </p:nvSpPr>
        <p:spPr>
          <a:xfrm rot="5400000">
            <a:off x="11783567" y="381304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2057887" y="3200400"/>
            <a:ext cx="2447543" cy="1463040"/>
          </a:xfrm>
          <a:prstGeom prst="roundRect">
            <a:avLst>
              <a:gd name="adj" fmla="val 7500"/>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204191" y="3200400"/>
            <a:ext cx="2154936" cy="1463040"/>
          </a:xfrm>
          <a:prstGeom prst="rect">
            <a:avLst/>
          </a:prstGeom>
          <a:noFill/>
        </p:spPr>
        <p:txBody>
          <a:bodyPr wrap="square" anchor="ctr" lIns="0" rIns="0" tIns="0" bIns="0">
            <a:spAutoFit/>
          </a:bodyPr>
          <a:lstStyle/>
          <a:p>
            <a:pPr algn="ctr">
              <a:lnSpc>
                <a:spcPct val="122000"/>
              </a:lnSpc>
            </a:pPr>
            <a:r>
              <a:rPr sz="1700" b="0" i="0">
                <a:solidFill>
                  <a:srgbClr val="331B0D"/>
                </a:solidFill>
                <a:latin typeface="Open Sauce"/>
              </a:rPr>
              <a:t>Consistency and legal-rule checks</a:t>
            </a:r>
          </a:p>
        </p:txBody>
      </p:sp>
      <p:sp>
        <p:nvSpPr>
          <p:cNvPr id="20" name="Isosceles Triangle 19"/>
          <p:cNvSpPr/>
          <p:nvPr/>
        </p:nvSpPr>
        <p:spPr>
          <a:xfrm rot="5400000">
            <a:off x="14542007" y="3813048"/>
            <a:ext cx="237744" cy="237744"/>
          </a:xfrm>
          <a:prstGeom prst="triangle">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816327" y="3200400"/>
            <a:ext cx="2447543" cy="1463040"/>
          </a:xfrm>
          <a:prstGeom prst="roundRect">
            <a:avLst>
              <a:gd name="adj" fmla="val 7500"/>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4962631" y="3200400"/>
            <a:ext cx="2154936" cy="1463040"/>
          </a:xfrm>
          <a:prstGeom prst="rect">
            <a:avLst/>
          </a:prstGeom>
          <a:noFill/>
        </p:spPr>
        <p:txBody>
          <a:bodyPr wrap="square" anchor="ctr" lIns="0" rIns="0" tIns="0" bIns="0">
            <a:spAutoFit/>
          </a:bodyPr>
          <a:lstStyle/>
          <a:p>
            <a:pPr algn="ctr">
              <a:lnSpc>
                <a:spcPct val="122000"/>
              </a:lnSpc>
            </a:pPr>
            <a:r>
              <a:rPr sz="1700" b="0" i="0">
                <a:solidFill>
                  <a:srgbClr val="331B0D"/>
                </a:solidFill>
                <a:latin typeface="Open Sauce"/>
              </a:rPr>
              <a:t>Draft, then lawyer verification</a:t>
            </a:r>
          </a:p>
        </p:txBody>
      </p:sp>
      <p:cxnSp>
        <p:nvCxnSpPr>
          <p:cNvPr id="23" name="Connector 22"/>
          <p:cNvCxnSpPr/>
          <p:nvPr/>
        </p:nvCxnSpPr>
        <p:spPr>
          <a:xfrm>
            <a:off x="1024128" y="5166360"/>
            <a:ext cx="16239744"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24128" y="5486400"/>
            <a:ext cx="775411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Approaches being compared</a:t>
            </a:r>
          </a:p>
        </p:txBody>
      </p:sp>
      <p:sp>
        <p:nvSpPr>
          <p:cNvPr id="25" name="TextBox 24"/>
          <p:cNvSpPr txBox="1"/>
          <p:nvPr/>
        </p:nvSpPr>
        <p:spPr>
          <a:xfrm>
            <a:off x="1024128" y="6126480"/>
            <a:ext cx="7754111" cy="1976374"/>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Production-scale OCR and LLM microservices</a:t>
            </a:r>
          </a:p>
          <a:p>
            <a:pPr algn="l" marL="310896" indent="-310896">
              <a:lnSpc>
                <a:spcPct val="134000"/>
              </a:lnSpc>
              <a:spcBef>
                <a:spcPts val="600"/>
              </a:spcBef>
            </a:pPr>
            <a:r>
              <a:rPr sz="1900" b="0" i="0">
                <a:solidFill>
                  <a:srgbClr val="331B0D"/>
                </a:solidFill>
                <a:latin typeface="Open Sauce"/>
              </a:rPr>
              <a:t>•   Document splitting with multimodal extraction</a:t>
            </a:r>
          </a:p>
          <a:p>
            <a:pPr algn="l" marL="310896" indent="-310896">
              <a:lnSpc>
                <a:spcPct val="134000"/>
              </a:lnSpc>
              <a:spcBef>
                <a:spcPts val="600"/>
              </a:spcBef>
            </a:pPr>
            <a:r>
              <a:rPr sz="1900" b="0" i="0">
                <a:solidFill>
                  <a:srgbClr val="331B0D"/>
                </a:solidFill>
                <a:latin typeface="Open Sauce"/>
              </a:rPr>
              <a:t>•   OCR-free document understanding</a:t>
            </a:r>
          </a:p>
          <a:p>
            <a:pPr algn="l" marL="310896" indent="-310896">
              <a:lnSpc>
                <a:spcPct val="134000"/>
              </a:lnSpc>
              <a:spcBef>
                <a:spcPts val="600"/>
              </a:spcBef>
            </a:pPr>
            <a:r>
              <a:rPr sz="1900" b="0" i="0">
                <a:solidFill>
                  <a:srgbClr val="331B0D"/>
                </a:solidFill>
                <a:latin typeface="Open Sauce"/>
              </a:rPr>
              <a:t>•   Multi-agent processing with human validation</a:t>
            </a:r>
          </a:p>
          <a:p>
            <a:pPr algn="l" marL="310896" indent="-310896">
              <a:lnSpc>
                <a:spcPct val="134000"/>
              </a:lnSpc>
              <a:spcBef>
                <a:spcPts val="600"/>
              </a:spcBef>
            </a:pPr>
            <a:r>
              <a:rPr sz="1900" b="0" i="0">
                <a:solidFill>
                  <a:srgbClr val="331B0D"/>
                </a:solidFill>
                <a:latin typeface="Open Sauce"/>
              </a:rPr>
              <a:t>•   Reconstruction-based extraction verification</a:t>
            </a:r>
          </a:p>
        </p:txBody>
      </p:sp>
      <p:sp>
        <p:nvSpPr>
          <p:cNvPr id="26" name="TextBox 25"/>
          <p:cNvSpPr txBox="1"/>
          <p:nvPr/>
        </p:nvSpPr>
        <p:spPr>
          <a:xfrm>
            <a:off x="9509759" y="5486400"/>
            <a:ext cx="775411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Our own OCR benchmark</a:t>
            </a:r>
          </a:p>
        </p:txBody>
      </p:sp>
      <p:sp>
        <p:nvSpPr>
          <p:cNvPr id="27" name="TextBox 26"/>
          <p:cNvSpPr txBox="1"/>
          <p:nvPr/>
        </p:nvSpPr>
        <p:spPr>
          <a:xfrm>
            <a:off x="9509759" y="6126480"/>
            <a:ext cx="7754111" cy="1039368"/>
          </a:xfrm>
          <a:prstGeom prst="rect">
            <a:avLst/>
          </a:prstGeom>
          <a:noFill/>
        </p:spPr>
        <p:txBody>
          <a:bodyPr wrap="square" anchor="t" lIns="0" rIns="0" tIns="0" bIns="0">
            <a:spAutoFit/>
          </a:bodyPr>
          <a:lstStyle/>
          <a:p>
            <a:pPr algn="l">
              <a:lnSpc>
                <a:spcPct val="136000"/>
              </a:lnSpc>
            </a:pPr>
            <a:r>
              <a:rPr sz="1900" b="0" i="0">
                <a:solidFill>
                  <a:srgbClr val="331B0D"/>
                </a:solidFill>
                <a:latin typeface="Open Sauce"/>
              </a:rPr>
              <a:t>We compare a hosted model against an open-source engine and preprocessing variants on scanned Sri Lankan conveyancing documents, using one shared field schema.</a:t>
            </a:r>
          </a:p>
        </p:txBody>
      </p:sp>
      <p:sp>
        <p:nvSpPr>
          <p:cNvPr id="28" name="TextBox 27"/>
          <p:cNvSpPr txBox="1"/>
          <p:nvPr/>
        </p:nvSpPr>
        <p:spPr>
          <a:xfrm>
            <a:off x="9509759" y="7543800"/>
            <a:ext cx="7754111" cy="667512"/>
          </a:xfrm>
          <a:prstGeom prst="rect">
            <a:avLst/>
          </a:prstGeom>
          <a:noFill/>
        </p:spPr>
        <p:txBody>
          <a:bodyPr wrap="square" anchor="t" lIns="0" rIns="0" tIns="0" bIns="0">
            <a:spAutoFit/>
          </a:bodyPr>
          <a:lstStyle/>
          <a:p>
            <a:pPr algn="l">
              <a:lnSpc>
                <a:spcPct val="134000"/>
              </a:lnSpc>
            </a:pPr>
            <a:r>
              <a:rPr sz="1800" b="0" i="1">
                <a:solidFill>
                  <a:srgbClr val="8C7753"/>
                </a:solidFill>
                <a:latin typeface="Open Sauce Italics"/>
              </a:rPr>
              <a:t>A synthetic run must score 100% and 0.00 character error. If it does not, the harness is broken and no other result is trusted.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PLATFORM WORKFLOW</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25</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An RTA transfer, end to end</a:t>
            </a:r>
          </a:p>
        </p:txBody>
      </p:sp>
      <p:sp>
        <p:nvSpPr>
          <p:cNvPr id="6" name="TextBox 5"/>
          <p:cNvSpPr txBox="1"/>
          <p:nvPr/>
        </p:nvSpPr>
        <p:spPr>
          <a:xfrm>
            <a:off x="1024128" y="3236976"/>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01</a:t>
            </a:r>
          </a:p>
        </p:txBody>
      </p:sp>
      <p:sp>
        <p:nvSpPr>
          <p:cNvPr id="7" name="TextBox 6"/>
          <p:cNvSpPr txBox="1"/>
          <p:nvPr/>
        </p:nvSpPr>
        <p:spPr>
          <a:xfrm>
            <a:off x="1737360" y="3200400"/>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The lawyer selects a transfer.</a:t>
            </a:r>
          </a:p>
        </p:txBody>
      </p:sp>
      <p:cxnSp>
        <p:nvCxnSpPr>
          <p:cNvPr id="8" name="Connector 7"/>
          <p:cNvCxnSpPr/>
          <p:nvPr/>
        </p:nvCxnSpPr>
        <p:spPr>
          <a:xfrm>
            <a:off x="1024128" y="3877056"/>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24128" y="4206240"/>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02</a:t>
            </a:r>
          </a:p>
        </p:txBody>
      </p:sp>
      <p:sp>
        <p:nvSpPr>
          <p:cNvPr id="10" name="TextBox 9"/>
          <p:cNvSpPr txBox="1"/>
          <p:nvPr/>
        </p:nvSpPr>
        <p:spPr>
          <a:xfrm>
            <a:off x="1737360" y="4169664"/>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The system asks for the documents it needs.</a:t>
            </a:r>
          </a:p>
        </p:txBody>
      </p:sp>
      <p:cxnSp>
        <p:nvCxnSpPr>
          <p:cNvPr id="11" name="Connector 10"/>
          <p:cNvCxnSpPr/>
          <p:nvPr/>
        </p:nvCxnSpPr>
        <p:spPr>
          <a:xfrm>
            <a:off x="1024128" y="4846320"/>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024128" y="5175504"/>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03</a:t>
            </a:r>
          </a:p>
        </p:txBody>
      </p:sp>
      <p:sp>
        <p:nvSpPr>
          <p:cNvPr id="13" name="TextBox 12"/>
          <p:cNvSpPr txBox="1"/>
          <p:nvPr/>
        </p:nvSpPr>
        <p:spPr>
          <a:xfrm>
            <a:off x="1737360" y="5138928"/>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Party and property details are extracted.</a:t>
            </a:r>
          </a:p>
        </p:txBody>
      </p:sp>
      <p:cxnSp>
        <p:nvCxnSpPr>
          <p:cNvPr id="14" name="Connector 13"/>
          <p:cNvCxnSpPr/>
          <p:nvPr/>
        </p:nvCxnSpPr>
        <p:spPr>
          <a:xfrm>
            <a:off x="1024128" y="5815584"/>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024128" y="6144768"/>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04</a:t>
            </a:r>
          </a:p>
        </p:txBody>
      </p:sp>
      <p:sp>
        <p:nvSpPr>
          <p:cNvPr id="16" name="TextBox 15"/>
          <p:cNvSpPr txBox="1"/>
          <p:nvPr/>
        </p:nvSpPr>
        <p:spPr>
          <a:xfrm>
            <a:off x="1737360" y="6108192"/>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Identity and jurisdiction are checked.</a:t>
            </a:r>
          </a:p>
        </p:txBody>
      </p:sp>
      <p:cxnSp>
        <p:nvCxnSpPr>
          <p:cNvPr id="17" name="Connector 16"/>
          <p:cNvCxnSpPr/>
          <p:nvPr/>
        </p:nvCxnSpPr>
        <p:spPr>
          <a:xfrm>
            <a:off x="1024128" y="6784848"/>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24128" y="7114032"/>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05</a:t>
            </a:r>
          </a:p>
        </p:txBody>
      </p:sp>
      <p:sp>
        <p:nvSpPr>
          <p:cNvPr id="19" name="TextBox 18"/>
          <p:cNvSpPr txBox="1"/>
          <p:nvPr/>
        </p:nvSpPr>
        <p:spPr>
          <a:xfrm>
            <a:off x="1737360" y="7077456"/>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The governing provisions and forms are retrieved.</a:t>
            </a:r>
          </a:p>
        </p:txBody>
      </p:sp>
      <p:sp>
        <p:nvSpPr>
          <p:cNvPr id="20" name="TextBox 19"/>
          <p:cNvSpPr txBox="1"/>
          <p:nvPr/>
        </p:nvSpPr>
        <p:spPr>
          <a:xfrm>
            <a:off x="9418319" y="3236976"/>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06</a:t>
            </a:r>
          </a:p>
        </p:txBody>
      </p:sp>
      <p:sp>
        <p:nvSpPr>
          <p:cNvPr id="21" name="TextBox 20"/>
          <p:cNvSpPr txBox="1"/>
          <p:nvPr/>
        </p:nvSpPr>
        <p:spPr>
          <a:xfrm>
            <a:off x="10131551" y="3200400"/>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The correct order of the transaction is laid out.</a:t>
            </a:r>
          </a:p>
        </p:txBody>
      </p:sp>
      <p:cxnSp>
        <p:nvCxnSpPr>
          <p:cNvPr id="22" name="Connector 21"/>
          <p:cNvCxnSpPr/>
          <p:nvPr/>
        </p:nvCxnSpPr>
        <p:spPr>
          <a:xfrm>
            <a:off x="9418319" y="3877056"/>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9418319" y="4206240"/>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07</a:t>
            </a:r>
          </a:p>
        </p:txBody>
      </p:sp>
      <p:sp>
        <p:nvSpPr>
          <p:cNvPr id="24" name="TextBox 23"/>
          <p:cNvSpPr txBox="1"/>
          <p:nvPr/>
        </p:nvSpPr>
        <p:spPr>
          <a:xfrm>
            <a:off x="10131551" y="4169664"/>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Missing information and inconsistencies are flagged.</a:t>
            </a:r>
          </a:p>
        </p:txBody>
      </p:sp>
      <p:cxnSp>
        <p:nvCxnSpPr>
          <p:cNvPr id="25" name="Connector 24"/>
          <p:cNvCxnSpPr/>
          <p:nvPr/>
        </p:nvCxnSpPr>
        <p:spPr>
          <a:xfrm>
            <a:off x="9418319" y="4846320"/>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418319" y="5175504"/>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08</a:t>
            </a:r>
          </a:p>
        </p:txBody>
      </p:sp>
      <p:sp>
        <p:nvSpPr>
          <p:cNvPr id="27" name="TextBox 26"/>
          <p:cNvSpPr txBox="1"/>
          <p:nvPr/>
        </p:nvSpPr>
        <p:spPr>
          <a:xfrm>
            <a:off x="10131551" y="5138928"/>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The draft is generated, watermarked as a draft.</a:t>
            </a:r>
          </a:p>
        </p:txBody>
      </p:sp>
      <p:cxnSp>
        <p:nvCxnSpPr>
          <p:cNvPr id="28" name="Connector 27"/>
          <p:cNvCxnSpPr/>
          <p:nvPr/>
        </p:nvCxnSpPr>
        <p:spPr>
          <a:xfrm>
            <a:off x="9418319" y="5815584"/>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418319" y="6144768"/>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09</a:t>
            </a:r>
          </a:p>
        </p:txBody>
      </p:sp>
      <p:sp>
        <p:nvSpPr>
          <p:cNvPr id="30" name="TextBox 29"/>
          <p:cNvSpPr txBox="1"/>
          <p:nvPr/>
        </p:nvSpPr>
        <p:spPr>
          <a:xfrm>
            <a:off x="10131551" y="6108192"/>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Every requirement is linked back to its authority.</a:t>
            </a:r>
          </a:p>
        </p:txBody>
      </p:sp>
      <p:cxnSp>
        <p:nvCxnSpPr>
          <p:cNvPr id="31" name="Connector 30"/>
          <p:cNvCxnSpPr/>
          <p:nvPr/>
        </p:nvCxnSpPr>
        <p:spPr>
          <a:xfrm>
            <a:off x="9418319" y="6784848"/>
            <a:ext cx="7845552" cy="0"/>
          </a:xfrm>
          <a:prstGeom prst="line">
            <a:avLst/>
          </a:prstGeom>
          <a:ln w="12700">
            <a:solidFill>
              <a:srgbClr val="D9CDB8"/>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418319" y="7114032"/>
            <a:ext cx="640080" cy="346964"/>
          </a:xfrm>
          <a:prstGeom prst="rect">
            <a:avLst/>
          </a:prstGeom>
          <a:noFill/>
        </p:spPr>
        <p:txBody>
          <a:bodyPr wrap="square" anchor="t" lIns="0" rIns="0" tIns="0" bIns="0">
            <a:spAutoFit/>
          </a:bodyPr>
          <a:lstStyle/>
          <a:p>
            <a:pPr algn="l">
              <a:lnSpc>
                <a:spcPct val="115000"/>
              </a:lnSpc>
            </a:pPr>
            <a:r>
              <a:rPr sz="2000" b="1" i="0">
                <a:solidFill>
                  <a:srgbClr val="8C7753"/>
                </a:solidFill>
                <a:latin typeface="Open Sauce Bold"/>
              </a:rPr>
              <a:t>10</a:t>
            </a:r>
          </a:p>
        </p:txBody>
      </p:sp>
      <p:sp>
        <p:nvSpPr>
          <p:cNvPr id="33" name="TextBox 32"/>
          <p:cNvSpPr txBox="1"/>
          <p:nvPr/>
        </p:nvSpPr>
        <p:spPr>
          <a:xfrm>
            <a:off x="10131551" y="7077456"/>
            <a:ext cx="7132319" cy="385064"/>
          </a:xfrm>
          <a:prstGeom prst="rect">
            <a:avLst/>
          </a:prstGeom>
          <a:noFill/>
        </p:spPr>
        <p:txBody>
          <a:bodyPr wrap="square" anchor="t" lIns="0" rIns="0" tIns="0" bIns="0">
            <a:spAutoFit/>
          </a:bodyPr>
          <a:lstStyle/>
          <a:p>
            <a:pPr algn="l">
              <a:lnSpc>
                <a:spcPct val="130000"/>
              </a:lnSpc>
            </a:pPr>
            <a:r>
              <a:rPr sz="2000" b="0" i="0">
                <a:solidFill>
                  <a:srgbClr val="331B0D"/>
                </a:solidFill>
                <a:latin typeface="Open Sauce"/>
              </a:rPr>
              <a:t>The lawyer reviews, corrects and approves.</a:t>
            </a:r>
          </a:p>
        </p:txBody>
      </p:sp>
      <p:sp>
        <p:nvSpPr>
          <p:cNvPr id="34" name="TextBox 33"/>
          <p:cNvSpPr txBox="1"/>
          <p:nvPr/>
        </p:nvSpPr>
        <p:spPr>
          <a:xfrm>
            <a:off x="1024128" y="7882127"/>
            <a:ext cx="16239743" cy="691896"/>
          </a:xfrm>
          <a:prstGeom prst="rect">
            <a:avLst/>
          </a:prstGeom>
          <a:noFill/>
        </p:spPr>
        <p:txBody>
          <a:bodyPr wrap="square" anchor="t" lIns="0" rIns="0" tIns="0" bIns="0">
            <a:spAutoFit/>
          </a:bodyPr>
          <a:lstStyle/>
          <a:p>
            <a:pPr algn="l">
              <a:lnSpc>
                <a:spcPct val="132000"/>
              </a:lnSpc>
            </a:pPr>
            <a:r>
              <a:rPr sz="1900" b="0" i="1">
                <a:solidFill>
                  <a:srgbClr val="8C7753"/>
                </a:solidFill>
                <a:latin typeface="Open Sauce Italics"/>
              </a:rPr>
              <a:t>Nothing reaches step 10 automatically. Owner, party identity, title number, extent, encumbrance status and the exact form all need explicit lawyer confirmation first.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DESIGN PRINCIPLE</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26</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Draftly does not replace the lawyer</a:t>
            </a:r>
          </a:p>
        </p:txBody>
      </p:sp>
      <p:sp>
        <p:nvSpPr>
          <p:cNvPr id="6" name="Rounded Rectangle 5"/>
          <p:cNvSpPr/>
          <p:nvPr/>
        </p:nvSpPr>
        <p:spPr>
          <a:xfrm>
            <a:off x="1024128" y="3063240"/>
            <a:ext cx="7845551" cy="4892040"/>
          </a:xfrm>
          <a:prstGeom prst="roundRect">
            <a:avLst>
              <a:gd name="adj" fmla="val 2990"/>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481328" y="3456432"/>
            <a:ext cx="693115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The system</a:t>
            </a:r>
          </a:p>
        </p:txBody>
      </p:sp>
      <p:sp>
        <p:nvSpPr>
          <p:cNvPr id="8" name="TextBox 7"/>
          <p:cNvSpPr txBox="1"/>
          <p:nvPr/>
        </p:nvSpPr>
        <p:spPr>
          <a:xfrm>
            <a:off x="1481328" y="4114800"/>
            <a:ext cx="6931151" cy="2605024"/>
          </a:xfrm>
          <a:prstGeom prst="rect">
            <a:avLst/>
          </a:prstGeom>
          <a:noFill/>
        </p:spPr>
        <p:txBody>
          <a:bodyPr wrap="square" anchor="t" lIns="0" rIns="0" tIns="0" bIns="0">
            <a:spAutoFit/>
          </a:bodyPr>
          <a:lstStyle/>
          <a:p>
            <a:pPr algn="l" marL="310896" indent="-310896">
              <a:lnSpc>
                <a:spcPct val="134000"/>
              </a:lnSpc>
            </a:pPr>
            <a:r>
              <a:rPr sz="2000" b="0" i="0">
                <a:solidFill>
                  <a:srgbClr val="331B0D"/>
                </a:solidFill>
                <a:latin typeface="Open Sauce"/>
              </a:rPr>
              <a:t>•   Organises the evidence</a:t>
            </a:r>
          </a:p>
          <a:p>
            <a:pPr algn="l" marL="310896" indent="-310896">
              <a:lnSpc>
                <a:spcPct val="134000"/>
              </a:lnSpc>
              <a:spcBef>
                <a:spcPts val="800"/>
              </a:spcBef>
            </a:pPr>
            <a:r>
              <a:rPr sz="2000" b="0" i="0">
                <a:solidFill>
                  <a:srgbClr val="331B0D"/>
                </a:solidFill>
                <a:latin typeface="Open Sauce"/>
              </a:rPr>
              <a:t>•   Retrieves the applicable authorities</a:t>
            </a:r>
          </a:p>
          <a:p>
            <a:pPr algn="l" marL="310896" indent="-310896">
              <a:lnSpc>
                <a:spcPct val="134000"/>
              </a:lnSpc>
              <a:spcBef>
                <a:spcPts val="800"/>
              </a:spcBef>
            </a:pPr>
            <a:r>
              <a:rPr sz="2000" b="0" i="0">
                <a:solidFill>
                  <a:srgbClr val="331B0D"/>
                </a:solidFill>
                <a:latin typeface="Open Sauce"/>
              </a:rPr>
              <a:t>•   Suggests the workflow steps</a:t>
            </a:r>
          </a:p>
          <a:p>
            <a:pPr algn="l" marL="310896" indent="-310896">
              <a:lnSpc>
                <a:spcPct val="134000"/>
              </a:lnSpc>
              <a:spcBef>
                <a:spcPts val="800"/>
              </a:spcBef>
            </a:pPr>
            <a:r>
              <a:rPr sz="2000" b="0" i="0">
                <a:solidFill>
                  <a:srgbClr val="331B0D"/>
                </a:solidFill>
                <a:latin typeface="Open Sauce"/>
              </a:rPr>
              <a:t>•   Detects potential problems</a:t>
            </a:r>
          </a:p>
          <a:p>
            <a:pPr algn="l" marL="310896" indent="-310896">
              <a:lnSpc>
                <a:spcPct val="134000"/>
              </a:lnSpc>
              <a:spcBef>
                <a:spcPts val="800"/>
              </a:spcBef>
            </a:pPr>
            <a:r>
              <a:rPr sz="2000" b="0" i="0">
                <a:solidFill>
                  <a:srgbClr val="331B0D"/>
                </a:solidFill>
                <a:latin typeface="Open Sauce"/>
              </a:rPr>
              <a:t>•   Produces a reviewable draft</a:t>
            </a:r>
          </a:p>
          <a:p>
            <a:pPr algn="l" marL="310896" indent="-310896">
              <a:lnSpc>
                <a:spcPct val="134000"/>
              </a:lnSpc>
              <a:spcBef>
                <a:spcPts val="800"/>
              </a:spcBef>
            </a:pPr>
            <a:r>
              <a:rPr sz="2000" b="0" i="0">
                <a:solidFill>
                  <a:srgbClr val="331B0D"/>
                </a:solidFill>
                <a:latin typeface="Open Sauce"/>
              </a:rPr>
              <a:t>•   Records the evidence behind every output</a:t>
            </a:r>
          </a:p>
        </p:txBody>
      </p:sp>
      <p:sp>
        <p:nvSpPr>
          <p:cNvPr id="9" name="Rounded Rectangle 8"/>
          <p:cNvSpPr/>
          <p:nvPr/>
        </p:nvSpPr>
        <p:spPr>
          <a:xfrm>
            <a:off x="9418319" y="3063240"/>
            <a:ext cx="7845551" cy="4892040"/>
          </a:xfrm>
          <a:prstGeom prst="roundRect">
            <a:avLst>
              <a:gd name="adj" fmla="val 2990"/>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875519" y="3456432"/>
            <a:ext cx="6931151" cy="420623"/>
          </a:xfrm>
          <a:prstGeom prst="rect">
            <a:avLst/>
          </a:prstGeom>
          <a:noFill/>
        </p:spPr>
        <p:txBody>
          <a:bodyPr wrap="square" anchor="t" lIns="0" rIns="0" tIns="0" bIns="0">
            <a:spAutoFit/>
          </a:bodyPr>
          <a:lstStyle/>
          <a:p>
            <a:pPr algn="l">
              <a:lnSpc>
                <a:spcPct val="120000"/>
              </a:lnSpc>
            </a:pPr>
            <a:r>
              <a:rPr sz="2400" b="0" i="0">
                <a:solidFill>
                  <a:srgbClr val="8C7753"/>
                </a:solidFill>
                <a:latin typeface="Open Sauce"/>
              </a:rPr>
              <a:t>The lawyer</a:t>
            </a:r>
          </a:p>
        </p:txBody>
      </p:sp>
      <p:sp>
        <p:nvSpPr>
          <p:cNvPr id="11" name="TextBox 10"/>
          <p:cNvSpPr txBox="1"/>
          <p:nvPr/>
        </p:nvSpPr>
        <p:spPr>
          <a:xfrm>
            <a:off x="9875519" y="4114800"/>
            <a:ext cx="6931151" cy="2163064"/>
          </a:xfrm>
          <a:prstGeom prst="rect">
            <a:avLst/>
          </a:prstGeom>
          <a:noFill/>
        </p:spPr>
        <p:txBody>
          <a:bodyPr wrap="square" anchor="t" lIns="0" rIns="0" tIns="0" bIns="0">
            <a:spAutoFit/>
          </a:bodyPr>
          <a:lstStyle/>
          <a:p>
            <a:pPr algn="l" marL="310896" indent="-310896">
              <a:lnSpc>
                <a:spcPct val="134000"/>
              </a:lnSpc>
            </a:pPr>
            <a:r>
              <a:rPr sz="2000" b="0" i="0">
                <a:solidFill>
                  <a:srgbClr val="FAF7F0"/>
                </a:solidFill>
                <a:latin typeface="Open Sauce"/>
              </a:rPr>
              <a:t>•   Reviews the extracted information</a:t>
            </a:r>
          </a:p>
          <a:p>
            <a:pPr algn="l" marL="310896" indent="-310896">
              <a:lnSpc>
                <a:spcPct val="134000"/>
              </a:lnSpc>
              <a:spcBef>
                <a:spcPts val="800"/>
              </a:spcBef>
            </a:pPr>
            <a:r>
              <a:rPr sz="2000" b="0" i="0">
                <a:solidFill>
                  <a:srgbClr val="FAF7F0"/>
                </a:solidFill>
                <a:latin typeface="Open Sauce"/>
              </a:rPr>
              <a:t>•   Confirms the legal interpretation</a:t>
            </a:r>
          </a:p>
          <a:p>
            <a:pPr algn="l" marL="310896" indent="-310896">
              <a:lnSpc>
                <a:spcPct val="134000"/>
              </a:lnSpc>
              <a:spcBef>
                <a:spcPts val="800"/>
              </a:spcBef>
            </a:pPr>
            <a:r>
              <a:rPr sz="2000" b="0" i="0">
                <a:solidFill>
                  <a:srgbClr val="FAF7F0"/>
                </a:solidFill>
                <a:latin typeface="Open Sauce"/>
              </a:rPr>
              <a:t>•   Corrects what the system got wrong</a:t>
            </a:r>
          </a:p>
          <a:p>
            <a:pPr algn="l" marL="310896" indent="-310896">
              <a:lnSpc>
                <a:spcPct val="134000"/>
              </a:lnSpc>
              <a:spcBef>
                <a:spcPts val="800"/>
              </a:spcBef>
            </a:pPr>
            <a:r>
              <a:rPr sz="2000" b="0" i="0">
                <a:solidFill>
                  <a:srgbClr val="FAF7F0"/>
                </a:solidFill>
                <a:latin typeface="Open Sauce"/>
              </a:rPr>
              <a:t>•   Approves the final document</a:t>
            </a:r>
          </a:p>
          <a:p>
            <a:pPr algn="l" marL="310896" indent="-310896">
              <a:lnSpc>
                <a:spcPct val="134000"/>
              </a:lnSpc>
              <a:spcBef>
                <a:spcPts val="800"/>
              </a:spcBef>
            </a:pPr>
            <a:r>
              <a:rPr sz="2000" b="0" i="0">
                <a:solidFill>
                  <a:srgbClr val="FAF7F0"/>
                </a:solidFill>
                <a:latin typeface="Open Sauce"/>
              </a:rPr>
              <a:t>•   Remains responsible for professional judgment</a:t>
            </a:r>
          </a:p>
        </p:txBody>
      </p:sp>
      <p:sp>
        <p:nvSpPr>
          <p:cNvPr id="12" name="TextBox 11"/>
          <p:cNvSpPr txBox="1"/>
          <p:nvPr/>
        </p:nvSpPr>
        <p:spPr>
          <a:xfrm>
            <a:off x="1024128" y="8229600"/>
            <a:ext cx="16239743" cy="401574"/>
          </a:xfrm>
          <a:prstGeom prst="rect">
            <a:avLst/>
          </a:prstGeom>
          <a:noFill/>
        </p:spPr>
        <p:txBody>
          <a:bodyPr wrap="square" anchor="t" lIns="0" rIns="0" tIns="0" bIns="0">
            <a:spAutoFit/>
          </a:bodyPr>
          <a:lstStyle/>
          <a:p>
            <a:pPr algn="ctr">
              <a:lnSpc>
                <a:spcPct val="130000"/>
              </a:lnSpc>
            </a:pPr>
            <a:r>
              <a:rPr sz="2100" b="0" i="1">
                <a:solidFill>
                  <a:srgbClr val="331B0D"/>
                </a:solidFill>
                <a:latin typeface="Open Sauce Italics"/>
              </a:rPr>
              <a:t>No scan, OCR result or model confidence score is allowed to record that a physical original was seen. Only a person can.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EVALUATION</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27</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How we intend to measure this</a:t>
            </a:r>
          </a:p>
        </p:txBody>
      </p:sp>
      <p:sp>
        <p:nvSpPr>
          <p:cNvPr id="6" name="TextBox 5"/>
          <p:cNvSpPr txBox="1"/>
          <p:nvPr/>
        </p:nvSpPr>
        <p:spPr>
          <a:xfrm>
            <a:off x="1024128" y="2880360"/>
            <a:ext cx="14173200" cy="401574"/>
          </a:xfrm>
          <a:prstGeom prst="rect">
            <a:avLst/>
          </a:prstGeom>
          <a:noFill/>
        </p:spPr>
        <p:txBody>
          <a:bodyPr wrap="square" anchor="t" lIns="0" rIns="0" tIns="0" bIns="0">
            <a:spAutoFit/>
          </a:bodyPr>
          <a:lstStyle/>
          <a:p>
            <a:pPr algn="l">
              <a:lnSpc>
                <a:spcPct val="130000"/>
              </a:lnSpc>
            </a:pPr>
            <a:r>
              <a:rPr sz="2100" b="0" i="0">
                <a:solidFill>
                  <a:srgbClr val="8C7753"/>
                </a:solidFill>
                <a:latin typeface="Open Sauce"/>
              </a:rPr>
              <a:t>Against a gold dataset reviewed by a lawyer. It is being built now; it does not exist yet.</a:t>
            </a:r>
          </a:p>
        </p:txBody>
      </p:sp>
      <p:sp>
        <p:nvSpPr>
          <p:cNvPr id="7" name="Rounded Rectangle 6"/>
          <p:cNvSpPr/>
          <p:nvPr/>
        </p:nvSpPr>
        <p:spPr>
          <a:xfrm>
            <a:off x="1024128" y="3520440"/>
            <a:ext cx="5157216" cy="4617720"/>
          </a:xfrm>
          <a:prstGeom prst="roundRect">
            <a:avLst>
              <a:gd name="adj" fmla="val 3168"/>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63040" y="3886200"/>
            <a:ext cx="4279392" cy="444500"/>
          </a:xfrm>
          <a:prstGeom prst="rect">
            <a:avLst/>
          </a:prstGeom>
          <a:noFill/>
        </p:spPr>
        <p:txBody>
          <a:bodyPr wrap="square" anchor="t" lIns="0" rIns="0" tIns="0" bIns="0">
            <a:spAutoFit/>
          </a:bodyPr>
          <a:lstStyle/>
          <a:p>
            <a:pPr algn="l">
              <a:lnSpc>
                <a:spcPct val="118000"/>
              </a:lnSpc>
            </a:pPr>
            <a:r>
              <a:rPr sz="2600" b="0" i="0">
                <a:solidFill>
                  <a:srgbClr val="8C7753"/>
                </a:solidFill>
                <a:latin typeface="Open Sauce"/>
              </a:rPr>
              <a:t>Retrieval</a:t>
            </a:r>
          </a:p>
        </p:txBody>
      </p:sp>
      <p:sp>
        <p:nvSpPr>
          <p:cNvPr id="9" name="TextBox 8"/>
          <p:cNvSpPr txBox="1"/>
          <p:nvPr/>
        </p:nvSpPr>
        <p:spPr>
          <a:xfrm>
            <a:off x="1463040" y="4617720"/>
            <a:ext cx="4279392" cy="2502916"/>
          </a:xfrm>
          <a:prstGeom prst="rect">
            <a:avLst/>
          </a:prstGeom>
          <a:noFill/>
        </p:spPr>
        <p:txBody>
          <a:bodyPr wrap="square" anchor="t" lIns="0" rIns="0" tIns="0" bIns="0">
            <a:spAutoFit/>
          </a:bodyPr>
          <a:lstStyle/>
          <a:p>
            <a:pPr algn="l" marL="310896" indent="-310896">
              <a:lnSpc>
                <a:spcPct val="134000"/>
              </a:lnSpc>
            </a:pPr>
            <a:r>
              <a:rPr sz="1900" b="0" i="0">
                <a:solidFill>
                  <a:srgbClr val="FAF7F0"/>
                </a:solidFill>
                <a:latin typeface="Open Sauce"/>
              </a:rPr>
              <a:t>•   Statute and section recall</a:t>
            </a:r>
          </a:p>
          <a:p>
            <a:pPr algn="l" marL="310896" indent="-310896">
              <a:lnSpc>
                <a:spcPct val="134000"/>
              </a:lnSpc>
              <a:spcBef>
                <a:spcPts val="800"/>
              </a:spcBef>
            </a:pPr>
            <a:r>
              <a:rPr sz="1900" b="0" i="0">
                <a:solidFill>
                  <a:srgbClr val="FAF7F0"/>
                </a:solidFill>
                <a:latin typeface="Open Sauce"/>
              </a:rPr>
              <a:t>•   Relevant-case recall</a:t>
            </a:r>
          </a:p>
          <a:p>
            <a:pPr algn="l" marL="310896" indent="-310896">
              <a:lnSpc>
                <a:spcPct val="134000"/>
              </a:lnSpc>
              <a:spcBef>
                <a:spcPts val="800"/>
              </a:spcBef>
            </a:pPr>
            <a:r>
              <a:rPr sz="1900" b="0" i="0">
                <a:solidFill>
                  <a:srgbClr val="FAF7F0"/>
                </a:solidFill>
                <a:latin typeface="Open Sauce"/>
              </a:rPr>
              <a:t>•   Precision at k</a:t>
            </a:r>
          </a:p>
          <a:p>
            <a:pPr algn="l" marL="310896" indent="-310896">
              <a:lnSpc>
                <a:spcPct val="134000"/>
              </a:lnSpc>
              <a:spcBef>
                <a:spcPts val="800"/>
              </a:spcBef>
            </a:pPr>
            <a:r>
              <a:rPr sz="1900" b="0" i="0">
                <a:solidFill>
                  <a:srgbClr val="FAF7F0"/>
                </a:solidFill>
                <a:latin typeface="Open Sauce"/>
              </a:rPr>
              <a:t>•   Mean reciprocal rank</a:t>
            </a:r>
          </a:p>
          <a:p>
            <a:pPr algn="l" marL="310896" indent="-310896">
              <a:lnSpc>
                <a:spcPct val="134000"/>
              </a:lnSpc>
              <a:spcBef>
                <a:spcPts val="800"/>
              </a:spcBef>
            </a:pPr>
            <a:r>
              <a:rPr sz="1900" b="0" i="0">
                <a:solidFill>
                  <a:srgbClr val="FAF7F0"/>
                </a:solidFill>
                <a:latin typeface="Open Sauce"/>
              </a:rPr>
              <a:t>•   Authority-ranking accuracy</a:t>
            </a:r>
          </a:p>
          <a:p>
            <a:pPr algn="l" marL="310896" indent="-310896">
              <a:lnSpc>
                <a:spcPct val="134000"/>
              </a:lnSpc>
              <a:spcBef>
                <a:spcPts val="800"/>
              </a:spcBef>
            </a:pPr>
            <a:r>
              <a:rPr sz="1900" b="0" i="0">
                <a:solidFill>
                  <a:srgbClr val="FAF7F0"/>
                </a:solidFill>
                <a:latin typeface="Open Sauce"/>
              </a:rPr>
              <a:t>•   Applicable-version accuracy</a:t>
            </a:r>
          </a:p>
        </p:txBody>
      </p:sp>
      <p:sp>
        <p:nvSpPr>
          <p:cNvPr id="10" name="Rounded Rectangle 9"/>
          <p:cNvSpPr/>
          <p:nvPr/>
        </p:nvSpPr>
        <p:spPr>
          <a:xfrm>
            <a:off x="6565392" y="3520440"/>
            <a:ext cx="5157216" cy="4617720"/>
          </a:xfrm>
          <a:prstGeom prst="roundRect">
            <a:avLst>
              <a:gd name="adj" fmla="val 316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04304" y="3886200"/>
            <a:ext cx="4279392" cy="444500"/>
          </a:xfrm>
          <a:prstGeom prst="rect">
            <a:avLst/>
          </a:prstGeom>
          <a:noFill/>
        </p:spPr>
        <p:txBody>
          <a:bodyPr wrap="square" anchor="t" lIns="0" rIns="0" tIns="0" bIns="0">
            <a:spAutoFit/>
          </a:bodyPr>
          <a:lstStyle/>
          <a:p>
            <a:pPr algn="l">
              <a:lnSpc>
                <a:spcPct val="118000"/>
              </a:lnSpc>
            </a:pPr>
            <a:r>
              <a:rPr sz="2600" b="0" i="0">
                <a:solidFill>
                  <a:srgbClr val="331B0D"/>
                </a:solidFill>
                <a:latin typeface="Open Sauce"/>
              </a:rPr>
              <a:t>Answers</a:t>
            </a:r>
          </a:p>
        </p:txBody>
      </p:sp>
      <p:sp>
        <p:nvSpPr>
          <p:cNvPr id="12" name="TextBox 11"/>
          <p:cNvSpPr txBox="1"/>
          <p:nvPr/>
        </p:nvSpPr>
        <p:spPr>
          <a:xfrm>
            <a:off x="7004304" y="4617720"/>
            <a:ext cx="4279392" cy="2077974"/>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Citation correctness</a:t>
            </a:r>
          </a:p>
          <a:p>
            <a:pPr algn="l" marL="310896" indent="-310896">
              <a:lnSpc>
                <a:spcPct val="134000"/>
              </a:lnSpc>
              <a:spcBef>
                <a:spcPts val="800"/>
              </a:spcBef>
            </a:pPr>
            <a:r>
              <a:rPr sz="1900" b="0" i="0">
                <a:solidFill>
                  <a:srgbClr val="331B0D"/>
                </a:solidFill>
                <a:latin typeface="Open Sauce"/>
              </a:rPr>
              <a:t>•   Faithfulness to retrieved evidence</a:t>
            </a:r>
          </a:p>
          <a:p>
            <a:pPr algn="l" marL="310896" indent="-310896">
              <a:lnSpc>
                <a:spcPct val="134000"/>
              </a:lnSpc>
              <a:spcBef>
                <a:spcPts val="800"/>
              </a:spcBef>
            </a:pPr>
            <a:r>
              <a:rPr sz="1900" b="0" i="0">
                <a:solidFill>
                  <a:srgbClr val="331B0D"/>
                </a:solidFill>
                <a:latin typeface="Open Sauce"/>
              </a:rPr>
              <a:t>•   Legal completeness</a:t>
            </a:r>
          </a:p>
          <a:p>
            <a:pPr algn="l" marL="310896" indent="-310896">
              <a:lnSpc>
                <a:spcPct val="134000"/>
              </a:lnSpc>
              <a:spcBef>
                <a:spcPts val="800"/>
              </a:spcBef>
            </a:pPr>
            <a:r>
              <a:rPr sz="1900" b="0" i="0">
                <a:solidFill>
                  <a:srgbClr val="331B0D"/>
                </a:solidFill>
                <a:latin typeface="Open Sauce"/>
              </a:rPr>
              <a:t>•   Unsupported-claim rate</a:t>
            </a:r>
          </a:p>
          <a:p>
            <a:pPr algn="l" marL="310896" indent="-310896">
              <a:lnSpc>
                <a:spcPct val="134000"/>
              </a:lnSpc>
              <a:spcBef>
                <a:spcPts val="800"/>
              </a:spcBef>
            </a:pPr>
            <a:r>
              <a:rPr sz="1900" b="0" i="0">
                <a:solidFill>
                  <a:srgbClr val="331B0D"/>
                </a:solidFill>
                <a:latin typeface="Open Sauce"/>
              </a:rPr>
              <a:t>•   Abstention accuracy</a:t>
            </a:r>
          </a:p>
        </p:txBody>
      </p:sp>
      <p:sp>
        <p:nvSpPr>
          <p:cNvPr id="13" name="Rounded Rectangle 12"/>
          <p:cNvSpPr/>
          <p:nvPr/>
        </p:nvSpPr>
        <p:spPr>
          <a:xfrm>
            <a:off x="12106655" y="3520440"/>
            <a:ext cx="5157216" cy="4617720"/>
          </a:xfrm>
          <a:prstGeom prst="roundRect">
            <a:avLst>
              <a:gd name="adj" fmla="val 3168"/>
            </a:avLst>
          </a:prstGeom>
          <a:solidFill>
            <a:srgbClr val="F1EA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545567" y="3886200"/>
            <a:ext cx="4279392" cy="444500"/>
          </a:xfrm>
          <a:prstGeom prst="rect">
            <a:avLst/>
          </a:prstGeom>
          <a:noFill/>
        </p:spPr>
        <p:txBody>
          <a:bodyPr wrap="square" anchor="t" lIns="0" rIns="0" tIns="0" bIns="0">
            <a:spAutoFit/>
          </a:bodyPr>
          <a:lstStyle/>
          <a:p>
            <a:pPr algn="l">
              <a:lnSpc>
                <a:spcPct val="118000"/>
              </a:lnSpc>
            </a:pPr>
            <a:r>
              <a:rPr sz="2600" b="0" i="0">
                <a:solidFill>
                  <a:srgbClr val="331B0D"/>
                </a:solidFill>
                <a:latin typeface="Open Sauce"/>
              </a:rPr>
              <a:t>Workflow</a:t>
            </a:r>
          </a:p>
        </p:txBody>
      </p:sp>
      <p:sp>
        <p:nvSpPr>
          <p:cNvPr id="15" name="TextBox 14"/>
          <p:cNvSpPr txBox="1"/>
          <p:nvPr/>
        </p:nvSpPr>
        <p:spPr>
          <a:xfrm>
            <a:off x="12545567" y="4617720"/>
            <a:ext cx="4279392" cy="2077974"/>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Missing-document detection</a:t>
            </a:r>
          </a:p>
          <a:p>
            <a:pPr algn="l" marL="310896" indent="-310896">
              <a:lnSpc>
                <a:spcPct val="134000"/>
              </a:lnSpc>
              <a:spcBef>
                <a:spcPts val="800"/>
              </a:spcBef>
            </a:pPr>
            <a:r>
              <a:rPr sz="1900" b="0" i="0">
                <a:solidFill>
                  <a:srgbClr val="331B0D"/>
                </a:solidFill>
                <a:latin typeface="Open Sauce"/>
              </a:rPr>
              <a:t>•   Consistency-check accuracy</a:t>
            </a:r>
          </a:p>
          <a:p>
            <a:pPr algn="l" marL="310896" indent="-310896">
              <a:lnSpc>
                <a:spcPct val="134000"/>
              </a:lnSpc>
              <a:spcBef>
                <a:spcPts val="800"/>
              </a:spcBef>
            </a:pPr>
            <a:r>
              <a:rPr sz="1900" b="0" i="0">
                <a:solidFill>
                  <a:srgbClr val="331B0D"/>
                </a:solidFill>
                <a:latin typeface="Open Sauce"/>
              </a:rPr>
              <a:t>•   Draft completeness</a:t>
            </a:r>
          </a:p>
          <a:p>
            <a:pPr algn="l" marL="310896" indent="-310896">
              <a:lnSpc>
                <a:spcPct val="134000"/>
              </a:lnSpc>
              <a:spcBef>
                <a:spcPts val="800"/>
              </a:spcBef>
            </a:pPr>
            <a:r>
              <a:rPr sz="1900" b="0" i="0">
                <a:solidFill>
                  <a:srgbClr val="331B0D"/>
                </a:solidFill>
                <a:latin typeface="Open Sauce"/>
              </a:rPr>
              <a:t>•   Time saved against manual work</a:t>
            </a:r>
          </a:p>
          <a:p>
            <a:pPr algn="l" marL="310896" indent="-310896">
              <a:lnSpc>
                <a:spcPct val="134000"/>
              </a:lnSpc>
              <a:spcBef>
                <a:spcPts val="800"/>
              </a:spcBef>
            </a:pPr>
            <a:r>
              <a:rPr sz="1900" b="0" i="0">
                <a:solidFill>
                  <a:srgbClr val="331B0D"/>
                </a:solidFill>
                <a:latin typeface="Open Sauce"/>
              </a:rPr>
              <a:t>•   Lawyer correction effort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STATUS</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28</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Where we actually are</a:t>
            </a:r>
          </a:p>
        </p:txBody>
      </p:sp>
      <p:sp>
        <p:nvSpPr>
          <p:cNvPr id="6" name="TextBox 5"/>
          <p:cNvSpPr txBox="1"/>
          <p:nvPr/>
        </p:nvSpPr>
        <p:spPr>
          <a:xfrm>
            <a:off x="1024128" y="3017520"/>
            <a:ext cx="7845551" cy="451104"/>
          </a:xfrm>
          <a:prstGeom prst="rect">
            <a:avLst/>
          </a:prstGeom>
          <a:noFill/>
        </p:spPr>
        <p:txBody>
          <a:bodyPr wrap="square" anchor="t" lIns="0" rIns="0" tIns="0" bIns="0">
            <a:spAutoFit/>
          </a:bodyPr>
          <a:lstStyle/>
          <a:p>
            <a:pPr algn="l">
              <a:lnSpc>
                <a:spcPct val="120000"/>
              </a:lnSpc>
            </a:pPr>
            <a:r>
              <a:rPr sz="2600" b="0" i="0">
                <a:solidFill>
                  <a:srgbClr val="8C7753"/>
                </a:solidFill>
                <a:latin typeface="Open Sauce"/>
              </a:rPr>
              <a:t>Done</a:t>
            </a:r>
          </a:p>
        </p:txBody>
      </p:sp>
      <p:sp>
        <p:nvSpPr>
          <p:cNvPr id="7" name="TextBox 6"/>
          <p:cNvSpPr txBox="1"/>
          <p:nvPr/>
        </p:nvSpPr>
        <p:spPr>
          <a:xfrm>
            <a:off x="1024128" y="3703320"/>
            <a:ext cx="7845551" cy="2566416"/>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Three lawyer consultations, scope defined and written up</a:t>
            </a:r>
          </a:p>
          <a:p>
            <a:pPr algn="l" marL="310896" indent="-310896">
              <a:lnSpc>
                <a:spcPct val="134000"/>
              </a:lnSpc>
              <a:spcBef>
                <a:spcPts val="900"/>
              </a:spcBef>
            </a:pPr>
            <a:r>
              <a:rPr sz="1900" b="0" i="0">
                <a:solidFill>
                  <a:srgbClr val="331B0D"/>
                </a:solidFill>
                <a:latin typeface="Open Sauce"/>
              </a:rPr>
              <a:t>•   Statutory corpus built, indexed and reproducible from scripts</a:t>
            </a:r>
          </a:p>
          <a:p>
            <a:pPr algn="l" marL="310896" indent="-310896">
              <a:lnSpc>
                <a:spcPct val="134000"/>
              </a:lnSpc>
              <a:spcBef>
                <a:spcPts val="900"/>
              </a:spcBef>
            </a:pPr>
            <a:r>
              <a:rPr sz="1900" b="0" i="0">
                <a:solidFill>
                  <a:srgbClr val="331B0D"/>
                </a:solidFill>
                <a:latin typeface="Open Sauce"/>
              </a:rPr>
              <a:t>•   Reported case law processed, rules recovered deterministically</a:t>
            </a:r>
          </a:p>
          <a:p>
            <a:pPr algn="l" marL="310896" indent="-310896">
              <a:lnSpc>
                <a:spcPct val="134000"/>
              </a:lnSpc>
              <a:spcBef>
                <a:spcPts val="900"/>
              </a:spcBef>
            </a:pPr>
            <a:r>
              <a:rPr sz="1900" b="0" i="0">
                <a:solidFill>
                  <a:srgbClr val="331B0D"/>
                </a:solidFill>
                <a:latin typeface="Open Sauce"/>
              </a:rPr>
              <a:t>•   Statute links graded and temporally checked against judgment years</a:t>
            </a:r>
          </a:p>
          <a:p>
            <a:pPr algn="l" marL="310896" indent="-310896">
              <a:lnSpc>
                <a:spcPct val="134000"/>
              </a:lnSpc>
              <a:spcBef>
                <a:spcPts val="900"/>
              </a:spcBef>
            </a:pPr>
            <a:r>
              <a:rPr sz="1900" b="0" i="0">
                <a:solidFill>
                  <a:srgbClr val="331B0D"/>
                </a:solidFill>
                <a:latin typeface="Open Sauce"/>
              </a:rPr>
              <a:t>•   RTA rule pack v1 authored, versioned and exported</a:t>
            </a:r>
          </a:p>
          <a:p>
            <a:pPr algn="l" marL="310896" indent="-310896">
              <a:lnSpc>
                <a:spcPct val="134000"/>
              </a:lnSpc>
              <a:spcBef>
                <a:spcPts val="900"/>
              </a:spcBef>
            </a:pPr>
            <a:r>
              <a:rPr sz="1900" b="0" i="0">
                <a:solidFill>
                  <a:srgbClr val="331B0D"/>
                </a:solidFill>
                <a:latin typeface="Open Sauce"/>
              </a:rPr>
              <a:t>•   24 backend services designed; front end and matter workspace built</a:t>
            </a:r>
          </a:p>
        </p:txBody>
      </p:sp>
      <p:sp>
        <p:nvSpPr>
          <p:cNvPr id="8" name="Rounded Rectangle 7"/>
          <p:cNvSpPr/>
          <p:nvPr/>
        </p:nvSpPr>
        <p:spPr>
          <a:xfrm>
            <a:off x="9418319" y="2852928"/>
            <a:ext cx="7845551" cy="5623560"/>
          </a:xfrm>
          <a:prstGeom prst="roundRect">
            <a:avLst>
              <a:gd name="adj" fmla="val 2601"/>
            </a:avLst>
          </a:prstGeom>
          <a:solidFill>
            <a:srgbClr val="331B0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875519" y="3200400"/>
            <a:ext cx="6931151" cy="451104"/>
          </a:xfrm>
          <a:prstGeom prst="rect">
            <a:avLst/>
          </a:prstGeom>
          <a:noFill/>
        </p:spPr>
        <p:txBody>
          <a:bodyPr wrap="square" anchor="t" lIns="0" rIns="0" tIns="0" bIns="0">
            <a:spAutoFit/>
          </a:bodyPr>
          <a:lstStyle/>
          <a:p>
            <a:pPr algn="l">
              <a:lnSpc>
                <a:spcPct val="120000"/>
              </a:lnSpc>
            </a:pPr>
            <a:r>
              <a:rPr sz="2600" b="0" i="0">
                <a:solidFill>
                  <a:srgbClr val="8C7753"/>
                </a:solidFill>
                <a:latin typeface="Open Sauce"/>
              </a:rPr>
              <a:t>Not done, and we are saying so</a:t>
            </a:r>
          </a:p>
        </p:txBody>
      </p:sp>
      <p:sp>
        <p:nvSpPr>
          <p:cNvPr id="10" name="TextBox 9"/>
          <p:cNvSpPr txBox="1"/>
          <p:nvPr/>
        </p:nvSpPr>
        <p:spPr>
          <a:xfrm>
            <a:off x="9875519" y="3886200"/>
            <a:ext cx="6931151" cy="2813812"/>
          </a:xfrm>
          <a:prstGeom prst="rect">
            <a:avLst/>
          </a:prstGeom>
          <a:noFill/>
        </p:spPr>
        <p:txBody>
          <a:bodyPr wrap="square" anchor="t" lIns="0" rIns="0" tIns="0" bIns="0">
            <a:spAutoFit/>
          </a:bodyPr>
          <a:lstStyle/>
          <a:p>
            <a:pPr algn="l" marL="310896" indent="-310896">
              <a:lnSpc>
                <a:spcPct val="134000"/>
              </a:lnSpc>
            </a:pPr>
            <a:r>
              <a:rPr sz="1700" b="0" i="0">
                <a:solidFill>
                  <a:srgbClr val="FAF7F0"/>
                </a:solidFill>
                <a:latin typeface="Open Sauce"/>
              </a:rPr>
              <a:t>•   Nothing is scored: the gold set has zero rows.</a:t>
            </a:r>
          </a:p>
          <a:p>
            <a:pPr algn="l" marL="310896" indent="-310896">
              <a:lnSpc>
                <a:spcPct val="134000"/>
              </a:lnSpc>
              <a:spcBef>
                <a:spcPts val="700"/>
              </a:spcBef>
            </a:pPr>
            <a:r>
              <a:rPr sz="1700" b="0" i="0">
                <a:solidFill>
                  <a:srgbClr val="FAF7F0"/>
                </a:solidFill>
                <a:latin typeface="Open Sauce"/>
              </a:rPr>
              <a:t>•   Unreported SC and CoA extraction has not run; the pilot stopped on an authentication error.</a:t>
            </a:r>
          </a:p>
          <a:p>
            <a:pPr algn="l" marL="310896" indent="-310896">
              <a:lnSpc>
                <a:spcPct val="134000"/>
              </a:lnSpc>
              <a:spcBef>
                <a:spcPts val="700"/>
              </a:spcBef>
            </a:pPr>
            <a:r>
              <a:rPr sz="1700" b="0" i="0">
                <a:solidFill>
                  <a:srgbClr val="FAF7F0"/>
                </a:solidFill>
                <a:latin typeface="Open Sauce"/>
              </a:rPr>
              <a:t>•   The section parser finds 103 Civil Procedure Code sections; the section index finds 801.</a:t>
            </a:r>
          </a:p>
          <a:p>
            <a:pPr algn="l" marL="310896" indent="-310896">
              <a:lnSpc>
                <a:spcPct val="134000"/>
              </a:lnSpc>
              <a:spcBef>
                <a:spcPts val="700"/>
              </a:spcBef>
            </a:pPr>
            <a:r>
              <a:rPr sz="1700" b="0" i="0">
                <a:solidFill>
                  <a:srgbClr val="FAF7F0"/>
                </a:solidFill>
                <a:latin typeface="Open Sauce"/>
              </a:rPr>
              <a:t>•   22 statutes are held as index only, with no text and no official PDF.</a:t>
            </a:r>
          </a:p>
          <a:p>
            <a:pPr algn="l" marL="310896" indent="-310896">
              <a:lnSpc>
                <a:spcPct val="134000"/>
              </a:lnSpc>
              <a:spcBef>
                <a:spcPts val="700"/>
              </a:spcBef>
            </a:pPr>
            <a:r>
              <a:rPr sz="1700" b="0" i="0">
                <a:solidFill>
                  <a:srgbClr val="FAF7F0"/>
                </a:solidFill>
                <a:latin typeface="Open Sauce"/>
              </a:rPr>
              <a:t>•   397 statute links cite a section that changed after the court spoke.</a:t>
            </a:r>
          </a:p>
          <a:p>
            <a:pPr algn="l" marL="310896" indent="-310896">
              <a:lnSpc>
                <a:spcPct val="134000"/>
              </a:lnSpc>
              <a:spcBef>
                <a:spcPts val="700"/>
              </a:spcBef>
            </a:pPr>
            <a:r>
              <a:rPr sz="1700" b="0" i="0">
                <a:solidFill>
                  <a:srgbClr val="FAF7F0"/>
                </a:solidFill>
                <a:latin typeface="Open Sauce"/>
              </a:rPr>
              <a:t>•   Every backend service is still at the earliest maturity level.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7F0"/>
        </a:solidFill>
        <a:effectLst/>
      </p:bgPr>
    </p:bg>
    <p:spTree>
      <p:nvGrpSpPr>
        <p:cNvPr id="1" name=""/>
        <p:cNvGrpSpPr/>
        <p:nvPr/>
      </p:nvGrpSpPr>
      <p:grpSpPr/>
      <p:sp>
        <p:nvSpPr>
          <p:cNvPr id="2" name="TextBox 1"/>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CONTRIBUTION</a:t>
            </a:r>
          </a:p>
        </p:txBody>
      </p:sp>
      <p:sp>
        <p:nvSpPr>
          <p:cNvPr id="3" name="TextBox 2"/>
          <p:cNvSpPr txBox="1"/>
          <p:nvPr/>
        </p:nvSpPr>
        <p:spPr>
          <a:xfrm>
            <a:off x="12691872" y="1060704"/>
            <a:ext cx="4572000" cy="294894"/>
          </a:xfrm>
          <a:prstGeom prst="rect">
            <a:avLst/>
          </a:prstGeom>
          <a:noFill/>
        </p:spPr>
        <p:txBody>
          <a:bodyPr wrap="square" anchor="t" lIns="0" rIns="0" tIns="0" bIns="0">
            <a:spAutoFit/>
          </a:bodyPr>
          <a:lstStyle/>
          <a:p>
            <a:pPr algn="r">
              <a:lnSpc>
                <a:spcPct val="105000"/>
              </a:lnSpc>
            </a:pPr>
            <a:r>
              <a:rPr sz="1800" b="1" i="0">
                <a:solidFill>
                  <a:srgbClr val="8C7753"/>
                </a:solidFill>
                <a:latin typeface="Open Sauce Bold"/>
              </a:rPr>
              <a:t>Himath  |  Lahiru  |  Praveen</a:t>
            </a:r>
          </a:p>
        </p:txBody>
      </p:sp>
      <p:sp>
        <p:nvSpPr>
          <p:cNvPr id="4" name="TextBox 3"/>
          <p:cNvSpPr txBox="1"/>
          <p:nvPr/>
        </p:nvSpPr>
        <p:spPr>
          <a:xfrm>
            <a:off x="12701016" y="8988552"/>
            <a:ext cx="4562856" cy="268224"/>
          </a:xfrm>
          <a:prstGeom prst="rect">
            <a:avLst/>
          </a:prstGeom>
          <a:noFill/>
        </p:spPr>
        <p:txBody>
          <a:bodyPr wrap="square" anchor="t" lIns="0" rIns="0" tIns="0" bIns="0">
            <a:spAutoFit/>
          </a:bodyPr>
          <a:lstStyle/>
          <a:p>
            <a:pPr algn="r">
              <a:lnSpc>
                <a:spcPct val="105000"/>
              </a:lnSpc>
            </a:pPr>
            <a:r>
              <a:rPr sz="1600" b="0" i="0">
                <a:solidFill>
                  <a:srgbClr val="331B0D"/>
                </a:solidFill>
                <a:latin typeface="Open Sauce"/>
              </a:rPr>
              <a:t>29</a:t>
            </a:r>
          </a:p>
        </p:txBody>
      </p:sp>
      <p:sp>
        <p:nvSpPr>
          <p:cNvPr id="5" name="TextBox 4"/>
          <p:cNvSpPr txBox="1"/>
          <p:nvPr/>
        </p:nvSpPr>
        <p:spPr>
          <a:xfrm>
            <a:off x="1024128" y="1993392"/>
            <a:ext cx="14173200" cy="749808"/>
          </a:xfrm>
          <a:prstGeom prst="rect">
            <a:avLst/>
          </a:prstGeom>
          <a:noFill/>
        </p:spPr>
        <p:txBody>
          <a:bodyPr wrap="square" anchor="t" lIns="0" rIns="0" tIns="0" bIns="0">
            <a:spAutoFit/>
          </a:bodyPr>
          <a:lstStyle/>
          <a:p>
            <a:pPr algn="l">
              <a:lnSpc>
                <a:spcPct val="114000"/>
              </a:lnSpc>
            </a:pPr>
            <a:r>
              <a:rPr sz="4800" b="0" i="0">
                <a:solidFill>
                  <a:srgbClr val="331B0D"/>
                </a:solidFill>
                <a:latin typeface="Open Sauce"/>
              </a:rPr>
              <a:t>Contributions, and what comes next</a:t>
            </a:r>
          </a:p>
        </p:txBody>
      </p:sp>
      <p:sp>
        <p:nvSpPr>
          <p:cNvPr id="6" name="TextBox 5"/>
          <p:cNvSpPr txBox="1"/>
          <p:nvPr/>
        </p:nvSpPr>
        <p:spPr>
          <a:xfrm>
            <a:off x="1024128" y="3017520"/>
            <a:ext cx="7845551" cy="451104"/>
          </a:xfrm>
          <a:prstGeom prst="rect">
            <a:avLst/>
          </a:prstGeom>
          <a:noFill/>
        </p:spPr>
        <p:txBody>
          <a:bodyPr wrap="square" anchor="t" lIns="0" rIns="0" tIns="0" bIns="0">
            <a:spAutoFit/>
          </a:bodyPr>
          <a:lstStyle/>
          <a:p>
            <a:pPr algn="l">
              <a:lnSpc>
                <a:spcPct val="120000"/>
              </a:lnSpc>
            </a:pPr>
            <a:r>
              <a:rPr sz="2600" b="0" i="0">
                <a:solidFill>
                  <a:srgbClr val="8C7753"/>
                </a:solidFill>
                <a:latin typeface="Open Sauce"/>
              </a:rPr>
              <a:t>Contributions</a:t>
            </a:r>
          </a:p>
        </p:txBody>
      </p:sp>
      <p:sp>
        <p:nvSpPr>
          <p:cNvPr id="7" name="TextBox 6"/>
          <p:cNvSpPr txBox="1"/>
          <p:nvPr/>
        </p:nvSpPr>
        <p:spPr>
          <a:xfrm>
            <a:off x="1024128" y="3703320"/>
            <a:ext cx="7845551" cy="3251200"/>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A structured Sri Lankan legal corpus with recorded provenance</a:t>
            </a:r>
          </a:p>
          <a:p>
            <a:pPr algn="l" marL="310896" indent="-310896">
              <a:lnSpc>
                <a:spcPct val="134000"/>
              </a:lnSpc>
              <a:spcBef>
                <a:spcPts val="800"/>
              </a:spcBef>
            </a:pPr>
            <a:r>
              <a:rPr sz="1900" b="0" i="0">
                <a:solidFill>
                  <a:srgbClr val="331B0D"/>
                </a:solidFill>
                <a:latin typeface="Open Sauce"/>
              </a:rPr>
              <a:t>•   Modelled relationships between topics, statutes, sections and cases</a:t>
            </a:r>
          </a:p>
          <a:p>
            <a:pPr algn="l" marL="310896" indent="-310896">
              <a:lnSpc>
                <a:spcPct val="134000"/>
              </a:lnSpc>
              <a:spcBef>
                <a:spcPts val="800"/>
              </a:spcBef>
            </a:pPr>
            <a:r>
              <a:rPr sz="1900" b="0" i="0">
                <a:solidFill>
                  <a:srgbClr val="331B0D"/>
                </a:solidFill>
                <a:latin typeface="Open Sauce"/>
              </a:rPr>
              <a:t>•   A version-aware statutory retrieval model</a:t>
            </a:r>
          </a:p>
          <a:p>
            <a:pPr algn="l" marL="310896" indent="-310896">
              <a:lnSpc>
                <a:spcPct val="134000"/>
              </a:lnSpc>
              <a:spcBef>
                <a:spcPts val="800"/>
              </a:spcBef>
            </a:pPr>
            <a:r>
              <a:rPr sz="1900" b="0" i="0">
                <a:solidFill>
                  <a:srgbClr val="331B0D"/>
                </a:solidFill>
                <a:latin typeface="Open Sauce"/>
              </a:rPr>
              <a:t>•   Authority-aware case-law ranking</a:t>
            </a:r>
          </a:p>
          <a:p>
            <a:pPr algn="l" marL="310896" indent="-310896">
              <a:lnSpc>
                <a:spcPct val="134000"/>
              </a:lnSpc>
              <a:spcBef>
                <a:spcPts val="800"/>
              </a:spcBef>
            </a:pPr>
            <a:r>
              <a:rPr sz="1900" b="0" i="0">
                <a:solidFill>
                  <a:srgbClr val="331B0D"/>
                </a:solidFill>
                <a:latin typeface="Open Sauce"/>
              </a:rPr>
              <a:t>•   Evidence-grounded answers that abstain rather than guess</a:t>
            </a:r>
          </a:p>
          <a:p>
            <a:pPr algn="l" marL="310896" indent="-310896">
              <a:lnSpc>
                <a:spcPct val="134000"/>
              </a:lnSpc>
              <a:spcBef>
                <a:spcPts val="800"/>
              </a:spcBef>
            </a:pPr>
            <a:r>
              <a:rPr sz="1900" b="0" i="0">
                <a:solidFill>
                  <a:srgbClr val="331B0D"/>
                </a:solidFill>
                <a:latin typeface="Open Sauce"/>
              </a:rPr>
              <a:t>•   A retrieval-powered conveyancing workflow with a lawyer-review gate</a:t>
            </a:r>
          </a:p>
          <a:p>
            <a:pPr algn="l" marL="310896" indent="-310896">
              <a:lnSpc>
                <a:spcPct val="134000"/>
              </a:lnSpc>
              <a:spcBef>
                <a:spcPts val="800"/>
              </a:spcBef>
            </a:pPr>
            <a:r>
              <a:rPr sz="1900" b="0" i="0">
                <a:solidFill>
                  <a:srgbClr val="331B0D"/>
                </a:solidFill>
                <a:latin typeface="Open Sauce"/>
              </a:rPr>
              <a:t>•   A domain-expert evaluation framework</a:t>
            </a:r>
          </a:p>
        </p:txBody>
      </p:sp>
      <p:sp>
        <p:nvSpPr>
          <p:cNvPr id="8" name="TextBox 7"/>
          <p:cNvSpPr txBox="1"/>
          <p:nvPr/>
        </p:nvSpPr>
        <p:spPr>
          <a:xfrm>
            <a:off x="9418319" y="3017520"/>
            <a:ext cx="7845551" cy="451104"/>
          </a:xfrm>
          <a:prstGeom prst="rect">
            <a:avLst/>
          </a:prstGeom>
          <a:noFill/>
        </p:spPr>
        <p:txBody>
          <a:bodyPr wrap="square" anchor="t" lIns="0" rIns="0" tIns="0" bIns="0">
            <a:spAutoFit/>
          </a:bodyPr>
          <a:lstStyle/>
          <a:p>
            <a:pPr algn="l">
              <a:lnSpc>
                <a:spcPct val="120000"/>
              </a:lnSpc>
            </a:pPr>
            <a:r>
              <a:rPr sz="2600" b="0" i="0">
                <a:solidFill>
                  <a:srgbClr val="8C7753"/>
                </a:solidFill>
                <a:latin typeface="Open Sauce"/>
              </a:rPr>
              <a:t>Next, in order of what unblocks what</a:t>
            </a:r>
          </a:p>
        </p:txBody>
      </p:sp>
      <p:sp>
        <p:nvSpPr>
          <p:cNvPr id="9" name="TextBox 8"/>
          <p:cNvSpPr txBox="1"/>
          <p:nvPr/>
        </p:nvSpPr>
        <p:spPr>
          <a:xfrm>
            <a:off x="9418319" y="3703320"/>
            <a:ext cx="7845551" cy="3048000"/>
          </a:xfrm>
          <a:prstGeom prst="rect">
            <a:avLst/>
          </a:prstGeom>
          <a:noFill/>
        </p:spPr>
        <p:txBody>
          <a:bodyPr wrap="square" anchor="t" lIns="0" rIns="0" tIns="0" bIns="0">
            <a:spAutoFit/>
          </a:bodyPr>
          <a:lstStyle/>
          <a:p>
            <a:pPr algn="l" marL="310896" indent="-310896">
              <a:lnSpc>
                <a:spcPct val="134000"/>
              </a:lnSpc>
            </a:pPr>
            <a:r>
              <a:rPr sz="1900" b="0" i="0">
                <a:solidFill>
                  <a:srgbClr val="331B0D"/>
                </a:solidFill>
                <a:latin typeface="Open Sauce"/>
              </a:rPr>
              <a:t>•   Fix the section parser against the Civil Procedure Code and add a build assertion so a thin index fails loudly</a:t>
            </a:r>
          </a:p>
          <a:p>
            <a:pPr algn="l" marL="310896" indent="-310896">
              <a:lnSpc>
                <a:spcPct val="134000"/>
              </a:lnSpc>
              <a:spcBef>
                <a:spcPts val="800"/>
              </a:spcBef>
            </a:pPr>
            <a:r>
              <a:rPr sz="1900" b="0" i="0">
                <a:solidFill>
                  <a:srgbClr val="331B0D"/>
                </a:solidFill>
                <a:latin typeface="Open Sauce"/>
              </a:rPr>
              <a:t>•   Build the lawyer-reviewed gold set, which blocks every measurement we want to report</a:t>
            </a:r>
          </a:p>
          <a:p>
            <a:pPr algn="l" marL="310896" indent="-310896">
              <a:lnSpc>
                <a:spcPct val="134000"/>
              </a:lnSpc>
              <a:spcBef>
                <a:spcPts val="800"/>
              </a:spcBef>
            </a:pPr>
            <a:r>
              <a:rPr sz="1900" b="0" i="0">
                <a:solidFill>
                  <a:srgbClr val="331B0D"/>
                </a:solidFill>
                <a:latin typeface="Open Sauce"/>
              </a:rPr>
              <a:t>•   Run the unreported-judgment extraction behind the quote-grounding gate</a:t>
            </a:r>
          </a:p>
          <a:p>
            <a:pPr algn="l" marL="310896" indent="-310896">
              <a:lnSpc>
                <a:spcPct val="134000"/>
              </a:lnSpc>
              <a:spcBef>
                <a:spcPts val="800"/>
              </a:spcBef>
            </a:pPr>
            <a:r>
              <a:rPr sz="1900" b="0" i="0">
                <a:solidFill>
                  <a:srgbClr val="331B0D"/>
                </a:solidFill>
                <a:latin typeface="Open Sauce"/>
              </a:rPr>
              <a:t>•   Obtain official PDFs for the 22 index-only statutes</a:t>
            </a:r>
          </a:p>
          <a:p>
            <a:pPr algn="l" marL="310896" indent="-310896">
              <a:lnSpc>
                <a:spcPct val="134000"/>
              </a:lnSpc>
              <a:spcBef>
                <a:spcPts val="800"/>
              </a:spcBef>
            </a:pPr>
            <a:r>
              <a:rPr sz="1900" b="0" i="0">
                <a:solidFill>
                  <a:srgbClr val="331B0D"/>
                </a:solidFill>
                <a:latin typeface="Open Sauce"/>
              </a:rPr>
              <a:t>•   Score the retrieval engine and publish the first real numbers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331B0D"/>
        </a:solidFill>
        <a:effectLst/>
      </p:bgPr>
    </p:bg>
    <p:spTree>
      <p:nvGrpSpPr>
        <p:cNvPr id="1" name=""/>
        <p:cNvGrpSpPr/>
        <p:nvPr/>
      </p:nvGrpSpPr>
      <p:grpSpPr/>
      <p:sp>
        <p:nvSpPr>
          <p:cNvPr id="2" name="Rectangle 1"/>
          <p:cNvSpPr/>
          <p:nvPr/>
        </p:nvSpPr>
        <p:spPr>
          <a:xfrm>
            <a:off x="0" y="0"/>
            <a:ext cx="274320" cy="10287000"/>
          </a:xfrm>
          <a:prstGeom prst="rect">
            <a:avLst/>
          </a:prstGeom>
          <a:solidFill>
            <a:srgbClr val="8C77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024128" y="1060704"/>
            <a:ext cx="8229600" cy="294894"/>
          </a:xfrm>
          <a:prstGeom prst="rect">
            <a:avLst/>
          </a:prstGeom>
          <a:noFill/>
        </p:spPr>
        <p:txBody>
          <a:bodyPr wrap="square" anchor="t" lIns="0" rIns="0" tIns="0" bIns="0">
            <a:spAutoFit/>
          </a:bodyPr>
          <a:lstStyle/>
          <a:p>
            <a:pPr algn="l">
              <a:lnSpc>
                <a:spcPct val="105000"/>
              </a:lnSpc>
            </a:pPr>
            <a:r>
              <a:rPr sz="1800" b="1" i="0" spc="60">
                <a:solidFill>
                  <a:srgbClr val="8C7753"/>
                </a:solidFill>
                <a:latin typeface="Open Sauce Bold"/>
              </a:rPr>
              <a:t>DRAFTLY  |  MID-EVALUATION</a:t>
            </a:r>
          </a:p>
        </p:txBody>
      </p:sp>
      <p:sp>
        <p:nvSpPr>
          <p:cNvPr id="4" name="TextBox 3"/>
          <p:cNvSpPr txBox="1"/>
          <p:nvPr/>
        </p:nvSpPr>
        <p:spPr>
          <a:xfrm>
            <a:off x="932688" y="2834640"/>
            <a:ext cx="11430000" cy="1655064"/>
          </a:xfrm>
          <a:prstGeom prst="rect">
            <a:avLst/>
          </a:prstGeom>
          <a:noFill/>
        </p:spPr>
        <p:txBody>
          <a:bodyPr wrap="square" anchor="t" lIns="0" rIns="0" tIns="0" bIns="0">
            <a:spAutoFit/>
          </a:bodyPr>
          <a:lstStyle/>
          <a:p>
            <a:pPr algn="l">
              <a:lnSpc>
                <a:spcPct val="105000"/>
              </a:lnSpc>
            </a:pPr>
            <a:r>
              <a:rPr sz="12000" b="0" i="0">
                <a:solidFill>
                  <a:srgbClr val="FAF7F0"/>
                </a:solidFill>
                <a:latin typeface="Open Sauce"/>
              </a:rPr>
              <a:t>Thank you</a:t>
            </a:r>
          </a:p>
        </p:txBody>
      </p:sp>
      <p:cxnSp>
        <p:nvCxnSpPr>
          <p:cNvPr id="5" name="Connector 4"/>
          <p:cNvCxnSpPr/>
          <p:nvPr/>
        </p:nvCxnSpPr>
        <p:spPr>
          <a:xfrm>
            <a:off x="1024128" y="5074920"/>
            <a:ext cx="4754880" cy="0"/>
          </a:xfrm>
          <a:prstGeom prst="line">
            <a:avLst/>
          </a:prstGeom>
          <a:ln w="19050">
            <a:solidFill>
              <a:srgbClr val="8C775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1024128" y="5440680"/>
            <a:ext cx="11338560" cy="1075944"/>
          </a:xfrm>
          <a:prstGeom prst="rect">
            <a:avLst/>
          </a:prstGeom>
          <a:noFill/>
        </p:spPr>
        <p:txBody>
          <a:bodyPr wrap="square" anchor="t" lIns="0" rIns="0" tIns="0" bIns="0">
            <a:spAutoFit/>
          </a:bodyPr>
          <a:lstStyle/>
          <a:p>
            <a:pPr algn="l">
              <a:lnSpc>
                <a:spcPct val="134000"/>
              </a:lnSpc>
            </a:pPr>
            <a:r>
              <a:rPr sz="3000" b="0" i="0">
                <a:solidFill>
                  <a:srgbClr val="F1EADC"/>
                </a:solidFill>
                <a:latin typeface="Open Sauce"/>
              </a:rPr>
              <a:t>Draftly does not begin by generating a deed. It begins by finding and verifying the law that must govern the deed.</a:t>
            </a:r>
          </a:p>
        </p:txBody>
      </p:sp>
      <p:sp>
        <p:nvSpPr>
          <p:cNvPr id="7" name="TextBox 6"/>
          <p:cNvSpPr txBox="1"/>
          <p:nvPr/>
        </p:nvSpPr>
        <p:spPr>
          <a:xfrm>
            <a:off x="12701016" y="7370064"/>
            <a:ext cx="4562856" cy="374904"/>
          </a:xfrm>
          <a:prstGeom prst="rect">
            <a:avLst/>
          </a:prstGeom>
          <a:noFill/>
        </p:spPr>
        <p:txBody>
          <a:bodyPr wrap="square" anchor="t" lIns="0" rIns="0" tIns="0" bIns="0">
            <a:spAutoFit/>
          </a:bodyPr>
          <a:lstStyle/>
          <a:p>
            <a:pPr algn="r">
              <a:lnSpc>
                <a:spcPct val="105000"/>
              </a:lnSpc>
            </a:pPr>
            <a:r>
              <a:rPr sz="2400" b="1" i="0">
                <a:solidFill>
                  <a:srgbClr val="8C7753"/>
                </a:solidFill>
                <a:latin typeface="Open Sauce Bold"/>
              </a:rPr>
              <a:t>TEAM A</a:t>
            </a:r>
          </a:p>
        </p:txBody>
      </p:sp>
      <p:sp>
        <p:nvSpPr>
          <p:cNvPr id="8" name="TextBox 7"/>
          <p:cNvSpPr txBox="1"/>
          <p:nvPr/>
        </p:nvSpPr>
        <p:spPr>
          <a:xfrm>
            <a:off x="12701016" y="7818120"/>
            <a:ext cx="4562856" cy="1191006"/>
          </a:xfrm>
          <a:prstGeom prst="rect">
            <a:avLst/>
          </a:prstGeom>
          <a:noFill/>
        </p:spPr>
        <p:txBody>
          <a:bodyPr wrap="square" anchor="t" lIns="0" rIns="0" tIns="0" bIns="0">
            <a:spAutoFit/>
          </a:bodyPr>
          <a:lstStyle/>
          <a:p>
            <a:pPr algn="r">
              <a:lnSpc>
                <a:spcPct val="142000"/>
              </a:lnSpc>
            </a:pPr>
            <a:r>
              <a:rPr sz="2100" b="0" i="0">
                <a:solidFill>
                  <a:srgbClr val="FAF7F0"/>
                </a:solidFill>
                <a:latin typeface="Open Sauce"/>
              </a:rPr>
              <a:t>Himath Nimpura</a:t>
            </a:r>
          </a:p>
          <a:p>
            <a:pPr algn="r">
              <a:lnSpc>
                <a:spcPct val="142000"/>
              </a:lnSpc>
              <a:spcBef>
                <a:spcPts val="0"/>
              </a:spcBef>
            </a:pPr>
            <a:r>
              <a:rPr sz="2100" b="0" i="0">
                <a:solidFill>
                  <a:srgbClr val="FAF7F0"/>
                </a:solidFill>
                <a:latin typeface="Open Sauce"/>
              </a:rPr>
              <a:t>Lahiru</a:t>
            </a:r>
          </a:p>
          <a:p>
            <a:pPr algn="r">
              <a:lnSpc>
                <a:spcPct val="142000"/>
              </a:lnSpc>
              <a:spcBef>
                <a:spcPts val="0"/>
              </a:spcBef>
            </a:pPr>
            <a:r>
              <a:rPr sz="2100" b="0" i="0">
                <a:solidFill>
                  <a:srgbClr val="FAF7F0"/>
                </a:solidFill>
                <a:latin typeface="Open Sauce"/>
              </a:rPr>
              <a:t>Praveen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DAHSkAlG3jQ</dc:identifier>
  <dcterms:modified xsi:type="dcterms:W3CDTF">2011-08-01T06:04:30Z</dcterms:modified>
  <cp:revision>1</cp:revision>
  <dc:title>White Beige and Brown Simple Minimalist Clean Final Project Presentation</dc:title>
</cp:coreProperties>
</file>