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6" r:id="rId1"/>
  </p:sldMasterIdLst>
  <p:sldIdLst>
    <p:sldId id="256" r:id="rId2"/>
    <p:sldId id="259" r:id="rId3"/>
    <p:sldId id="261" r:id="rId4"/>
    <p:sldId id="262" r:id="rId5"/>
    <p:sldId id="263" r:id="rId6"/>
    <p:sldId id="265" r:id="rId7"/>
    <p:sldId id="267" r:id="rId8"/>
    <p:sldId id="268" r:id="rId9"/>
    <p:sldId id="25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6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37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42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43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3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75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0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6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6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33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52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73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3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60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7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6E760CA-78BD-4C15-B49A-D739E493B76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59A41030-F3B2-4F67-96CB-119B23B2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74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7" r:id="rId1"/>
    <p:sldLayoutId id="2147484538" r:id="rId2"/>
    <p:sldLayoutId id="2147484539" r:id="rId3"/>
    <p:sldLayoutId id="2147484540" r:id="rId4"/>
    <p:sldLayoutId id="2147484541" r:id="rId5"/>
    <p:sldLayoutId id="2147484542" r:id="rId6"/>
    <p:sldLayoutId id="2147484543" r:id="rId7"/>
    <p:sldLayoutId id="2147484544" r:id="rId8"/>
    <p:sldLayoutId id="2147484545" r:id="rId9"/>
    <p:sldLayoutId id="2147484546" r:id="rId10"/>
    <p:sldLayoutId id="2147484547" r:id="rId11"/>
    <p:sldLayoutId id="2147484548" r:id="rId12"/>
    <p:sldLayoutId id="2147484549" r:id="rId13"/>
    <p:sldLayoutId id="2147484550" r:id="rId14"/>
    <p:sldLayoutId id="2147484551" r:id="rId15"/>
    <p:sldLayoutId id="2147484552" r:id="rId16"/>
    <p:sldLayoutId id="21474845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F5077A-90D8-CCC3-570B-EBCA96CBD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714" y="2267290"/>
            <a:ext cx="8991600" cy="2323420"/>
          </a:xfrm>
        </p:spPr>
        <p:txBody>
          <a:bodyPr>
            <a:noAutofit/>
          </a:bodyPr>
          <a:lstStyle/>
          <a:p>
            <a:r>
              <a:rPr lang="en-US" sz="7200" b="1" dirty="0"/>
              <a:t/>
            </a:r>
            <a:br>
              <a:rPr lang="en-US" sz="7200" b="1" dirty="0"/>
            </a:br>
            <a:r>
              <a:rPr lang="en-US" sz="7200" b="1" dirty="0"/>
              <a:t/>
            </a:r>
            <a:br>
              <a:rPr lang="en-US" sz="7200" b="1" dirty="0"/>
            </a:br>
            <a:r>
              <a:rPr lang="en-US" sz="7200" b="1" dirty="0">
                <a:latin typeface="Agency FB" panose="020B0503020202020204" pitchFamily="34" charset="0"/>
              </a:rPr>
              <a:t>Local Authority certificates and required approvals</a:t>
            </a:r>
          </a:p>
        </p:txBody>
      </p:sp>
    </p:spTree>
    <p:extLst>
      <p:ext uri="{BB962C8B-B14F-4D97-AF65-F5344CB8AC3E}">
        <p14:creationId xmlns:p14="http://schemas.microsoft.com/office/powerpoint/2010/main" val="221983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40DD99-17A0-95AF-7D8F-12533EB2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Local authority Documents required for deed of Transfer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063C6A-3781-F1B5-9DE0-A16378215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99598" y="1626846"/>
            <a:ext cx="3393938" cy="45271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Street line certificate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Buillding</a:t>
            </a:r>
            <a:r>
              <a:rPr lang="en-US" dirty="0"/>
              <a:t> Line Certificate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Non- vesting certificate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Certificate of ownership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Approved building plans “if there is a building”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Certificate of conformity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Notice of assessment for the current year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Last Payment of tax receipt</a:t>
            </a:r>
          </a:p>
        </p:txBody>
      </p:sp>
    </p:spTree>
    <p:extLst>
      <p:ext uri="{BB962C8B-B14F-4D97-AF65-F5344CB8AC3E}">
        <p14:creationId xmlns:p14="http://schemas.microsoft.com/office/powerpoint/2010/main" val="101872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4C20E1F-0E0D-3B66-A19B-4E08F1528F7A}"/>
              </a:ext>
            </a:extLst>
          </p:cNvPr>
          <p:cNvSpPr txBox="1"/>
          <p:nvPr/>
        </p:nvSpPr>
        <p:spPr>
          <a:xfrm>
            <a:off x="628300" y="512674"/>
            <a:ext cx="849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Building line certificate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017B27F-C568-FFA1-2CFF-3C5DD26BF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072" y="1440808"/>
            <a:ext cx="3867178" cy="49437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B52F5B3-1FD7-72EC-879B-3C53EC37383F}"/>
              </a:ext>
            </a:extLst>
          </p:cNvPr>
          <p:cNvSpPr txBox="1"/>
          <p:nvPr/>
        </p:nvSpPr>
        <p:spPr>
          <a:xfrm>
            <a:off x="628300" y="1071474"/>
            <a:ext cx="484688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Ascertains whether any street line approved by the Council passes through the property.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is done in order to know whether any portion of the land along the road could be taken over by the Council for the widening of the street.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Sections 5, 7 and 19 of the Housing and Town Improvement Ordinance are relevant.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effect of sections 5 and 7 of the Ordinance is to ensure that no purchaser would buy land between street lines with a view to building upon it and not to render such land sterile and valueless.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50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FD439CF-15C5-2EEC-F212-1B64383F9128}"/>
              </a:ext>
            </a:extLst>
          </p:cNvPr>
          <p:cNvSpPr txBox="1"/>
          <p:nvPr/>
        </p:nvSpPr>
        <p:spPr>
          <a:xfrm>
            <a:off x="560981" y="819033"/>
            <a:ext cx="58790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u="sng" dirty="0"/>
              <a:t>Non vesting certificate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This certificate states what amounts are due to </a:t>
            </a:r>
          </a:p>
          <a:p>
            <a:r>
              <a:rPr lang="en-US" dirty="0"/>
              <a:t>the council in respect of the property on account </a:t>
            </a:r>
          </a:p>
          <a:p>
            <a:r>
              <a:rPr lang="en-US" dirty="0"/>
              <a:t>of consolidated rates and who is the person who is</a:t>
            </a:r>
          </a:p>
          <a:p>
            <a:r>
              <a:rPr lang="en-US" dirty="0"/>
              <a:t>entered on the Assessment register as owner of the </a:t>
            </a:r>
          </a:p>
          <a:p>
            <a:r>
              <a:rPr lang="en-US" dirty="0"/>
              <a:t>premises; what amounts; are outstanding in respect </a:t>
            </a:r>
          </a:p>
          <a:p>
            <a:r>
              <a:rPr lang="en-US" dirty="0"/>
              <a:t>of aided drainage and water mains. The certificate </a:t>
            </a:r>
          </a:p>
          <a:p>
            <a:r>
              <a:rPr lang="en-US" dirty="0"/>
              <a:t>will also state whether the property has or has not </a:t>
            </a:r>
          </a:p>
          <a:p>
            <a:r>
              <a:rPr lang="en-US" dirty="0"/>
              <a:t>vested in the Council for non-payment of rates and</a:t>
            </a:r>
          </a:p>
          <a:p>
            <a:r>
              <a:rPr lang="en-US" dirty="0"/>
              <a:t>other dues in respect of the property;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EAE891A-DB47-7068-A8CB-D7274F57C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060" y="1228549"/>
            <a:ext cx="3924329" cy="51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5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B86576-944C-704B-A59A-1113EF419E16}"/>
              </a:ext>
            </a:extLst>
          </p:cNvPr>
          <p:cNvSpPr txBox="1"/>
          <p:nvPr/>
        </p:nvSpPr>
        <p:spPr>
          <a:xfrm>
            <a:off x="629703" y="648391"/>
            <a:ext cx="60950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Certificate of ownership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Certificate of Ownership This is an </a:t>
            </a:r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approved and certified certificate that shows the actual owner of the property or land</a:t>
            </a:r>
            <a:r>
              <a:rPr lang="en-US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. This document is also very vital in the registration process. It is provided by the Assessment Department of the relevant Municipal Council in the respective District or City.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EF43BCA0-80A9-1AF9-7CDB-B4F1E8F129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517" y="686857"/>
            <a:ext cx="3713916" cy="540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2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F610A53-BD41-9560-50FC-1DEDEFE05707}"/>
              </a:ext>
            </a:extLst>
          </p:cNvPr>
          <p:cNvSpPr txBox="1"/>
          <p:nvPr/>
        </p:nvSpPr>
        <p:spPr>
          <a:xfrm>
            <a:off x="233286" y="353426"/>
            <a:ext cx="1056561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Certificate of conformity</a:t>
            </a:r>
          </a:p>
          <a:p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78F2371-A8F5-6255-3483-20A2F4895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598" y="276043"/>
            <a:ext cx="3685648" cy="36942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DE2DE93-0C95-CE39-48BF-1EC1174B2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531" y="4398790"/>
            <a:ext cx="3638577" cy="1981214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2EBC901C-FBB2-AC5D-5FFC-76B08D2D9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9522" y="1223565"/>
            <a:ext cx="3078592" cy="4801314"/>
          </a:xfrm>
        </p:spPr>
        <p:txBody>
          <a:bodyPr>
            <a:normAutofit fontScale="85000" lnSpcReduction="20000"/>
          </a:bodyPr>
          <a:lstStyle/>
          <a:p>
            <a:pPr algn="just" fontAlgn="base"/>
            <a:r>
              <a:rPr lang="en-US" b="0" i="0" dirty="0">
                <a:solidFill>
                  <a:schemeClr val="bg1"/>
                </a:solidFill>
                <a:effectLst/>
                <a:latin typeface="Ubuntu" panose="020F0502020204030204" pitchFamily="34" charset="0"/>
              </a:rPr>
              <a:t>This certificate is issued in order to confirm that a particular building has been constructed in conformity with the approved survey plan. This certificate should be obtained from the Pradeshiya Sabha before taking up residence in the constructed building.</a:t>
            </a:r>
          </a:p>
          <a:p>
            <a:pPr algn="just" fontAlgn="base"/>
            <a:r>
              <a:rPr lang="en-US" b="1" i="0" dirty="0">
                <a:solidFill>
                  <a:schemeClr val="bg1"/>
                </a:solidFill>
                <a:effectLst/>
                <a:latin typeface="inherit"/>
              </a:rPr>
              <a:t>For this purpose,</a:t>
            </a:r>
            <a:endParaRPr lang="en-US" b="0" i="0" dirty="0">
              <a:solidFill>
                <a:schemeClr val="bg1"/>
              </a:solidFill>
              <a:effectLst/>
              <a:latin typeface="Ubuntu" panose="020F0502020204030204" pitchFamily="34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inherit"/>
              </a:rPr>
              <a:t>An application form should be obtained from the office on payment of (Rs. 200.00= + VAT) and an additional sum will have to be paid according to the area of the building in square feet.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inherit"/>
              </a:rPr>
              <a:t>If the construction cannot be completed within one year, the period should be extended.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inherit"/>
              </a:rPr>
              <a:t>It the validity period of the approved plan has exceeded three years, the plan has to be resubmitted together with a fresh application form and a copy of the relevant approved plan.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inherit"/>
              </a:rPr>
              <a:t>The plan is forwarded to the planning committee after being recommended by the technical officer or the public health inspector.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inherit"/>
              </a:rPr>
              <a:t>The certificate of conformity is issued upon receiving the approval of the committee.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54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D4E8B34-A018-2E98-A4F5-38D21BA997A8}"/>
              </a:ext>
            </a:extLst>
          </p:cNvPr>
          <p:cNvSpPr txBox="1"/>
          <p:nvPr/>
        </p:nvSpPr>
        <p:spPr>
          <a:xfrm>
            <a:off x="992937" y="603512"/>
            <a:ext cx="6287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Last Payment of tax receipt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AE960BB-6E7A-8032-8D67-584DE5C94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36" y="1110348"/>
            <a:ext cx="4409317" cy="3122640"/>
          </a:xfrm>
          <a:prstGeom prst="rect">
            <a:avLst/>
          </a:prstGeo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D7DFC5F6-6EC9-5A9D-486D-23089143F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5922" y="-1323917"/>
            <a:ext cx="5508840" cy="8181917"/>
          </a:xfrm>
        </p:spPr>
        <p:txBody>
          <a:bodyPr>
            <a:norm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Approved building plans “if there is a building”    </a:t>
            </a:r>
          </a:p>
          <a:p>
            <a:pPr algn="ctr"/>
            <a:endParaRPr lang="en-US" sz="1800" dirty="0">
              <a:highlight>
                <a:srgbClr val="C0C0C0"/>
              </a:highlight>
            </a:endParaRPr>
          </a:p>
          <a:p>
            <a:pPr algn="ctr"/>
            <a:endParaRPr lang="en-US" sz="1800" dirty="0">
              <a:highlight>
                <a:srgbClr val="C0C0C0"/>
              </a:highlight>
            </a:endParaRPr>
          </a:p>
          <a:p>
            <a:pPr algn="ctr"/>
            <a:endParaRPr lang="en-US" sz="1800" dirty="0">
              <a:highlight>
                <a:srgbClr val="C0C0C0"/>
              </a:highlight>
            </a:endParaRPr>
          </a:p>
          <a:p>
            <a:pPr algn="ctr"/>
            <a:endParaRPr lang="en-US" sz="1800" dirty="0">
              <a:highlight>
                <a:srgbClr val="C0C0C0"/>
              </a:highlight>
            </a:endParaRPr>
          </a:p>
          <a:p>
            <a:pPr algn="ctr"/>
            <a:endParaRPr lang="en-US" sz="1800" dirty="0">
              <a:highlight>
                <a:srgbClr val="C0C0C0"/>
              </a:highlight>
            </a:endParaRPr>
          </a:p>
          <a:p>
            <a:pPr algn="ctr"/>
            <a:endParaRPr lang="en-US" sz="1800" dirty="0">
              <a:highlight>
                <a:srgbClr val="C0C0C0"/>
              </a:highlight>
            </a:endParaRPr>
          </a:p>
          <a:p>
            <a:pPr algn="ctr"/>
            <a:endParaRPr lang="en-US" sz="1800" dirty="0">
              <a:highlight>
                <a:srgbClr val="C0C0C0"/>
              </a:highlight>
            </a:endParaRPr>
          </a:p>
          <a:p>
            <a:pPr algn="ctr"/>
            <a:endParaRPr lang="en-US" sz="1800" dirty="0">
              <a:highlight>
                <a:srgbClr val="C0C0C0"/>
              </a:highlight>
            </a:endParaRPr>
          </a:p>
          <a:p>
            <a:pPr algn="ctr"/>
            <a:endParaRPr lang="en-US" sz="1800" dirty="0">
              <a:highlight>
                <a:srgbClr val="C0C0C0"/>
              </a:highlight>
            </a:endParaRPr>
          </a:p>
          <a:p>
            <a:pPr algn="ctr"/>
            <a:r>
              <a:rPr lang="en-US" sz="1800" dirty="0">
                <a:highlight>
                  <a:srgbClr val="C0C0C0"/>
                </a:highlight>
              </a:rPr>
              <a:t>     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C7265851-37ED-57D9-E35F-F80C371C0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107" y="1564892"/>
            <a:ext cx="3781581" cy="440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58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CD50F1-7C28-D870-8B94-57E7B6889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446" y="-1099524"/>
            <a:ext cx="6282994" cy="2490759"/>
          </a:xfrm>
        </p:spPr>
        <p:txBody>
          <a:bodyPr/>
          <a:lstStyle/>
          <a:p>
            <a:r>
              <a:rPr lang="en-US" sz="1800" dirty="0"/>
              <a:t>Notice of assessment for the current year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46E3E64-64F9-B0FD-9603-6C8032654479}"/>
              </a:ext>
            </a:extLst>
          </p:cNvPr>
          <p:cNvSpPr txBox="1"/>
          <p:nvPr/>
        </p:nvSpPr>
        <p:spPr>
          <a:xfrm>
            <a:off x="970499" y="1720839"/>
            <a:ext cx="60249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Inter"/>
              </a:rPr>
              <a:t>Your notice of assessment (NOA) is the statement issued that explains how your tax assessment is calculated. Your NOA will show the amount of: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tax you owe on your taxable income</a:t>
            </a:r>
          </a:p>
        </p:txBody>
      </p:sp>
    </p:spTree>
    <p:extLst>
      <p:ext uri="{BB962C8B-B14F-4D97-AF65-F5344CB8AC3E}">
        <p14:creationId xmlns:p14="http://schemas.microsoft.com/office/powerpoint/2010/main" val="1025573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32324B4-5D8B-F3DD-C1BF-D74FFEFA5E3B}"/>
              </a:ext>
            </a:extLst>
          </p:cNvPr>
          <p:cNvSpPr txBox="1"/>
          <p:nvPr/>
        </p:nvSpPr>
        <p:spPr>
          <a:xfrm>
            <a:off x="3048000" y="31058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Duties of a Notary where the property is situated in local limits of Municipal Council or Urban Council or Pradeshiya Sabha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8635A8A2-7D94-152A-9D33-2F6304B1A4D0}"/>
              </a:ext>
            </a:extLst>
          </p:cNvPr>
          <p:cNvSpPr/>
          <p:nvPr/>
        </p:nvSpPr>
        <p:spPr>
          <a:xfrm>
            <a:off x="1537090" y="2724150"/>
            <a:ext cx="7606910" cy="14097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Duties of a Notary where the property is situated in local limits of Municipal Council or Urban Council or Pradeshiya Sabha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2E56AC2-A397-7E4C-1E8C-0649344EF512}"/>
              </a:ext>
            </a:extLst>
          </p:cNvPr>
          <p:cNvSpPr txBox="1"/>
          <p:nvPr/>
        </p:nvSpPr>
        <p:spPr>
          <a:xfrm>
            <a:off x="244930" y="495299"/>
            <a:ext cx="44903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highlight>
                  <a:srgbClr val="FFFF00"/>
                </a:highlight>
                <a:latin typeface="Calibri Light" panose="020F0302020204030204"/>
                <a:ea typeface="+mj-ea"/>
                <a:cs typeface="+mj-cs"/>
              </a:rPr>
              <a:t>Obtaining certificate of non-vesting</a:t>
            </a:r>
            <a:br>
              <a:rPr lang="en-US" sz="2400" dirty="0">
                <a:solidFill>
                  <a:prstClr val="black"/>
                </a:solidFill>
                <a:highlight>
                  <a:srgbClr val="FFFF00"/>
                </a:highlight>
                <a:latin typeface="Calibri Light" panose="020F0302020204030204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5727ADA-8FCC-5BC4-DAB5-6192B1A89ED9}"/>
              </a:ext>
            </a:extLst>
          </p:cNvPr>
          <p:cNvSpPr txBox="1"/>
          <p:nvPr/>
        </p:nvSpPr>
        <p:spPr>
          <a:xfrm>
            <a:off x="6384471" y="95453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Ascertain whether any street line approved by the Council passes through the property.</a:t>
            </a:r>
            <a:br>
              <a:rPr lang="en-US" dirty="0">
                <a:highlight>
                  <a:srgbClr val="FFFF00"/>
                </a:highlight>
              </a:rPr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B068073-AB63-3627-EE37-E601FC9F8C1B}"/>
              </a:ext>
            </a:extLst>
          </p:cNvPr>
          <p:cNvSpPr txBox="1"/>
          <p:nvPr/>
        </p:nvSpPr>
        <p:spPr>
          <a:xfrm>
            <a:off x="672193" y="4977708"/>
            <a:ext cx="6232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purchaser inserted in the Assessment Register of the local body as the new owner of the property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D3645C3-2956-E711-E8BE-0D4BD54FA15C}"/>
              </a:ext>
            </a:extLst>
          </p:cNvPr>
          <p:cNvSpPr txBox="1"/>
          <p:nvPr/>
        </p:nvSpPr>
        <p:spPr>
          <a:xfrm>
            <a:off x="9078685" y="4602621"/>
            <a:ext cx="2813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must register the mortgage in the books kept by the local authority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B91946F1-911A-1ECF-0D29-665E6891F104}"/>
              </a:ext>
            </a:extLst>
          </p:cNvPr>
          <p:cNvCxnSpPr/>
          <p:nvPr/>
        </p:nvCxnSpPr>
        <p:spPr>
          <a:xfrm flipH="1" flipV="1">
            <a:off x="3548745" y="1355273"/>
            <a:ext cx="1148443" cy="1121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7CED1010-2682-BB9F-8E4E-86C37910003D}"/>
              </a:ext>
            </a:extLst>
          </p:cNvPr>
          <p:cNvCxnSpPr>
            <a:cxnSpLocks/>
          </p:cNvCxnSpPr>
          <p:nvPr/>
        </p:nvCxnSpPr>
        <p:spPr>
          <a:xfrm flipH="1">
            <a:off x="2166257" y="3905465"/>
            <a:ext cx="1072242" cy="1072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EAF99127-AB78-1690-CF76-F6E480D69A20}"/>
              </a:ext>
            </a:extLst>
          </p:cNvPr>
          <p:cNvCxnSpPr>
            <a:cxnSpLocks/>
          </p:cNvCxnSpPr>
          <p:nvPr/>
        </p:nvCxnSpPr>
        <p:spPr>
          <a:xfrm flipV="1">
            <a:off x="7200906" y="1698171"/>
            <a:ext cx="566053" cy="872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573BFB48-2165-18D9-D5A8-FD8F07AA6755}"/>
              </a:ext>
            </a:extLst>
          </p:cNvPr>
          <p:cNvCxnSpPr/>
          <p:nvPr/>
        </p:nvCxnSpPr>
        <p:spPr>
          <a:xfrm>
            <a:off x="8626929" y="4022271"/>
            <a:ext cx="990600" cy="493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3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D4DF52-125F-6084-FBE7-05A150CD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58085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196</TotalTime>
  <Words>564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Agency FB</vt:lpstr>
      <vt:lpstr>Algerian</vt:lpstr>
      <vt:lpstr>Arial</vt:lpstr>
      <vt:lpstr>Calibri Light</vt:lpstr>
      <vt:lpstr>Century Gothic</vt:lpstr>
      <vt:lpstr>inherit</vt:lpstr>
      <vt:lpstr>Inter</vt:lpstr>
      <vt:lpstr>Roboto</vt:lpstr>
      <vt:lpstr>Ubuntu</vt:lpstr>
      <vt:lpstr>Wingdings</vt:lpstr>
      <vt:lpstr>Wingdings 3</vt:lpstr>
      <vt:lpstr>Ion Boardroom</vt:lpstr>
      <vt:lpstr>  Local Authority certificates and required approvals</vt:lpstr>
      <vt:lpstr>Local authority Documents required for deed of Transfer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Notice of assessment for the current year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Authority certificates and required approvals</dc:title>
  <dc:creator>Andriana Melder</dc:creator>
  <cp:lastModifiedBy>HP</cp:lastModifiedBy>
  <cp:revision>3</cp:revision>
  <dcterms:created xsi:type="dcterms:W3CDTF">2024-07-31T05:34:03Z</dcterms:created>
  <dcterms:modified xsi:type="dcterms:W3CDTF">2025-02-02T02:20:58Z</dcterms:modified>
</cp:coreProperties>
</file>