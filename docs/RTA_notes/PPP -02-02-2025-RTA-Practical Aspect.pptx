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71" r:id="rId3"/>
    <p:sldId id="272" r:id="rId4"/>
    <p:sldId id="264" r:id="rId5"/>
    <p:sldId id="273" r:id="rId6"/>
    <p:sldId id="274" r:id="rId7"/>
    <p:sldId id="275" r:id="rId8"/>
    <p:sldId id="276" r:id="rId9"/>
    <p:sldId id="282" r:id="rId10"/>
    <p:sldId id="263" r:id="rId11"/>
    <p:sldId id="262" r:id="rId12"/>
    <p:sldId id="265" r:id="rId13"/>
    <p:sldId id="266" r:id="rId14"/>
    <p:sldId id="267" r:id="rId15"/>
    <p:sldId id="269" r:id="rId16"/>
    <p:sldId id="280" r:id="rId17"/>
    <p:sldId id="277" r:id="rId18"/>
    <p:sldId id="278" r:id="rId19"/>
    <p:sldId id="279" r:id="rId20"/>
    <p:sldId id="283" r:id="rId21"/>
    <p:sldId id="259" r:id="rId22"/>
    <p:sldId id="260" r:id="rId23"/>
    <p:sldId id="289" r:id="rId24"/>
    <p:sldId id="292" r:id="rId25"/>
    <p:sldId id="291" r:id="rId26"/>
    <p:sldId id="268" r:id="rId27"/>
    <p:sldId id="293" r:id="rId28"/>
    <p:sldId id="285" r:id="rId29"/>
    <p:sldId id="286" r:id="rId30"/>
    <p:sldId id="287" r:id="rId31"/>
    <p:sldId id="288" r:id="rId32"/>
    <p:sldId id="29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101" d="100"/>
          <a:sy n="101" d="100"/>
        </p:scale>
        <p:origin x="3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66372D-1E09-4279-AA4E-E0D49E3F21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D843BCE0-03F0-4C45-96E7-CC8BFF3348C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599BD91A-EEC0-4A65-B9A2-53BEFC79EB54}"/>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5" name="Footer Placeholder 4">
            <a:extLst>
              <a:ext uri="{FF2B5EF4-FFF2-40B4-BE49-F238E27FC236}">
                <a16:creationId xmlns="" xmlns:a16="http://schemas.microsoft.com/office/drawing/2014/main" id="{58988F5E-89D3-48C6-955C-3BAD1EE09A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F028F37-61D8-441B-B3B5-7F96659675E6}"/>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2739077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16CF86C-44D7-403B-95F2-024CBD0EF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138234E-15CD-4CAF-BB5C-82DBB18261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6A3A593-8079-409B-9206-150AE9445351}"/>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5" name="Footer Placeholder 4">
            <a:extLst>
              <a:ext uri="{FF2B5EF4-FFF2-40B4-BE49-F238E27FC236}">
                <a16:creationId xmlns="" xmlns:a16="http://schemas.microsoft.com/office/drawing/2014/main" id="{B5F6653A-2942-4222-B594-3C59FD64B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6AA7CE7-763D-4387-AD9D-2CB409DA2DDA}"/>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292907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5EDD3F-8DE9-458B-A885-EF1B292749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547E93F3-2B6E-431C-B03F-A83A784579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71DF367D-8A26-4C12-A2C5-9D3E509807C0}"/>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5" name="Footer Placeholder 4">
            <a:extLst>
              <a:ext uri="{FF2B5EF4-FFF2-40B4-BE49-F238E27FC236}">
                <a16:creationId xmlns="" xmlns:a16="http://schemas.microsoft.com/office/drawing/2014/main" id="{CBE1C9D6-2C5E-454A-AA3D-6A11200F45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CB03684C-E514-4CAA-B2CD-DD7AD89BA535}"/>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388023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F31E01-5A36-4A39-808A-CF7892D1A3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2CA3F59-F84C-42A7-B1CE-5E822C7433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ABD1BBC6-191C-4EC7-8B6D-730EB0481E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D534F462-EA8F-484C-B822-CCEB85B79033}"/>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6" name="Footer Placeholder 5">
            <a:extLst>
              <a:ext uri="{FF2B5EF4-FFF2-40B4-BE49-F238E27FC236}">
                <a16:creationId xmlns="" xmlns:a16="http://schemas.microsoft.com/office/drawing/2014/main" id="{391951ED-523F-4947-AB38-0A29D2BD93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71773D3F-30CD-4609-8CC9-1C0CE44D7F73}"/>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2584727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6D4DB37-59C9-4BCA-BC67-1EA0EB9813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3E314B90-9284-4C97-AA0B-7C0090806E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8DA730F5-EE24-4A61-8C58-71C16BE0C1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790F0A38-E22C-4559-8F66-B412698F85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0303B33E-50F6-4F57-89E5-C63285D4DA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13404513-9858-4989-993E-9CF6A54596C4}"/>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8" name="Footer Placeholder 7">
            <a:extLst>
              <a:ext uri="{FF2B5EF4-FFF2-40B4-BE49-F238E27FC236}">
                <a16:creationId xmlns="" xmlns:a16="http://schemas.microsoft.com/office/drawing/2014/main" id="{4B207539-E2B8-4464-A318-8EDD65BAFE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6963B879-0924-410C-AE10-D21C99EAFFDF}"/>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2832606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258F79-FB7C-4945-822A-6EF9B7EAFFB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E71982F-A57C-4000-803B-6B88E7035BD1}"/>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4" name="Footer Placeholder 3">
            <a:extLst>
              <a:ext uri="{FF2B5EF4-FFF2-40B4-BE49-F238E27FC236}">
                <a16:creationId xmlns="" xmlns:a16="http://schemas.microsoft.com/office/drawing/2014/main" id="{8520969B-1685-4F8E-A794-17A4DED2BD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E7978626-2492-4274-9C8E-4280BB13AE52}"/>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663494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80D16CE-3AAE-444F-9ED3-3A984E9DAF5C}"/>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3" name="Footer Placeholder 2">
            <a:extLst>
              <a:ext uri="{FF2B5EF4-FFF2-40B4-BE49-F238E27FC236}">
                <a16:creationId xmlns="" xmlns:a16="http://schemas.microsoft.com/office/drawing/2014/main" id="{3572AD82-7001-4168-B196-C9209C4F72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5D9E5A66-E052-42F9-9DD2-1DE5E3DBED92}"/>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3473834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BEF581-AEA0-4EA4-994A-B7CEF47229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E1796DE0-2CFD-4F8E-8658-68BEC7EBA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99A6A590-B4EC-4F5A-8C87-D44616AFD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4DA7B83-FB9C-4E69-8537-2AA93BD8337E}"/>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6" name="Footer Placeholder 5">
            <a:extLst>
              <a:ext uri="{FF2B5EF4-FFF2-40B4-BE49-F238E27FC236}">
                <a16:creationId xmlns="" xmlns:a16="http://schemas.microsoft.com/office/drawing/2014/main" id="{C612EFDA-953F-47AD-B995-ED1DCC268F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9CD85364-3395-4ABA-A4EE-AAB132CD3B15}"/>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2347819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A207FF-7D5B-4167-9D4B-CC3890A56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304311EE-FEEF-465E-82FC-8BA01C512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07F82FA6-1AAF-4997-9A47-1ABFE298E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504024AC-308B-4167-825F-031C57A8762A}"/>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6" name="Footer Placeholder 5">
            <a:extLst>
              <a:ext uri="{FF2B5EF4-FFF2-40B4-BE49-F238E27FC236}">
                <a16:creationId xmlns="" xmlns:a16="http://schemas.microsoft.com/office/drawing/2014/main" id="{DD73D1AF-FC82-49B0-A85F-EF9DC8B41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B3E7867E-81D2-4357-B40F-A703600DA078}"/>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931141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706554B-6FCA-4EAD-B759-32CE3264FA6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56B91C60-A87A-4F48-B137-76F8F4E872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0F476C2B-CA47-443A-A43E-93519ED82E28}"/>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5" name="Footer Placeholder 4">
            <a:extLst>
              <a:ext uri="{FF2B5EF4-FFF2-40B4-BE49-F238E27FC236}">
                <a16:creationId xmlns="" xmlns:a16="http://schemas.microsoft.com/office/drawing/2014/main" id="{E05EA609-E550-4BA4-A164-007AF196D2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07958445-563A-4E34-819A-11715522D8D1}"/>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3319860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9F251F10-C36B-44B9-8B92-423A347AD4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E23AE251-DA47-4EF9-8084-E935CB353D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2AA25781-241F-487D-9335-DD563B5F4086}"/>
              </a:ext>
            </a:extLst>
          </p:cNvPr>
          <p:cNvSpPr>
            <a:spLocks noGrp="1"/>
          </p:cNvSpPr>
          <p:nvPr>
            <p:ph type="dt" sz="half" idx="10"/>
          </p:nvPr>
        </p:nvSpPr>
        <p:spPr/>
        <p:txBody>
          <a:bodyPr/>
          <a:lstStyle/>
          <a:p>
            <a:fld id="{9F7D7F08-0B90-4E79-80AF-F2A9F5C7BEAB}" type="datetimeFigureOut">
              <a:rPr lang="en-US" smtClean="0"/>
              <a:t>2/2/2025</a:t>
            </a:fld>
            <a:endParaRPr lang="en-US"/>
          </a:p>
        </p:txBody>
      </p:sp>
      <p:sp>
        <p:nvSpPr>
          <p:cNvPr id="5" name="Footer Placeholder 4">
            <a:extLst>
              <a:ext uri="{FF2B5EF4-FFF2-40B4-BE49-F238E27FC236}">
                <a16:creationId xmlns="" xmlns:a16="http://schemas.microsoft.com/office/drawing/2014/main" id="{4C89AAA4-5F69-4895-A6E3-A2C59C243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6A91E3B9-D05E-4E08-8FA6-AF7633E3963D}"/>
              </a:ext>
            </a:extLst>
          </p:cNvPr>
          <p:cNvSpPr>
            <a:spLocks noGrp="1"/>
          </p:cNvSpPr>
          <p:nvPr>
            <p:ph type="sldNum" sz="quarter" idx="12"/>
          </p:nvPr>
        </p:nvSpPr>
        <p:spPr/>
        <p:txBody>
          <a:bodyPr/>
          <a:lstStyle/>
          <a:p>
            <a:fld id="{1E71C24C-8AAC-407D-AFF1-CB0DAF0D97AC}" type="slidenum">
              <a:rPr lang="en-US" smtClean="0"/>
              <a:t>‹#›</a:t>
            </a:fld>
            <a:endParaRPr lang="en-US"/>
          </a:p>
        </p:txBody>
      </p:sp>
    </p:spTree>
    <p:extLst>
      <p:ext uri="{BB962C8B-B14F-4D97-AF65-F5344CB8AC3E}">
        <p14:creationId xmlns:p14="http://schemas.microsoft.com/office/powerpoint/2010/main" val="2834957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910080" y="359898"/>
            <a:ext cx="987552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910080" y="1850064"/>
            <a:ext cx="987552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2BB99427-FE65-4AF4-89FF-1D5F52C271EF}" type="datetimeFigureOut">
              <a:rPr lang="en-US" smtClean="0"/>
              <a:t>2/2/2025</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9EFB8CD9-79B4-4606-A8C9-F5DA12573CFC}" type="slidenum">
              <a:rPr lang="en-US" smtClean="0"/>
              <a:t>‹#›</a:t>
            </a:fld>
            <a:endParaRPr lang="en-US"/>
          </a:p>
        </p:txBody>
      </p:sp>
      <p:sp>
        <p:nvSpPr>
          <p:cNvPr id="8" name="Oval 7"/>
          <p:cNvSpPr/>
          <p:nvPr/>
        </p:nvSpPr>
        <p:spPr>
          <a:xfrm>
            <a:off x="1228577" y="1413802"/>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Oval 8"/>
          <p:cNvSpPr/>
          <p:nvPr/>
        </p:nvSpPr>
        <p:spPr>
          <a:xfrm>
            <a:off x="1542901" y="1345016"/>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38158081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BB99427-FE65-4AF4-89FF-1D5F52C271EF}" type="datetimeFigureOut">
              <a:rPr lang="en-US" smtClean="0"/>
              <a:t>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3562798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3043853" y="-54"/>
            <a:ext cx="9144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3437856" y="2600325"/>
            <a:ext cx="85344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3437856" y="1066800"/>
            <a:ext cx="85344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2BB99427-FE65-4AF4-89FF-1D5F52C271EF}" type="datetimeFigureOut">
              <a:rPr lang="en-US" smtClean="0"/>
              <a:t>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FB8CD9-79B4-4606-A8C9-F5DA12573CFC}" type="slidenum">
              <a:rPr lang="en-US" smtClean="0"/>
              <a:t>‹#›</a:t>
            </a:fld>
            <a:endParaRPr lang="en-US"/>
          </a:p>
        </p:txBody>
      </p:sp>
      <p:sp>
        <p:nvSpPr>
          <p:cNvPr id="10" name="Rectangle 9"/>
          <p:cNvSpPr/>
          <p:nvPr/>
        </p:nvSpPr>
        <p:spPr bwMode="invGray">
          <a:xfrm>
            <a:off x="3048000" y="0"/>
            <a:ext cx="1016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Oval 7"/>
          <p:cNvSpPr/>
          <p:nvPr/>
        </p:nvSpPr>
        <p:spPr>
          <a:xfrm>
            <a:off x="2896428" y="2814656"/>
            <a:ext cx="280416"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
        <p:nvSpPr>
          <p:cNvPr id="9" name="Oval 8"/>
          <p:cNvSpPr/>
          <p:nvPr/>
        </p:nvSpPr>
        <p:spPr>
          <a:xfrm>
            <a:off x="3210752" y="2745870"/>
            <a:ext cx="85344"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3348493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lstStyle/>
          <a:p>
            <a:r>
              <a:rPr kumimoji="0" lang="en-US"/>
              <a:t>Click to edit Master title style</a:t>
            </a:r>
          </a:p>
        </p:txBody>
      </p:sp>
      <p:sp>
        <p:nvSpPr>
          <p:cNvPr id="3" name="Content Placeholder 2"/>
          <p:cNvSpPr>
            <a:spLocks noGrp="1"/>
          </p:cNvSpPr>
          <p:nvPr>
            <p:ph sz="half" idx="1"/>
          </p:nvPr>
        </p:nvSpPr>
        <p:spPr>
          <a:xfrm>
            <a:off x="191414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7034784" y="1524000"/>
            <a:ext cx="48768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BB99427-FE65-4AF4-89FF-1D5F52C271EF}" type="datetimeFigureOut">
              <a:rPr lang="en-US" smtClean="0"/>
              <a:t>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1383188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5160336"/>
            <a:ext cx="109728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60960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217920" y="328278"/>
            <a:ext cx="536448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217920" y="969336"/>
            <a:ext cx="536448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2BB99427-FE65-4AF4-89FF-1D5F52C271EF}" type="datetimeFigureOut">
              <a:rPr lang="en-US" smtClean="0"/>
              <a:t>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23576572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14144" y="274320"/>
            <a:ext cx="999744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2BB99427-FE65-4AF4-89FF-1D5F52C271EF}" type="datetimeFigureOut">
              <a:rPr lang="en-US" smtClean="0"/>
              <a:t>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32558789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353312" y="0"/>
            <a:ext cx="10838688"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Date Placeholder 1"/>
          <p:cNvSpPr>
            <a:spLocks noGrp="1"/>
          </p:cNvSpPr>
          <p:nvPr>
            <p:ph type="dt" sz="half" idx="10"/>
          </p:nvPr>
        </p:nvSpPr>
        <p:spPr/>
        <p:txBody>
          <a:bodyPr/>
          <a:lstStyle/>
          <a:p>
            <a:fld id="{2BB99427-FE65-4AF4-89FF-1D5F52C271EF}" type="datetimeFigureOut">
              <a:rPr lang="en-US" smtClean="0"/>
              <a:t>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EFB8CD9-79B4-4606-A8C9-F5DA12573CFC}" type="slidenum">
              <a:rPr lang="en-US" smtClean="0"/>
              <a:t>‹#›</a:t>
            </a:fld>
            <a:endParaRPr lang="en-US"/>
          </a:p>
        </p:txBody>
      </p:sp>
      <p:sp>
        <p:nvSpPr>
          <p:cNvPr id="6" name="Rectangle 5"/>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9252632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16778"/>
            <a:ext cx="508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609600" y="1406964"/>
            <a:ext cx="508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1"/>
            <a:ext cx="108712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2BB99427-FE65-4AF4-89FF-1D5F52C271EF}" type="datetimeFigureOut">
              <a:rPr lang="en-US" smtClean="0"/>
              <a:t>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2559891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49195" y="1066800"/>
            <a:ext cx="36576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2BB99427-FE65-4AF4-89FF-1D5F52C271EF}" type="datetimeFigureOut">
              <a:rPr lang="en-US" smtClean="0"/>
              <a:t>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EFB8CD9-79B4-4606-A8C9-F5DA12573CFC}" type="slidenum">
              <a:rPr lang="en-US" smtClean="0"/>
              <a:t>‹#›</a:t>
            </a:fld>
            <a:endParaRPr lang="en-US"/>
          </a:p>
        </p:txBody>
      </p:sp>
      <p:sp>
        <p:nvSpPr>
          <p:cNvPr id="8" name="Rectangle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anchor="t"/>
          <a:lstStyle>
            <a:lvl1pPr marL="0" indent="0" algn="l" eaLnBrk="1" latinLnBrk="0" hangingPunct="1">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Flowchart: Process 9"/>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dirty="0"/>
          </a:p>
        </p:txBody>
      </p:sp>
      <p:sp>
        <p:nvSpPr>
          <p:cNvPr id="4" name="Text Placeholder 3"/>
          <p:cNvSpPr>
            <a:spLocks noGrp="1"/>
          </p:cNvSpPr>
          <p:nvPr>
            <p:ph type="body" sz="half" idx="2"/>
          </p:nvPr>
        </p:nvSpPr>
        <p:spPr>
          <a:xfrm>
            <a:off x="1117600" y="4800600"/>
            <a:ext cx="58928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extLst>
      <p:ext uri="{BB962C8B-B14F-4D97-AF65-F5344CB8AC3E}">
        <p14:creationId xmlns:p14="http://schemas.microsoft.com/office/powerpoint/2010/main" val="38516787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BB99427-FE65-4AF4-89FF-1D5F52C271EF}" type="datetimeFigureOut">
              <a:rPr lang="en-US" smtClean="0"/>
              <a:t>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1484744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000" y="274640"/>
            <a:ext cx="2438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524000" y="274641"/>
            <a:ext cx="7416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2BB99427-FE65-4AF4-89FF-1D5F52C271EF}" type="datetimeFigureOut">
              <a:rPr lang="en-US" smtClean="0"/>
              <a:t>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EFB8CD9-79B4-4606-A8C9-F5DA12573CFC}" type="slidenum">
              <a:rPr lang="en-US" smtClean="0"/>
              <a:t>‹#›</a:t>
            </a:fld>
            <a:endParaRPr lang="en-US"/>
          </a:p>
        </p:txBody>
      </p:sp>
    </p:spTree>
    <p:extLst>
      <p:ext uri="{BB962C8B-B14F-4D97-AF65-F5344CB8AC3E}">
        <p14:creationId xmlns:p14="http://schemas.microsoft.com/office/powerpoint/2010/main" val="532072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68F7470-57BA-4335-88E9-1F1271C7ED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E2978171-3902-4B36-85C8-038FE0054A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A76F8304-D3C4-4003-9502-9DAD6A8A78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7D7F08-0B90-4E79-80AF-F2A9F5C7BEAB}" type="datetimeFigureOut">
              <a:rPr lang="en-US" smtClean="0"/>
              <a:t>2/2/2025</a:t>
            </a:fld>
            <a:endParaRPr lang="en-US"/>
          </a:p>
        </p:txBody>
      </p:sp>
      <p:sp>
        <p:nvSpPr>
          <p:cNvPr id="5" name="Footer Placeholder 4">
            <a:extLst>
              <a:ext uri="{FF2B5EF4-FFF2-40B4-BE49-F238E27FC236}">
                <a16:creationId xmlns="" xmlns:a16="http://schemas.microsoft.com/office/drawing/2014/main" id="{4698A008-D51D-4184-BB11-ABA02B96BC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5F295008-8337-4A09-80CE-137D073C4A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71C24C-8AAC-407D-AFF1-CB0DAF0D97AC}" type="slidenum">
              <a:rPr lang="en-US" smtClean="0"/>
              <a:t>‹#›</a:t>
            </a:fld>
            <a:endParaRPr lang="en-US"/>
          </a:p>
        </p:txBody>
      </p:sp>
    </p:spTree>
    <p:extLst>
      <p:ext uri="{BB962C8B-B14F-4D97-AF65-F5344CB8AC3E}">
        <p14:creationId xmlns:p14="http://schemas.microsoft.com/office/powerpoint/2010/main" val="2050495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7" name="Pie 6"/>
          <p:cNvSpPr/>
          <p:nvPr/>
        </p:nvSpPr>
        <p:spPr>
          <a:xfrm>
            <a:off x="-1087902" y="-815922"/>
            <a:ext cx="2185183"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Oval 7"/>
          <p:cNvSpPr/>
          <p:nvPr/>
        </p:nvSpPr>
        <p:spPr>
          <a:xfrm>
            <a:off x="225089" y="21103"/>
            <a:ext cx="2269588"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Donut 10"/>
          <p:cNvSpPr/>
          <p:nvPr/>
        </p:nvSpPr>
        <p:spPr>
          <a:xfrm rot="2315675">
            <a:off x="243842" y="1055077"/>
            <a:ext cx="1500956"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Rectangle 11"/>
          <p:cNvSpPr/>
          <p:nvPr/>
        </p:nvSpPr>
        <p:spPr>
          <a:xfrm>
            <a:off x="1350498" y="-54"/>
            <a:ext cx="10841503"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5" name="Title Placeholder 4"/>
          <p:cNvSpPr>
            <a:spLocks noGrp="1"/>
          </p:cNvSpPr>
          <p:nvPr>
            <p:ph type="title"/>
          </p:nvPr>
        </p:nvSpPr>
        <p:spPr>
          <a:xfrm>
            <a:off x="1914144" y="274638"/>
            <a:ext cx="999744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914144" y="1447800"/>
            <a:ext cx="999744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4775200" y="6305550"/>
            <a:ext cx="28448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2BB99427-FE65-4AF4-89FF-1D5F52C271EF}" type="datetimeFigureOut">
              <a:rPr lang="en-US" smtClean="0"/>
              <a:t>2/2/2025</a:t>
            </a:fld>
            <a:endParaRPr lang="en-US"/>
          </a:p>
        </p:txBody>
      </p:sp>
      <p:sp>
        <p:nvSpPr>
          <p:cNvPr id="10" name="Footer Placeholder 9"/>
          <p:cNvSpPr>
            <a:spLocks noGrp="1"/>
          </p:cNvSpPr>
          <p:nvPr>
            <p:ph type="ftr" sz="quarter" idx="3"/>
          </p:nvPr>
        </p:nvSpPr>
        <p:spPr>
          <a:xfrm>
            <a:off x="7620000" y="6305550"/>
            <a:ext cx="38608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11484864" y="6305550"/>
            <a:ext cx="6096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9EFB8CD9-79B4-4606-A8C9-F5DA12573CFC}" type="slidenum">
              <a:rPr lang="en-US" smtClean="0"/>
              <a:t>‹#›</a:t>
            </a:fld>
            <a:endParaRPr lang="en-US"/>
          </a:p>
        </p:txBody>
      </p:sp>
      <p:sp>
        <p:nvSpPr>
          <p:cNvPr id="15" name="Rectangle 14"/>
          <p:cNvSpPr/>
          <p:nvPr/>
        </p:nvSpPr>
        <p:spPr bwMode="invGray">
          <a:xfrm>
            <a:off x="1353312" y="-54"/>
            <a:ext cx="97536"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Tree>
    <p:extLst>
      <p:ext uri="{BB962C8B-B14F-4D97-AF65-F5344CB8AC3E}">
        <p14:creationId xmlns:p14="http://schemas.microsoft.com/office/powerpoint/2010/main" val="1850744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3.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51573" y="161175"/>
            <a:ext cx="8149701" cy="1219200"/>
          </a:xfrm>
        </p:spPr>
        <p:txBody>
          <a:bodyPr>
            <a:normAutofit/>
          </a:bodyPr>
          <a:lstStyle/>
          <a:p>
            <a:pPr algn="ctr"/>
            <a:r>
              <a:rPr lang="en-US" sz="3600" dirty="0"/>
              <a:t>Practical Aspect of Registration of Title Act</a:t>
            </a:r>
            <a:endParaRPr lang="en-US" sz="3200" dirty="0"/>
          </a:p>
        </p:txBody>
      </p:sp>
      <p:pic>
        <p:nvPicPr>
          <p:cNvPr id="1027" name="Picture 3" descr="G:\AD ACADEMY OF NOTARIES\Seminar-03 20-01-2021 Registration of Title-T9\Scan Documents\unnam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0647" y="1485499"/>
            <a:ext cx="3490895" cy="2286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Sanjiva Weerawarana on Twitter: &amp;quot;Does anyone know what the Bim Saviya  program is? They&amp;#39;re walking around my neighborhood demanding copies of the  title and survey plan to issue a new digitalized titl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1893" y="3886200"/>
            <a:ext cx="3728402" cy="2327910"/>
          </a:xfrm>
          <a:prstGeom prst="rect">
            <a:avLst/>
          </a:prstGeom>
          <a:noFill/>
          <a:ln>
            <a:noFill/>
          </a:ln>
        </p:spPr>
      </p:pic>
      <p:pic>
        <p:nvPicPr>
          <p:cNvPr id="7" name="Picture 2" descr="G:\AD ACADEMY OF NOTARIES\Seminar-03 20-01-2021 Registration of Title-T9\Scan Documents\35af26d813de679bf068bd67f0e66f0b.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00" y="1524001"/>
            <a:ext cx="4419600" cy="483373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7382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cstate="print">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2286001" y="1189475"/>
            <a:ext cx="3983256" cy="5300101"/>
          </a:xfrm>
          <a:prstGeom prst="rect">
            <a:avLst/>
          </a:prstGeom>
          <a:ln w="12700">
            <a:solidFill>
              <a:srgbClr val="00B0F0"/>
            </a:solidFill>
          </a:ln>
          <a:effectLst>
            <a:outerShdw blurRad="292100" dist="139700" dir="2700000" algn="tl" rotWithShape="0">
              <a:srgbClr val="333333">
                <a:alpha val="65000"/>
              </a:srgbClr>
            </a:outerShdw>
          </a:effectLst>
        </p:spPr>
      </p:pic>
      <p:pic>
        <p:nvPicPr>
          <p:cNvPr id="2049" name="Picture 1" descr="Description: Land extension to facilitate Pariyatthi Project in Katana – Path Nirvana  Found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0891" y="1131528"/>
            <a:ext cx="4262022" cy="535804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807780" y="368424"/>
            <a:ext cx="6090821" cy="461665"/>
          </a:xfrm>
          <a:prstGeom prst="rect">
            <a:avLst/>
          </a:prstGeom>
          <a:noFill/>
        </p:spPr>
        <p:txBody>
          <a:bodyPr wrap="square" rtlCol="0">
            <a:spAutoFit/>
          </a:bodyPr>
          <a:lstStyle/>
          <a:p>
            <a:pPr algn="ctr"/>
            <a:r>
              <a:rPr lang="en-US" sz="2400" dirty="0">
                <a:solidFill>
                  <a:srgbClr val="000000"/>
                </a:solidFill>
                <a:latin typeface="+mj-lt"/>
              </a:rPr>
              <a:t>Registered Deed and Title Certificate </a:t>
            </a:r>
          </a:p>
        </p:txBody>
      </p:sp>
    </p:spTree>
    <p:extLst>
      <p:ext uri="{BB962C8B-B14F-4D97-AF65-F5344CB8AC3E}">
        <p14:creationId xmlns:p14="http://schemas.microsoft.com/office/powerpoint/2010/main" val="35428796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0103F0D-B5C1-444A-A17B-D9D37700D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8585" y="234148"/>
            <a:ext cx="9277165" cy="6389703"/>
          </a:xfrm>
          <a:prstGeom prst="rect">
            <a:avLst/>
          </a:prstGeom>
        </p:spPr>
      </p:pic>
      <p:cxnSp>
        <p:nvCxnSpPr>
          <p:cNvPr id="7" name="Straight Arrow Connector 6">
            <a:extLst>
              <a:ext uri="{FF2B5EF4-FFF2-40B4-BE49-F238E27FC236}">
                <a16:creationId xmlns="" xmlns:a16="http://schemas.microsoft.com/office/drawing/2014/main" id="{24D37A0B-D34F-4506-B15B-9CB79FA87F6A}"/>
              </a:ext>
            </a:extLst>
          </p:cNvPr>
          <p:cNvCxnSpPr/>
          <p:nvPr/>
        </p:nvCxnSpPr>
        <p:spPr>
          <a:xfrm flipH="1">
            <a:off x="8584707" y="3906175"/>
            <a:ext cx="221941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2123366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00137" y="272534"/>
            <a:ext cx="4800600" cy="369332"/>
          </a:xfrm>
          <a:prstGeom prst="rect">
            <a:avLst/>
          </a:prstGeom>
          <a:noFill/>
        </p:spPr>
        <p:txBody>
          <a:bodyPr wrap="square" rtlCol="0">
            <a:spAutoFit/>
          </a:bodyPr>
          <a:lstStyle/>
          <a:p>
            <a:pPr algn="ctr"/>
            <a:r>
              <a:rPr lang="en-US" dirty="0">
                <a:solidFill>
                  <a:srgbClr val="000000"/>
                </a:solidFill>
                <a:latin typeface="Gill Sans MT"/>
              </a:rPr>
              <a:t>Title Registry</a:t>
            </a:r>
          </a:p>
        </p:txBody>
      </p:sp>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802166" y="834501"/>
            <a:ext cx="9490229" cy="5948039"/>
          </a:xfrm>
          <a:prstGeom prst="rect">
            <a:avLst/>
          </a:prstGeom>
          <a:ln>
            <a:solidFill>
              <a:srgbClr val="00B0F0"/>
            </a:solidFill>
          </a:ln>
        </p:spPr>
      </p:pic>
    </p:spTree>
    <p:extLst>
      <p:ext uri="{BB962C8B-B14F-4D97-AF65-F5344CB8AC3E}">
        <p14:creationId xmlns:p14="http://schemas.microsoft.com/office/powerpoint/2010/main" val="1830323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3830" y="76201"/>
            <a:ext cx="2179892" cy="307777"/>
          </a:xfrm>
          <a:prstGeom prst="rect">
            <a:avLst/>
          </a:prstGeom>
        </p:spPr>
        <p:txBody>
          <a:bodyPr wrap="none">
            <a:spAutoFit/>
          </a:bodyPr>
          <a:lstStyle/>
          <a:p>
            <a:r>
              <a:rPr lang="en-US" sz="1400" u="sng" dirty="0">
                <a:solidFill>
                  <a:srgbClr val="000000"/>
                </a:solidFill>
                <a:latin typeface="Palatino Linotype"/>
                <a:ea typeface="Calibri"/>
                <a:cs typeface="Latha"/>
              </a:rPr>
              <a:t>INITIALCOMPILATION</a:t>
            </a:r>
            <a:endParaRPr lang="en-US" sz="1400" dirty="0">
              <a:solidFill>
                <a:srgbClr val="000000"/>
              </a:solidFill>
              <a:latin typeface="Gill Sans MT"/>
            </a:endParaRPr>
          </a:p>
        </p:txBody>
      </p:sp>
      <p:sp>
        <p:nvSpPr>
          <p:cNvPr id="3" name="Text Box 1"/>
          <p:cNvSpPr txBox="1">
            <a:spLocks/>
          </p:cNvSpPr>
          <p:nvPr/>
        </p:nvSpPr>
        <p:spPr>
          <a:xfrm>
            <a:off x="4921886" y="76200"/>
            <a:ext cx="2974340" cy="3238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Specify the area (by the Minister) (S.1)</a:t>
            </a:r>
            <a:endParaRPr lang="en-US" sz="1050">
              <a:solidFill>
                <a:srgbClr val="000000"/>
              </a:solidFill>
              <a:latin typeface="Gill Sans MT"/>
              <a:ea typeface="Calibri"/>
              <a:cs typeface="Latha"/>
            </a:endParaRPr>
          </a:p>
        </p:txBody>
      </p:sp>
      <p:cxnSp>
        <p:nvCxnSpPr>
          <p:cNvPr id="4" name="Straight Arrow Connector 3"/>
          <p:cNvCxnSpPr>
            <a:cxnSpLocks/>
          </p:cNvCxnSpPr>
          <p:nvPr/>
        </p:nvCxnSpPr>
        <p:spPr>
          <a:xfrm>
            <a:off x="6485890" y="427990"/>
            <a:ext cx="0" cy="2857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5" name="Text Box 3"/>
          <p:cNvSpPr txBox="1">
            <a:spLocks/>
          </p:cNvSpPr>
          <p:nvPr/>
        </p:nvSpPr>
        <p:spPr>
          <a:xfrm>
            <a:off x="4981576" y="742315"/>
            <a:ext cx="2905125" cy="3048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Prepare cadastral map by SG (s.11)</a:t>
            </a:r>
            <a:endParaRPr lang="en-US" sz="1050">
              <a:solidFill>
                <a:srgbClr val="000000"/>
              </a:solidFill>
              <a:latin typeface="Gill Sans MT"/>
              <a:ea typeface="Calibri"/>
              <a:cs typeface="Latha"/>
            </a:endParaRPr>
          </a:p>
        </p:txBody>
      </p:sp>
      <p:cxnSp>
        <p:nvCxnSpPr>
          <p:cNvPr id="6" name="Straight Arrow Connector 5"/>
          <p:cNvCxnSpPr>
            <a:cxnSpLocks/>
          </p:cNvCxnSpPr>
          <p:nvPr/>
        </p:nvCxnSpPr>
        <p:spPr>
          <a:xfrm>
            <a:off x="6485890" y="1066801"/>
            <a:ext cx="0" cy="257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7" name="Text Box 5"/>
          <p:cNvSpPr txBox="1">
            <a:spLocks/>
          </p:cNvSpPr>
          <p:nvPr/>
        </p:nvSpPr>
        <p:spPr>
          <a:xfrm>
            <a:off x="4981576" y="1304290"/>
            <a:ext cx="2905125" cy="3238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CTS (</a:t>
            </a:r>
            <a:r>
              <a:rPr lang="en-US" sz="900">
                <a:solidFill>
                  <a:srgbClr val="000000"/>
                </a:solidFill>
                <a:latin typeface="Palatino Linotype"/>
                <a:ea typeface="Calibri"/>
                <a:cs typeface="Latha"/>
              </a:rPr>
              <a:t>s.11)</a:t>
            </a:r>
            <a:endParaRPr lang="en-US" sz="1050">
              <a:solidFill>
                <a:srgbClr val="000000"/>
              </a:solidFill>
              <a:latin typeface="Gill Sans MT"/>
              <a:ea typeface="Calibri"/>
              <a:cs typeface="Latha"/>
            </a:endParaRPr>
          </a:p>
        </p:txBody>
      </p:sp>
      <p:cxnSp>
        <p:nvCxnSpPr>
          <p:cNvPr id="8" name="Straight Arrow Connector 7"/>
          <p:cNvCxnSpPr>
            <a:cxnSpLocks/>
          </p:cNvCxnSpPr>
          <p:nvPr/>
        </p:nvCxnSpPr>
        <p:spPr>
          <a:xfrm>
            <a:off x="6485890" y="1618615"/>
            <a:ext cx="0" cy="247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9" name="Text Box 7"/>
          <p:cNvSpPr txBox="1">
            <a:spLocks/>
          </p:cNvSpPr>
          <p:nvPr/>
        </p:nvSpPr>
        <p:spPr>
          <a:xfrm>
            <a:off x="4991101" y="1885316"/>
            <a:ext cx="2905125" cy="2952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Publication of Notice in the Gazette (</a:t>
            </a:r>
            <a:r>
              <a:rPr lang="en-US" sz="900">
                <a:solidFill>
                  <a:srgbClr val="000000"/>
                </a:solidFill>
                <a:latin typeface="Palatino Linotype"/>
                <a:ea typeface="Calibri"/>
                <a:cs typeface="Latha"/>
              </a:rPr>
              <a:t>s.12)</a:t>
            </a:r>
            <a:endParaRPr lang="en-US" sz="1050">
              <a:solidFill>
                <a:srgbClr val="000000"/>
              </a:solidFill>
              <a:latin typeface="Gill Sans MT"/>
              <a:ea typeface="Calibri"/>
              <a:cs typeface="Latha"/>
            </a:endParaRPr>
          </a:p>
        </p:txBody>
      </p:sp>
      <p:cxnSp>
        <p:nvCxnSpPr>
          <p:cNvPr id="10" name="Straight Arrow Connector 9"/>
          <p:cNvCxnSpPr>
            <a:cxnSpLocks/>
          </p:cNvCxnSpPr>
          <p:nvPr/>
        </p:nvCxnSpPr>
        <p:spPr>
          <a:xfrm>
            <a:off x="6485890" y="2181226"/>
            <a:ext cx="0" cy="25717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 Box 9"/>
          <p:cNvSpPr txBox="1">
            <a:spLocks/>
          </p:cNvSpPr>
          <p:nvPr/>
        </p:nvSpPr>
        <p:spPr>
          <a:xfrm>
            <a:off x="4991101" y="2437765"/>
            <a:ext cx="2905125" cy="3048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Calling for claimants   (</a:t>
            </a:r>
            <a:r>
              <a:rPr lang="en-US" sz="900">
                <a:solidFill>
                  <a:srgbClr val="000000"/>
                </a:solidFill>
                <a:latin typeface="Palatino Linotype"/>
                <a:ea typeface="Calibri"/>
                <a:cs typeface="Latha"/>
              </a:rPr>
              <a:t>s.12)</a:t>
            </a:r>
            <a:endParaRPr lang="en-US" sz="1050">
              <a:solidFill>
                <a:srgbClr val="000000"/>
              </a:solidFill>
              <a:latin typeface="Gill Sans MT"/>
              <a:ea typeface="Calibri"/>
              <a:cs typeface="Latha"/>
            </a:endParaRPr>
          </a:p>
        </p:txBody>
      </p:sp>
      <p:cxnSp>
        <p:nvCxnSpPr>
          <p:cNvPr id="12" name="Straight Arrow Connector 11"/>
          <p:cNvCxnSpPr>
            <a:cxnSpLocks/>
          </p:cNvCxnSpPr>
          <p:nvPr/>
        </p:nvCxnSpPr>
        <p:spPr>
          <a:xfrm>
            <a:off x="6485890" y="2743200"/>
            <a:ext cx="0" cy="2667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3" name="Text Box 11"/>
          <p:cNvSpPr txBox="1">
            <a:spLocks/>
          </p:cNvSpPr>
          <p:nvPr/>
        </p:nvSpPr>
        <p:spPr>
          <a:xfrm>
            <a:off x="6543676" y="437516"/>
            <a:ext cx="1343025" cy="276225"/>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800">
                <a:solidFill>
                  <a:srgbClr val="000000"/>
                </a:solidFill>
                <a:latin typeface="Palatino Linotype"/>
                <a:ea typeface="Calibri"/>
                <a:cs typeface="Latha"/>
              </a:rPr>
              <a:t>On the request by CTS</a:t>
            </a:r>
            <a:endParaRPr lang="en-US" sz="1050">
              <a:solidFill>
                <a:srgbClr val="000000"/>
              </a:solidFill>
              <a:latin typeface="Gill Sans MT"/>
              <a:ea typeface="Calibri"/>
              <a:cs typeface="Latha"/>
            </a:endParaRPr>
          </a:p>
        </p:txBody>
      </p:sp>
      <p:sp>
        <p:nvSpPr>
          <p:cNvPr id="14" name="Text Box 12"/>
          <p:cNvSpPr txBox="1">
            <a:spLocks/>
          </p:cNvSpPr>
          <p:nvPr/>
        </p:nvSpPr>
        <p:spPr>
          <a:xfrm>
            <a:off x="4991101" y="3009266"/>
            <a:ext cx="2905125" cy="3143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Investigation of Title (s.13) </a:t>
            </a:r>
            <a:endParaRPr lang="en-US" sz="1050">
              <a:solidFill>
                <a:srgbClr val="000000"/>
              </a:solidFill>
              <a:latin typeface="Gill Sans MT"/>
              <a:ea typeface="Calibri"/>
              <a:cs typeface="Latha"/>
            </a:endParaRPr>
          </a:p>
        </p:txBody>
      </p:sp>
      <p:sp>
        <p:nvSpPr>
          <p:cNvPr id="15" name="Text Box 13"/>
          <p:cNvSpPr txBox="1">
            <a:spLocks/>
          </p:cNvSpPr>
          <p:nvPr/>
        </p:nvSpPr>
        <p:spPr>
          <a:xfrm>
            <a:off x="5715000" y="3609975"/>
            <a:ext cx="1466850" cy="3238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050">
                <a:solidFill>
                  <a:srgbClr val="000000"/>
                </a:solidFill>
                <a:latin typeface="Palatino Linotype"/>
                <a:ea typeface="Calibri"/>
                <a:cs typeface="Latha"/>
              </a:rPr>
              <a:t>Determination (s.14)</a:t>
            </a:r>
            <a:endParaRPr lang="en-US" sz="1050">
              <a:solidFill>
                <a:srgbClr val="000000"/>
              </a:solidFill>
              <a:latin typeface="Gill Sans MT"/>
              <a:ea typeface="Calibri"/>
              <a:cs typeface="Latha"/>
            </a:endParaRPr>
          </a:p>
        </p:txBody>
      </p:sp>
      <p:cxnSp>
        <p:nvCxnSpPr>
          <p:cNvPr id="16" name="Straight Arrow Connector 15"/>
          <p:cNvCxnSpPr>
            <a:cxnSpLocks/>
          </p:cNvCxnSpPr>
          <p:nvPr/>
        </p:nvCxnSpPr>
        <p:spPr>
          <a:xfrm>
            <a:off x="6485890" y="3323591"/>
            <a:ext cx="10160" cy="24701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7" name="Straight Connector 16"/>
          <p:cNvCxnSpPr>
            <a:cxnSpLocks/>
          </p:cNvCxnSpPr>
          <p:nvPr/>
        </p:nvCxnSpPr>
        <p:spPr>
          <a:xfrm>
            <a:off x="7181850" y="3770630"/>
            <a:ext cx="838200"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cxnSpLocks/>
          </p:cNvCxnSpPr>
          <p:nvPr/>
        </p:nvCxnSpPr>
        <p:spPr>
          <a:xfrm>
            <a:off x="8019415" y="3123566"/>
            <a:ext cx="0" cy="1552575"/>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Arrow Connector 18"/>
          <p:cNvCxnSpPr>
            <a:cxnSpLocks/>
          </p:cNvCxnSpPr>
          <p:nvPr/>
        </p:nvCxnSpPr>
        <p:spPr>
          <a:xfrm>
            <a:off x="6485890" y="3886200"/>
            <a:ext cx="0" cy="1666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0" name="Text Box 18"/>
          <p:cNvSpPr txBox="1">
            <a:spLocks/>
          </p:cNvSpPr>
          <p:nvPr/>
        </p:nvSpPr>
        <p:spPr>
          <a:xfrm>
            <a:off x="4991100" y="4038600"/>
            <a:ext cx="2895600" cy="2667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Publish in Gazette (s.14)</a:t>
            </a:r>
            <a:endParaRPr lang="en-US" sz="1050">
              <a:solidFill>
                <a:srgbClr val="000000"/>
              </a:solidFill>
              <a:latin typeface="Gill Sans MT"/>
              <a:ea typeface="Calibri"/>
              <a:cs typeface="Latha"/>
            </a:endParaRPr>
          </a:p>
        </p:txBody>
      </p:sp>
      <p:cxnSp>
        <p:nvCxnSpPr>
          <p:cNvPr id="21" name="Straight Arrow Connector 20"/>
          <p:cNvCxnSpPr>
            <a:cxnSpLocks/>
          </p:cNvCxnSpPr>
          <p:nvPr/>
        </p:nvCxnSpPr>
        <p:spPr>
          <a:xfrm>
            <a:off x="6485890" y="4267200"/>
            <a:ext cx="0" cy="2286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2" name="Text Box 20"/>
          <p:cNvSpPr txBox="1">
            <a:spLocks/>
          </p:cNvSpPr>
          <p:nvPr/>
        </p:nvSpPr>
        <p:spPr>
          <a:xfrm>
            <a:off x="4991100" y="4495801"/>
            <a:ext cx="2895600" cy="2952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Preparation of Schedule of Title (s.26)</a:t>
            </a:r>
            <a:endParaRPr lang="en-US" sz="1050">
              <a:solidFill>
                <a:srgbClr val="000000"/>
              </a:solidFill>
              <a:latin typeface="Gill Sans MT"/>
              <a:ea typeface="Calibri"/>
              <a:cs typeface="Latha"/>
            </a:endParaRPr>
          </a:p>
        </p:txBody>
      </p:sp>
      <p:cxnSp>
        <p:nvCxnSpPr>
          <p:cNvPr id="23" name="Straight Arrow Connector 22"/>
          <p:cNvCxnSpPr>
            <a:cxnSpLocks/>
          </p:cNvCxnSpPr>
          <p:nvPr/>
        </p:nvCxnSpPr>
        <p:spPr>
          <a:xfrm flipH="1">
            <a:off x="6486526" y="4800601"/>
            <a:ext cx="9525" cy="23812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4" name="Text Box 22"/>
          <p:cNvSpPr txBox="1">
            <a:spLocks/>
          </p:cNvSpPr>
          <p:nvPr/>
        </p:nvSpPr>
        <p:spPr>
          <a:xfrm>
            <a:off x="5381625" y="5029200"/>
            <a:ext cx="1905000" cy="3238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Register of Title (S.26)</a:t>
            </a:r>
            <a:endParaRPr lang="en-US" sz="1050">
              <a:solidFill>
                <a:srgbClr val="000000"/>
              </a:solidFill>
              <a:latin typeface="Gill Sans MT"/>
              <a:ea typeface="Calibri"/>
              <a:cs typeface="Latha"/>
            </a:endParaRPr>
          </a:p>
        </p:txBody>
      </p:sp>
      <p:cxnSp>
        <p:nvCxnSpPr>
          <p:cNvPr id="25" name="Straight Arrow Connector 24"/>
          <p:cNvCxnSpPr>
            <a:cxnSpLocks/>
          </p:cNvCxnSpPr>
          <p:nvPr/>
        </p:nvCxnSpPr>
        <p:spPr>
          <a:xfrm>
            <a:off x="6490971" y="5334000"/>
            <a:ext cx="4445" cy="1333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6" name="Text Box 24"/>
          <p:cNvSpPr txBox="1">
            <a:spLocks/>
          </p:cNvSpPr>
          <p:nvPr/>
        </p:nvSpPr>
        <p:spPr>
          <a:xfrm>
            <a:off x="5031757" y="5486400"/>
            <a:ext cx="2562225" cy="3048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dirty="0">
                <a:solidFill>
                  <a:srgbClr val="000000"/>
                </a:solidFill>
                <a:latin typeface="Palatino Linotype"/>
                <a:ea typeface="Calibri"/>
                <a:cs typeface="Latha"/>
              </a:rPr>
              <a:t>Title (initials entries) [S.27(2)]</a:t>
            </a:r>
            <a:endParaRPr lang="en-US" sz="1050" dirty="0">
              <a:solidFill>
                <a:srgbClr val="000000"/>
              </a:solidFill>
              <a:latin typeface="Gill Sans MT"/>
              <a:ea typeface="Calibri"/>
              <a:cs typeface="Latha"/>
            </a:endParaRPr>
          </a:p>
        </p:txBody>
      </p:sp>
      <p:cxnSp>
        <p:nvCxnSpPr>
          <p:cNvPr id="27" name="Straight Arrow Connector 26"/>
          <p:cNvCxnSpPr>
            <a:cxnSpLocks/>
          </p:cNvCxnSpPr>
          <p:nvPr/>
        </p:nvCxnSpPr>
        <p:spPr>
          <a:xfrm>
            <a:off x="6495415" y="5715000"/>
            <a:ext cx="0" cy="24765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8" name="Text Box 27"/>
          <p:cNvSpPr txBox="1">
            <a:spLocks/>
          </p:cNvSpPr>
          <p:nvPr/>
        </p:nvSpPr>
        <p:spPr>
          <a:xfrm>
            <a:off x="5059780" y="5943601"/>
            <a:ext cx="2914650" cy="2571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Issuance of Certificate of Title (S.37)</a:t>
            </a:r>
            <a:endParaRPr lang="en-US" sz="1050">
              <a:solidFill>
                <a:srgbClr val="000000"/>
              </a:solidFill>
              <a:latin typeface="Gill Sans MT"/>
              <a:ea typeface="Calibri"/>
              <a:cs typeface="Latha"/>
            </a:endParaRPr>
          </a:p>
        </p:txBody>
      </p:sp>
      <p:cxnSp>
        <p:nvCxnSpPr>
          <p:cNvPr id="29" name="Straight Arrow Connector 28"/>
          <p:cNvCxnSpPr>
            <a:cxnSpLocks/>
          </p:cNvCxnSpPr>
          <p:nvPr/>
        </p:nvCxnSpPr>
        <p:spPr>
          <a:xfrm>
            <a:off x="7286625" y="5181600"/>
            <a:ext cx="83820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0" name="Text Box 31"/>
          <p:cNvSpPr txBox="1">
            <a:spLocks/>
          </p:cNvSpPr>
          <p:nvPr/>
        </p:nvSpPr>
        <p:spPr>
          <a:xfrm>
            <a:off x="8153400" y="4953000"/>
            <a:ext cx="685800" cy="3048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050">
                <a:solidFill>
                  <a:srgbClr val="000000"/>
                </a:solidFill>
                <a:latin typeface="Palatino Linotype"/>
                <a:ea typeface="Calibri"/>
                <a:cs typeface="Latha"/>
              </a:rPr>
              <a:t>SG</a:t>
            </a:r>
            <a:endParaRPr lang="en-US" sz="1050">
              <a:solidFill>
                <a:srgbClr val="000000"/>
              </a:solidFill>
              <a:latin typeface="Gill Sans MT"/>
              <a:ea typeface="Calibri"/>
              <a:cs typeface="Latha"/>
            </a:endParaRPr>
          </a:p>
        </p:txBody>
      </p:sp>
      <p:sp>
        <p:nvSpPr>
          <p:cNvPr id="31" name="Text Box 32"/>
          <p:cNvSpPr txBox="1">
            <a:spLocks/>
          </p:cNvSpPr>
          <p:nvPr/>
        </p:nvSpPr>
        <p:spPr>
          <a:xfrm>
            <a:off x="7410451" y="5257801"/>
            <a:ext cx="600075" cy="314325"/>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900" dirty="0">
                <a:solidFill>
                  <a:srgbClr val="000000"/>
                </a:solidFill>
                <a:latin typeface="Palatino Linotype"/>
                <a:ea typeface="Calibri"/>
                <a:cs typeface="Latha"/>
              </a:rPr>
              <a:t>copy</a:t>
            </a:r>
            <a:endParaRPr lang="en-US" sz="1050" dirty="0">
              <a:solidFill>
                <a:srgbClr val="000000"/>
              </a:solidFill>
              <a:latin typeface="Gill Sans MT"/>
              <a:ea typeface="Calibri"/>
              <a:cs typeface="Latha"/>
            </a:endParaRPr>
          </a:p>
        </p:txBody>
      </p:sp>
      <p:sp>
        <p:nvSpPr>
          <p:cNvPr id="32" name="Text Box 33"/>
          <p:cNvSpPr txBox="1">
            <a:spLocks/>
          </p:cNvSpPr>
          <p:nvPr/>
        </p:nvSpPr>
        <p:spPr>
          <a:xfrm>
            <a:off x="7343775" y="4800601"/>
            <a:ext cx="723900" cy="295275"/>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900" dirty="0">
                <a:solidFill>
                  <a:srgbClr val="000000"/>
                </a:solidFill>
                <a:latin typeface="Palatino Linotype"/>
                <a:ea typeface="Calibri"/>
                <a:cs typeface="Latha"/>
              </a:rPr>
              <a:t>dispatch</a:t>
            </a:r>
            <a:endParaRPr lang="en-US" sz="1050" dirty="0">
              <a:solidFill>
                <a:srgbClr val="000000"/>
              </a:solidFill>
              <a:latin typeface="Gill Sans MT"/>
              <a:ea typeface="Calibri"/>
              <a:cs typeface="Latha"/>
            </a:endParaRPr>
          </a:p>
        </p:txBody>
      </p:sp>
      <p:cxnSp>
        <p:nvCxnSpPr>
          <p:cNvPr id="33" name="Straight Arrow Connector 32"/>
          <p:cNvCxnSpPr>
            <a:cxnSpLocks/>
          </p:cNvCxnSpPr>
          <p:nvPr/>
        </p:nvCxnSpPr>
        <p:spPr>
          <a:xfrm>
            <a:off x="8020050" y="3122930"/>
            <a:ext cx="17145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4" name="Text Box 35"/>
          <p:cNvSpPr txBox="1">
            <a:spLocks/>
          </p:cNvSpPr>
          <p:nvPr/>
        </p:nvSpPr>
        <p:spPr>
          <a:xfrm>
            <a:off x="8220075" y="2828290"/>
            <a:ext cx="1504950" cy="4572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900">
                <a:solidFill>
                  <a:srgbClr val="000000"/>
                </a:solidFill>
                <a:latin typeface="Palatino Linotype"/>
                <a:ea typeface="Calibri"/>
                <a:cs typeface="Latha"/>
              </a:rPr>
              <a:t>Absolute Ownership 1</a:t>
            </a:r>
            <a:r>
              <a:rPr lang="en-US" sz="900" baseline="30000">
                <a:solidFill>
                  <a:srgbClr val="000000"/>
                </a:solidFill>
                <a:latin typeface="Palatino Linotype"/>
                <a:ea typeface="Calibri"/>
                <a:cs typeface="Latha"/>
              </a:rPr>
              <a:t>st</a:t>
            </a:r>
            <a:r>
              <a:rPr lang="en-US" sz="900">
                <a:solidFill>
                  <a:srgbClr val="000000"/>
                </a:solidFill>
                <a:latin typeface="Palatino Linotype"/>
                <a:ea typeface="Calibri"/>
                <a:cs typeface="Latha"/>
              </a:rPr>
              <a:t>Class (s.14 (a)</a:t>
            </a:r>
            <a:endParaRPr lang="en-US" sz="1050">
              <a:solidFill>
                <a:srgbClr val="000000"/>
              </a:solidFill>
              <a:latin typeface="Gill Sans MT"/>
              <a:ea typeface="Calibri"/>
              <a:cs typeface="Latha"/>
            </a:endParaRPr>
          </a:p>
        </p:txBody>
      </p:sp>
      <p:cxnSp>
        <p:nvCxnSpPr>
          <p:cNvPr id="35" name="Straight Arrow Connector 34"/>
          <p:cNvCxnSpPr>
            <a:cxnSpLocks/>
          </p:cNvCxnSpPr>
          <p:nvPr/>
        </p:nvCxnSpPr>
        <p:spPr>
          <a:xfrm>
            <a:off x="8020050" y="3570605"/>
            <a:ext cx="17145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6" name="Text Box 37"/>
          <p:cNvSpPr txBox="1">
            <a:spLocks/>
          </p:cNvSpPr>
          <p:nvPr/>
        </p:nvSpPr>
        <p:spPr>
          <a:xfrm>
            <a:off x="8229600" y="3361691"/>
            <a:ext cx="1524000" cy="4857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900">
                <a:solidFill>
                  <a:srgbClr val="000000"/>
                </a:solidFill>
                <a:latin typeface="Palatino Linotype"/>
                <a:ea typeface="Calibri"/>
                <a:cs typeface="Latha"/>
              </a:rPr>
              <a:t>Absolute Ownership 2</a:t>
            </a:r>
            <a:r>
              <a:rPr lang="en-US" sz="900" baseline="30000">
                <a:solidFill>
                  <a:srgbClr val="000000"/>
                </a:solidFill>
                <a:latin typeface="Palatino Linotype"/>
                <a:ea typeface="Calibri"/>
                <a:cs typeface="Latha"/>
              </a:rPr>
              <a:t>nd</a:t>
            </a:r>
            <a:r>
              <a:rPr lang="en-US" sz="900">
                <a:solidFill>
                  <a:srgbClr val="000000"/>
                </a:solidFill>
                <a:latin typeface="Palatino Linotype"/>
                <a:ea typeface="Calibri"/>
                <a:cs typeface="Latha"/>
              </a:rPr>
              <a:t> Class (s.14 (b)</a:t>
            </a:r>
            <a:endParaRPr lang="en-US" sz="1050">
              <a:solidFill>
                <a:srgbClr val="000000"/>
              </a:solidFill>
              <a:latin typeface="Gill Sans MT"/>
              <a:ea typeface="Calibri"/>
              <a:cs typeface="Latha"/>
            </a:endParaRPr>
          </a:p>
        </p:txBody>
      </p:sp>
      <p:cxnSp>
        <p:nvCxnSpPr>
          <p:cNvPr id="37" name="Straight Arrow Connector 36"/>
          <p:cNvCxnSpPr>
            <a:cxnSpLocks/>
          </p:cNvCxnSpPr>
          <p:nvPr/>
        </p:nvCxnSpPr>
        <p:spPr>
          <a:xfrm>
            <a:off x="8010526" y="4151630"/>
            <a:ext cx="18097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38" name="Text Box 39"/>
          <p:cNvSpPr txBox="1">
            <a:spLocks/>
          </p:cNvSpPr>
          <p:nvPr/>
        </p:nvSpPr>
        <p:spPr>
          <a:xfrm>
            <a:off x="8220076" y="3933190"/>
            <a:ext cx="1533525" cy="4953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900">
                <a:solidFill>
                  <a:srgbClr val="000000"/>
                </a:solidFill>
                <a:latin typeface="Palatino Linotype"/>
                <a:ea typeface="Calibri"/>
                <a:cs typeface="Latha"/>
              </a:rPr>
              <a:t>Portion (a part of the land parcel) (s.14 (c)</a:t>
            </a:r>
            <a:endParaRPr lang="en-US" sz="1050">
              <a:solidFill>
                <a:srgbClr val="000000"/>
              </a:solidFill>
              <a:latin typeface="Gill Sans MT"/>
              <a:ea typeface="Calibri"/>
              <a:cs typeface="Latha"/>
            </a:endParaRPr>
          </a:p>
        </p:txBody>
      </p:sp>
      <p:cxnSp>
        <p:nvCxnSpPr>
          <p:cNvPr id="39" name="Straight Arrow Connector 38"/>
          <p:cNvCxnSpPr>
            <a:cxnSpLocks/>
          </p:cNvCxnSpPr>
          <p:nvPr/>
        </p:nvCxnSpPr>
        <p:spPr>
          <a:xfrm>
            <a:off x="8020050" y="4675505"/>
            <a:ext cx="171450"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0" name="Text Box 41"/>
          <p:cNvSpPr txBox="1">
            <a:spLocks/>
          </p:cNvSpPr>
          <p:nvPr/>
        </p:nvSpPr>
        <p:spPr>
          <a:xfrm>
            <a:off x="8229600" y="4485640"/>
            <a:ext cx="1524000" cy="3048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900">
                <a:solidFill>
                  <a:srgbClr val="000000"/>
                </a:solidFill>
                <a:latin typeface="Palatino Linotype"/>
                <a:ea typeface="Calibri"/>
                <a:cs typeface="Latha"/>
              </a:rPr>
              <a:t>Co-owners (s.14 (d)</a:t>
            </a:r>
            <a:endParaRPr lang="en-US" sz="1050">
              <a:solidFill>
                <a:srgbClr val="000000"/>
              </a:solidFill>
              <a:latin typeface="Gill Sans MT"/>
              <a:ea typeface="Calibri"/>
              <a:cs typeface="Latha"/>
            </a:endParaRPr>
          </a:p>
        </p:txBody>
      </p:sp>
      <p:cxnSp>
        <p:nvCxnSpPr>
          <p:cNvPr id="41" name="Straight Connector 40"/>
          <p:cNvCxnSpPr/>
          <p:nvPr/>
        </p:nvCxnSpPr>
        <p:spPr>
          <a:xfrm flipH="1">
            <a:off x="4819016" y="3428365"/>
            <a:ext cx="1666875"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p:nvPr/>
        </p:nvCxnSpPr>
        <p:spPr>
          <a:xfrm>
            <a:off x="4819650" y="3094990"/>
            <a:ext cx="0" cy="59055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Arrow Connector 42"/>
          <p:cNvCxnSpPr/>
          <p:nvPr/>
        </p:nvCxnSpPr>
        <p:spPr>
          <a:xfrm flipH="1">
            <a:off x="4619626" y="3094990"/>
            <a:ext cx="2000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p:nvPr/>
        </p:nvCxnSpPr>
        <p:spPr>
          <a:xfrm flipH="1">
            <a:off x="4619626" y="3685540"/>
            <a:ext cx="2000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5" name="Text Box 46"/>
          <p:cNvSpPr txBox="1">
            <a:spLocks/>
          </p:cNvSpPr>
          <p:nvPr/>
        </p:nvSpPr>
        <p:spPr>
          <a:xfrm>
            <a:off x="3038475" y="2409191"/>
            <a:ext cx="1581150" cy="1019175"/>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050" u="sng">
                <a:solidFill>
                  <a:srgbClr val="000000"/>
                </a:solidFill>
                <a:latin typeface="Palatino Linotype"/>
                <a:ea typeface="Times New Roman"/>
                <a:cs typeface="Times New Roman"/>
              </a:rPr>
              <a:t>Reference of claims to DC</a:t>
            </a:r>
            <a:r>
              <a:rPr lang="en-US" sz="1050">
                <a:solidFill>
                  <a:srgbClr val="000000"/>
                </a:solidFill>
                <a:latin typeface="Palatino Linotype"/>
                <a:ea typeface="Calibri"/>
                <a:cs typeface="Latha"/>
              </a:rPr>
              <a:t> by</a:t>
            </a:r>
            <a:r>
              <a:rPr lang="en-US" sz="900">
                <a:solidFill>
                  <a:srgbClr val="000000"/>
                </a:solidFill>
                <a:latin typeface="Palatino Linotype"/>
                <a:ea typeface="Calibri"/>
                <a:cs typeface="Latha"/>
              </a:rPr>
              <a:t> the </a:t>
            </a:r>
            <a:r>
              <a:rPr lang="en-US" sz="1100">
                <a:solidFill>
                  <a:srgbClr val="000000"/>
                </a:solidFill>
                <a:latin typeface="Palatino Linotype"/>
                <a:ea typeface="Calibri"/>
                <a:cs typeface="Latha"/>
              </a:rPr>
              <a:t>CT</a:t>
            </a:r>
            <a:r>
              <a:rPr lang="en-US" sz="1050">
                <a:solidFill>
                  <a:srgbClr val="000000"/>
                </a:solidFill>
                <a:latin typeface="Palatino Linotype"/>
                <a:ea typeface="Calibri"/>
                <a:cs typeface="Latha"/>
              </a:rPr>
              <a:t>S </a:t>
            </a:r>
            <a:endParaRPr lang="en-US" sz="1050">
              <a:solidFill>
                <a:srgbClr val="000000"/>
              </a:solidFill>
              <a:latin typeface="Calibri"/>
              <a:ea typeface="Calibri"/>
              <a:cs typeface="Latha"/>
            </a:endParaRPr>
          </a:p>
          <a:p>
            <a:pPr algn="ctr">
              <a:lnSpc>
                <a:spcPct val="115000"/>
              </a:lnSpc>
            </a:pPr>
            <a:r>
              <a:rPr lang="en-US" sz="900">
                <a:solidFill>
                  <a:srgbClr val="000000"/>
                </a:solidFill>
                <a:latin typeface="Palatino Linotype"/>
                <a:ea typeface="Calibri"/>
                <a:cs typeface="Latha"/>
              </a:rPr>
              <a:t>(if he forms an opinion –due to the nature of the claim/s) (S.21)</a:t>
            </a:r>
            <a:endParaRPr lang="en-US" sz="1050">
              <a:solidFill>
                <a:srgbClr val="000000"/>
              </a:solidFill>
              <a:latin typeface="Calibri"/>
              <a:ea typeface="Calibri"/>
              <a:cs typeface="Latha"/>
            </a:endParaRPr>
          </a:p>
        </p:txBody>
      </p:sp>
      <p:sp>
        <p:nvSpPr>
          <p:cNvPr id="46" name="Text Box 47"/>
          <p:cNvSpPr txBox="1">
            <a:spLocks/>
          </p:cNvSpPr>
          <p:nvPr/>
        </p:nvSpPr>
        <p:spPr>
          <a:xfrm>
            <a:off x="3152775" y="3590291"/>
            <a:ext cx="1466850" cy="829945"/>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just">
              <a:lnSpc>
                <a:spcPct val="115000"/>
              </a:lnSpc>
            </a:pPr>
            <a:r>
              <a:rPr lang="en-US" sz="900">
                <a:solidFill>
                  <a:srgbClr val="000000"/>
                </a:solidFill>
                <a:latin typeface="Palatino Linotype"/>
                <a:ea typeface="Calibri"/>
                <a:cs typeface="Latha"/>
              </a:rPr>
              <a:t>Claimants aggrieved by any declaration made by CST under S.14 (S.22)</a:t>
            </a:r>
            <a:endParaRPr lang="en-US" sz="1050">
              <a:solidFill>
                <a:srgbClr val="000000"/>
              </a:solidFill>
              <a:latin typeface="Calibri"/>
              <a:ea typeface="Calibri"/>
              <a:cs typeface="Latha"/>
            </a:endParaRPr>
          </a:p>
        </p:txBody>
      </p:sp>
      <p:sp>
        <p:nvSpPr>
          <p:cNvPr id="47" name="Text Box 48"/>
          <p:cNvSpPr txBox="1">
            <a:spLocks/>
          </p:cNvSpPr>
          <p:nvPr/>
        </p:nvSpPr>
        <p:spPr>
          <a:xfrm>
            <a:off x="4921886" y="6400800"/>
            <a:ext cx="3307715" cy="304800"/>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100">
                <a:solidFill>
                  <a:srgbClr val="000000"/>
                </a:solidFill>
                <a:latin typeface="Palatino Linotype"/>
                <a:ea typeface="Calibri"/>
                <a:cs typeface="Latha"/>
              </a:rPr>
              <a:t>Owner / Interest holder of the land parcel [S.37]</a:t>
            </a:r>
            <a:endParaRPr lang="en-US" sz="1100">
              <a:solidFill>
                <a:srgbClr val="000000"/>
              </a:solidFill>
              <a:latin typeface="Calibri"/>
              <a:ea typeface="Calibri"/>
              <a:cs typeface="Latha"/>
            </a:endParaRPr>
          </a:p>
        </p:txBody>
      </p:sp>
      <p:cxnSp>
        <p:nvCxnSpPr>
          <p:cNvPr id="48" name="Straight Arrow Connector 47"/>
          <p:cNvCxnSpPr/>
          <p:nvPr/>
        </p:nvCxnSpPr>
        <p:spPr>
          <a:xfrm>
            <a:off x="6495415" y="6172201"/>
            <a:ext cx="0" cy="2000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Rectangle 47"/>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solidFill>
                <a:srgbClr val="000000"/>
              </a:solidFill>
              <a:latin typeface="Arial" pitchFamily="34" charset="0"/>
              <a:cs typeface="Arial" pitchFamily="34" charset="0"/>
            </a:endParaRPr>
          </a:p>
        </p:txBody>
      </p:sp>
      <p:sp>
        <p:nvSpPr>
          <p:cNvPr id="50" name="Rectangle 71"/>
          <p:cNvSpPr>
            <a:spLocks noChangeArrowheads="1"/>
          </p:cNvSpPr>
          <p:nvPr/>
        </p:nvSpPr>
        <p:spPr bwMode="auto">
          <a:xfrm>
            <a:off x="1524001" y="50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solidFill>
                <a:srgbClr val="000000"/>
              </a:solidFill>
              <a:latin typeface="Arial" pitchFamily="34" charset="0"/>
              <a:cs typeface="Arial" pitchFamily="34" charset="0"/>
            </a:endParaRPr>
          </a:p>
        </p:txBody>
      </p:sp>
      <p:sp>
        <p:nvSpPr>
          <p:cNvPr id="54" name="Text Box 42"/>
          <p:cNvSpPr txBox="1">
            <a:spLocks/>
          </p:cNvSpPr>
          <p:nvPr/>
        </p:nvSpPr>
        <p:spPr>
          <a:xfrm>
            <a:off x="8382001" y="141605"/>
            <a:ext cx="1495425" cy="2325370"/>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defRPr/>
            </a:pPr>
            <a:r>
              <a:rPr lang="en-US" sz="1200" kern="0">
                <a:solidFill>
                  <a:sysClr val="windowText" lastClr="000000"/>
                </a:solidFill>
                <a:latin typeface="Palatino Linotype"/>
                <a:ea typeface="Calibri"/>
                <a:cs typeface="Latha"/>
              </a:rPr>
              <a:t>RGT –</a:t>
            </a:r>
            <a:r>
              <a:rPr lang="en-US" sz="1100" kern="0">
                <a:solidFill>
                  <a:sysClr val="windowText" lastClr="000000"/>
                </a:solidFill>
                <a:latin typeface="Palatino Linotype"/>
                <a:ea typeface="Calibri"/>
                <a:cs typeface="Latha"/>
              </a:rPr>
              <a:t>Register General of Title</a:t>
            </a:r>
            <a:endParaRPr lang="en-US" sz="1100" kern="0">
              <a:solidFill>
                <a:sysClr val="windowText" lastClr="000000"/>
              </a:solidFill>
              <a:latin typeface="Calibri"/>
              <a:ea typeface="Calibri"/>
              <a:cs typeface="Latha"/>
            </a:endParaRPr>
          </a:p>
          <a:p>
            <a:pPr>
              <a:lnSpc>
                <a:spcPct val="115000"/>
              </a:lnSpc>
              <a:defRPr/>
            </a:pPr>
            <a:r>
              <a:rPr lang="en-US" sz="1100" kern="0">
                <a:solidFill>
                  <a:sysClr val="windowText" lastClr="000000"/>
                </a:solidFill>
                <a:latin typeface="Palatino Linotype"/>
                <a:ea typeface="Calibri"/>
                <a:cs typeface="Latha"/>
              </a:rPr>
              <a:t>SG- Surveyor General </a:t>
            </a:r>
            <a:endParaRPr lang="en-US" sz="1100" kern="0">
              <a:solidFill>
                <a:sysClr val="windowText" lastClr="000000"/>
              </a:solidFill>
              <a:latin typeface="Calibri"/>
              <a:ea typeface="Calibri"/>
              <a:cs typeface="Latha"/>
            </a:endParaRPr>
          </a:p>
          <a:p>
            <a:pPr>
              <a:lnSpc>
                <a:spcPct val="115000"/>
              </a:lnSpc>
              <a:defRPr/>
            </a:pPr>
            <a:r>
              <a:rPr lang="en-US" sz="1100" kern="0">
                <a:solidFill>
                  <a:sysClr val="windowText" lastClr="000000"/>
                </a:solidFill>
                <a:latin typeface="Palatino Linotype"/>
                <a:ea typeface="Calibri"/>
                <a:cs typeface="Latha"/>
              </a:rPr>
              <a:t>CTS- Commissioner of Title Settlement</a:t>
            </a:r>
            <a:endParaRPr lang="en-US" sz="1100" kern="0">
              <a:solidFill>
                <a:sysClr val="windowText" lastClr="000000"/>
              </a:solidFill>
              <a:latin typeface="Calibri"/>
              <a:ea typeface="Calibri"/>
              <a:cs typeface="Latha"/>
            </a:endParaRPr>
          </a:p>
          <a:p>
            <a:pPr>
              <a:lnSpc>
                <a:spcPct val="115000"/>
              </a:lnSpc>
              <a:defRPr/>
            </a:pPr>
            <a:r>
              <a:rPr lang="en-US" sz="1100" kern="0">
                <a:solidFill>
                  <a:sysClr val="windowText" lastClr="000000"/>
                </a:solidFill>
                <a:latin typeface="Palatino Linotype"/>
                <a:ea typeface="Calibri"/>
                <a:cs typeface="Latha"/>
              </a:rPr>
              <a:t>RT- Registrar of Title</a:t>
            </a:r>
            <a:endParaRPr lang="en-US" sz="1100" kern="0">
              <a:solidFill>
                <a:sysClr val="windowText" lastClr="000000"/>
              </a:solidFill>
              <a:latin typeface="Calibri"/>
              <a:ea typeface="Calibri"/>
              <a:cs typeface="Latha"/>
            </a:endParaRPr>
          </a:p>
          <a:p>
            <a:pPr>
              <a:lnSpc>
                <a:spcPct val="115000"/>
              </a:lnSpc>
              <a:defRPr/>
            </a:pPr>
            <a:r>
              <a:rPr lang="en-US" sz="1100" kern="0">
                <a:solidFill>
                  <a:sysClr val="windowText" lastClr="000000"/>
                </a:solidFill>
                <a:latin typeface="Palatino Linotype"/>
                <a:ea typeface="Calibri"/>
                <a:cs typeface="Latha"/>
              </a:rPr>
              <a:t>TR- Title Registration</a:t>
            </a:r>
            <a:endParaRPr lang="en-US" sz="1100" kern="0">
              <a:solidFill>
                <a:sysClr val="windowText" lastClr="000000"/>
              </a:solidFill>
              <a:latin typeface="Calibri"/>
              <a:ea typeface="Calibri"/>
              <a:cs typeface="Latha"/>
            </a:endParaRPr>
          </a:p>
          <a:p>
            <a:pPr>
              <a:lnSpc>
                <a:spcPct val="115000"/>
              </a:lnSpc>
              <a:defRPr/>
            </a:pPr>
            <a:r>
              <a:rPr lang="en-US" sz="1100" kern="0">
                <a:solidFill>
                  <a:sysClr val="windowText" lastClr="000000"/>
                </a:solidFill>
                <a:latin typeface="Palatino Linotype"/>
                <a:ea typeface="Calibri"/>
                <a:cs typeface="Latha"/>
              </a:rPr>
              <a:t>DC- District Court</a:t>
            </a:r>
            <a:endParaRPr lang="en-US" sz="1100" kern="0">
              <a:solidFill>
                <a:sysClr val="windowText" lastClr="000000"/>
              </a:solidFill>
              <a:latin typeface="Calibri"/>
              <a:ea typeface="Calibri"/>
              <a:cs typeface="Latha"/>
            </a:endParaRPr>
          </a:p>
        </p:txBody>
      </p:sp>
    </p:spTree>
    <p:extLst>
      <p:ext uri="{BB962C8B-B14F-4D97-AF65-F5344CB8AC3E}">
        <p14:creationId xmlns:p14="http://schemas.microsoft.com/office/powerpoint/2010/main" val="8675672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0A55BC66-A35F-4A6F-A79D-FF8BB6AAF317}"/>
              </a:ext>
            </a:extLst>
          </p:cNvPr>
          <p:cNvSpPr txBox="1"/>
          <p:nvPr/>
        </p:nvSpPr>
        <p:spPr>
          <a:xfrm>
            <a:off x="2015231" y="213064"/>
            <a:ext cx="9647380" cy="1200329"/>
          </a:xfrm>
          <a:prstGeom prst="rect">
            <a:avLst/>
          </a:prstGeom>
          <a:noFill/>
        </p:spPr>
        <p:txBody>
          <a:bodyPr wrap="square" rtlCol="0">
            <a:spAutoFit/>
          </a:bodyPr>
          <a:lstStyle/>
          <a:p>
            <a:r>
              <a:rPr lang="en-US" dirty="0"/>
              <a:t>Section 10 – Registration of title to every land parcel under this Act shall be accordance with the cadastral map prepared.</a:t>
            </a:r>
          </a:p>
          <a:p>
            <a:r>
              <a:rPr lang="en-US" dirty="0"/>
              <a:t>Section 11 – The Commissioner of Title Settlement shall request the Surveyor General to prepare cadastral maps for the areas specified in the Order.</a:t>
            </a:r>
          </a:p>
        </p:txBody>
      </p:sp>
      <p:pic>
        <p:nvPicPr>
          <p:cNvPr id="4" name="Picture 3">
            <a:extLst>
              <a:ext uri="{FF2B5EF4-FFF2-40B4-BE49-F238E27FC236}">
                <a16:creationId xmlns="" xmlns:a16="http://schemas.microsoft.com/office/drawing/2014/main" id="{DB725805-E233-4C68-923B-2E8905C403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2179" y="1422271"/>
            <a:ext cx="8490789" cy="4978918"/>
          </a:xfrm>
          <a:prstGeom prst="rect">
            <a:avLst/>
          </a:prstGeom>
        </p:spPr>
      </p:pic>
    </p:spTree>
    <p:extLst>
      <p:ext uri="{BB962C8B-B14F-4D97-AF65-F5344CB8AC3E}">
        <p14:creationId xmlns:p14="http://schemas.microsoft.com/office/powerpoint/2010/main" val="23598777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 xmlns:a16="http://schemas.microsoft.com/office/drawing/2014/main" id="{3994413A-E738-498B-BAD9-9514106B7CAA}"/>
              </a:ext>
            </a:extLst>
          </p:cNvPr>
          <p:cNvSpPr txBox="1"/>
          <p:nvPr/>
        </p:nvSpPr>
        <p:spPr>
          <a:xfrm>
            <a:off x="1898880" y="2044824"/>
            <a:ext cx="3179147" cy="2308324"/>
          </a:xfrm>
          <a:prstGeom prst="rect">
            <a:avLst/>
          </a:prstGeom>
          <a:noFill/>
        </p:spPr>
        <p:txBody>
          <a:bodyPr wrap="square" rtlCol="0">
            <a:spAutoFit/>
          </a:bodyPr>
          <a:lstStyle/>
          <a:p>
            <a:r>
              <a:rPr lang="en-US" dirty="0"/>
              <a:t>Section 12 – </a:t>
            </a:r>
          </a:p>
          <a:p>
            <a:pPr algn="just"/>
            <a:r>
              <a:rPr lang="en-US" dirty="0"/>
              <a:t>The Commissioner of Title Settlement on receipt of certified copies of cadastral maps by the Surveyor General shall publish a Notice in the Gazette calling for any claimants to land parcel</a:t>
            </a:r>
          </a:p>
        </p:txBody>
      </p:sp>
      <p:pic>
        <p:nvPicPr>
          <p:cNvPr id="6" name="Picture 5">
            <a:extLst>
              <a:ext uri="{FF2B5EF4-FFF2-40B4-BE49-F238E27FC236}">
                <a16:creationId xmlns="" xmlns:a16="http://schemas.microsoft.com/office/drawing/2014/main" id="{1130B851-F695-45FA-9E46-2CA9D3FA89D6}"/>
              </a:ext>
            </a:extLst>
          </p:cNvPr>
          <p:cNvPicPr>
            <a:picLocks noChangeAspect="1"/>
          </p:cNvPicPr>
          <p:nvPr/>
        </p:nvPicPr>
        <p:blipFill>
          <a:blip r:embed="rId2"/>
          <a:stretch>
            <a:fillRect/>
          </a:stretch>
        </p:blipFill>
        <p:spPr>
          <a:xfrm>
            <a:off x="5875614" y="139009"/>
            <a:ext cx="5052798" cy="6358576"/>
          </a:xfrm>
          <a:prstGeom prst="rect">
            <a:avLst/>
          </a:prstGeom>
        </p:spPr>
      </p:pic>
    </p:spTree>
    <p:extLst>
      <p:ext uri="{BB962C8B-B14F-4D97-AF65-F5344CB8AC3E}">
        <p14:creationId xmlns:p14="http://schemas.microsoft.com/office/powerpoint/2010/main" val="12604207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43200" y="152401"/>
            <a:ext cx="2201244" cy="276999"/>
          </a:xfrm>
          <a:prstGeom prst="rect">
            <a:avLst/>
          </a:prstGeom>
        </p:spPr>
        <p:txBody>
          <a:bodyPr wrap="none">
            <a:spAutoFit/>
          </a:bodyPr>
          <a:lstStyle/>
          <a:p>
            <a:r>
              <a:rPr lang="en-US" sz="1200" b="1" u="sng" dirty="0">
                <a:uFill>
                  <a:solidFill>
                    <a:srgbClr val="000000"/>
                  </a:solidFill>
                </a:uFill>
                <a:latin typeface="Palatino Linotype"/>
                <a:ea typeface="Times New Roman"/>
                <a:cs typeface="Times New Roman"/>
              </a:rPr>
              <a:t>TRANSMISSION OF TITLE</a:t>
            </a:r>
            <a:endParaRPr lang="en-US" sz="1200" dirty="0"/>
          </a:p>
        </p:txBody>
      </p:sp>
      <p:sp>
        <p:nvSpPr>
          <p:cNvPr id="3" name="Rectangle 2"/>
          <p:cNvSpPr/>
          <p:nvPr/>
        </p:nvSpPr>
        <p:spPr>
          <a:xfrm>
            <a:off x="2743200" y="533400"/>
            <a:ext cx="4572000" cy="292516"/>
          </a:xfrm>
          <a:prstGeom prst="rect">
            <a:avLst/>
          </a:prstGeom>
        </p:spPr>
        <p:txBody>
          <a:bodyPr>
            <a:spAutoFit/>
          </a:bodyPr>
          <a:lstStyle/>
          <a:p>
            <a:pPr marL="63500">
              <a:lnSpc>
                <a:spcPct val="115000"/>
              </a:lnSpc>
              <a:spcBef>
                <a:spcPts val="480"/>
              </a:spcBef>
            </a:pPr>
            <a:r>
              <a:rPr lang="en-US" sz="1200" dirty="0">
                <a:latin typeface="Palatino Linotype"/>
                <a:ea typeface="Palladio Uralic"/>
                <a:cs typeface="Palladio Uralic"/>
              </a:rPr>
              <a:t>(Sections 54 &amp; 55 of Registration of Title Act No.21 of 1998)</a:t>
            </a:r>
            <a:endParaRPr lang="en-US" sz="1200" dirty="0">
              <a:latin typeface="Calibri"/>
              <a:ea typeface="Calibri"/>
              <a:cs typeface="Latha"/>
            </a:endParaRPr>
          </a:p>
        </p:txBody>
      </p:sp>
      <p:sp>
        <p:nvSpPr>
          <p:cNvPr id="4" name="Text Box 1"/>
          <p:cNvSpPr txBox="1"/>
          <p:nvPr/>
        </p:nvSpPr>
        <p:spPr>
          <a:xfrm>
            <a:off x="5021347" y="890219"/>
            <a:ext cx="1988185" cy="57404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1000"/>
              </a:lnSpc>
              <a:spcBef>
                <a:spcPts val="330"/>
              </a:spcBef>
            </a:pPr>
            <a:r>
              <a:rPr lang="en-US" sz="1200" dirty="0">
                <a:latin typeface="Palatino Linotype"/>
                <a:ea typeface="Palladio Uralic"/>
                <a:cs typeface="Palladio Uralic"/>
              </a:rPr>
              <a:t>Registered Owner (dies)</a:t>
            </a:r>
            <a:endParaRPr lang="en-US" sz="1100" dirty="0">
              <a:ea typeface="Calibri"/>
              <a:cs typeface="Latha"/>
            </a:endParaRPr>
          </a:p>
          <a:p>
            <a:pPr>
              <a:lnSpc>
                <a:spcPct val="115000"/>
              </a:lnSpc>
              <a:spcAft>
                <a:spcPts val="1000"/>
              </a:spcAft>
            </a:pPr>
            <a:r>
              <a:rPr lang="en-US" sz="1100" dirty="0">
                <a:ea typeface="Calibri"/>
                <a:cs typeface="Latha"/>
              </a:rPr>
              <a:t> </a:t>
            </a:r>
          </a:p>
        </p:txBody>
      </p:sp>
      <p:cxnSp>
        <p:nvCxnSpPr>
          <p:cNvPr id="5" name="Straight Connector 4"/>
          <p:cNvCxnSpPr/>
          <p:nvPr/>
        </p:nvCxnSpPr>
        <p:spPr>
          <a:xfrm>
            <a:off x="5911850" y="1481138"/>
            <a:ext cx="0" cy="281623"/>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3660776" y="1759585"/>
            <a:ext cx="5305425"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3688715" y="1762760"/>
            <a:ext cx="0" cy="3505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8" name="Text Box 5"/>
          <p:cNvSpPr txBox="1"/>
          <p:nvPr/>
        </p:nvSpPr>
        <p:spPr>
          <a:xfrm>
            <a:off x="3176906" y="2124075"/>
            <a:ext cx="1666875" cy="4762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R="295910" algn="ctr">
              <a:lnSpc>
                <a:spcPct val="115000"/>
              </a:lnSpc>
            </a:pPr>
            <a:r>
              <a:rPr lang="en-US" sz="1100">
                <a:latin typeface="Palatino Linotype"/>
                <a:ea typeface="Palladio Uralic"/>
                <a:cs typeface="Palladio Uralic"/>
              </a:rPr>
              <a:t>TESTATE ESTATE (s.54(1))</a:t>
            </a:r>
            <a:endParaRPr lang="en-US" sz="1100">
              <a:ea typeface="Calibri"/>
              <a:cs typeface="Latha"/>
            </a:endParaRPr>
          </a:p>
          <a:p>
            <a:pPr>
              <a:lnSpc>
                <a:spcPct val="115000"/>
              </a:lnSpc>
              <a:spcAft>
                <a:spcPts val="1000"/>
              </a:spcAft>
            </a:pPr>
            <a:r>
              <a:rPr lang="en-US" sz="1100">
                <a:ea typeface="Calibri"/>
                <a:cs typeface="Latha"/>
              </a:rPr>
              <a:t> </a:t>
            </a:r>
          </a:p>
        </p:txBody>
      </p:sp>
      <p:cxnSp>
        <p:nvCxnSpPr>
          <p:cNvPr id="9" name="Straight Arrow Connector 8"/>
          <p:cNvCxnSpPr/>
          <p:nvPr/>
        </p:nvCxnSpPr>
        <p:spPr>
          <a:xfrm>
            <a:off x="3858260" y="2698115"/>
            <a:ext cx="0" cy="5207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0" name="Text Box 7"/>
          <p:cNvSpPr txBox="1"/>
          <p:nvPr/>
        </p:nvSpPr>
        <p:spPr>
          <a:xfrm>
            <a:off x="2957831" y="3247391"/>
            <a:ext cx="2214245" cy="11334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Bef>
                <a:spcPts val="325"/>
              </a:spcBef>
            </a:pPr>
            <a:r>
              <a:rPr lang="en-US" sz="1100">
                <a:latin typeface="Palatino Linotype"/>
                <a:ea typeface="Palladio Uralic"/>
                <a:cs typeface="Palladio Uralic"/>
              </a:rPr>
              <a:t>1.Probate of the Will</a:t>
            </a:r>
            <a:endParaRPr lang="en-US" sz="1100">
              <a:ea typeface="Calibri"/>
              <a:cs typeface="Latha"/>
            </a:endParaRPr>
          </a:p>
          <a:p>
            <a:pPr>
              <a:lnSpc>
                <a:spcPct val="115000"/>
              </a:lnSpc>
              <a:spcBef>
                <a:spcPts val="325"/>
              </a:spcBef>
            </a:pPr>
            <a:r>
              <a:rPr lang="en-US" sz="1100">
                <a:latin typeface="Palatino Linotype"/>
                <a:ea typeface="Palladio Uralic"/>
                <a:cs typeface="Palladio Uralic"/>
              </a:rPr>
              <a:t>2. Instrument (Executor’s Conveyance) [S. 54(1)]</a:t>
            </a:r>
            <a:endParaRPr lang="en-US" sz="1100">
              <a:ea typeface="Calibri"/>
              <a:cs typeface="Latha"/>
            </a:endParaRPr>
          </a:p>
          <a:p>
            <a:pPr>
              <a:lnSpc>
                <a:spcPct val="115000"/>
              </a:lnSpc>
              <a:spcBef>
                <a:spcPts val="325"/>
              </a:spcBef>
            </a:pPr>
            <a:r>
              <a:rPr lang="en-US" sz="1100">
                <a:latin typeface="Palatino Linotype"/>
                <a:ea typeface="Palladio Uralic"/>
                <a:cs typeface="Palladio Uralic"/>
              </a:rPr>
              <a:t>to be forwarded subject to Ss. 54(2) &amp; (3).</a:t>
            </a:r>
            <a:endParaRPr lang="en-US" sz="1100">
              <a:ea typeface="Calibri"/>
              <a:cs typeface="Latha"/>
            </a:endParaRPr>
          </a:p>
          <a:p>
            <a:pPr>
              <a:lnSpc>
                <a:spcPct val="115000"/>
              </a:lnSpc>
              <a:spcAft>
                <a:spcPts val="1000"/>
              </a:spcAft>
            </a:pPr>
            <a:r>
              <a:rPr lang="en-US" sz="1100">
                <a:ea typeface="Calibri"/>
                <a:cs typeface="Latha"/>
              </a:rPr>
              <a:t> </a:t>
            </a:r>
          </a:p>
        </p:txBody>
      </p:sp>
      <p:cxnSp>
        <p:nvCxnSpPr>
          <p:cNvPr id="11" name="Straight Arrow Connector 10"/>
          <p:cNvCxnSpPr/>
          <p:nvPr/>
        </p:nvCxnSpPr>
        <p:spPr>
          <a:xfrm>
            <a:off x="3804920" y="5139056"/>
            <a:ext cx="0" cy="58483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2" name="Text Box 12"/>
          <p:cNvSpPr txBox="1"/>
          <p:nvPr/>
        </p:nvSpPr>
        <p:spPr>
          <a:xfrm>
            <a:off x="3005456" y="4638676"/>
            <a:ext cx="1670685" cy="5048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R="360045">
              <a:lnSpc>
                <a:spcPct val="112000"/>
              </a:lnSpc>
            </a:pPr>
            <a:r>
              <a:rPr lang="en-US" sz="900">
                <a:latin typeface="Palatino Linotype"/>
                <a:ea typeface="Palladio Uralic"/>
                <a:cs typeface="Palladio Uralic"/>
              </a:rPr>
              <a:t>REGISTER OF TITLE    </a:t>
            </a:r>
            <a:endParaRPr lang="en-US" sz="1100">
              <a:ea typeface="Calibri"/>
              <a:cs typeface="Latha"/>
            </a:endParaRPr>
          </a:p>
          <a:p>
            <a:pPr marR="360045">
              <a:lnSpc>
                <a:spcPct val="112000"/>
              </a:lnSpc>
            </a:pPr>
            <a:r>
              <a:rPr lang="en-US" sz="900">
                <a:latin typeface="Palatino Linotype"/>
                <a:ea typeface="Palladio Uralic"/>
                <a:cs typeface="Palladio Uralic"/>
              </a:rPr>
              <a:t>                    </a:t>
            </a:r>
            <a:r>
              <a:rPr lang="en-US" sz="1100">
                <a:latin typeface="Palatino Linotype"/>
                <a:ea typeface="Palladio Uralic"/>
                <a:cs typeface="Palladio Uralic"/>
              </a:rPr>
              <a:t>(RT)</a:t>
            </a:r>
            <a:endParaRPr lang="en-US" sz="1100">
              <a:ea typeface="Calibri"/>
              <a:cs typeface="Latha"/>
            </a:endParaRPr>
          </a:p>
          <a:p>
            <a:pPr marR="360045">
              <a:lnSpc>
                <a:spcPct val="112000"/>
              </a:lnSpc>
              <a:spcBef>
                <a:spcPts val="330"/>
              </a:spcBef>
            </a:pPr>
            <a:r>
              <a:rPr lang="en-US" sz="1100">
                <a:latin typeface="Palatino Linotype"/>
                <a:ea typeface="Palladio Uralic"/>
                <a:cs typeface="Palladio Uralic"/>
              </a:rPr>
              <a:t> </a:t>
            </a:r>
            <a:endParaRPr lang="en-US" sz="1100">
              <a:ea typeface="Calibri"/>
              <a:cs typeface="Latha"/>
            </a:endParaRPr>
          </a:p>
          <a:p>
            <a:pPr>
              <a:lnSpc>
                <a:spcPct val="115000"/>
              </a:lnSpc>
              <a:spcAft>
                <a:spcPts val="1000"/>
              </a:spcAft>
            </a:pPr>
            <a:r>
              <a:rPr lang="en-US" sz="1100">
                <a:ea typeface="Calibri"/>
                <a:cs typeface="Latha"/>
              </a:rPr>
              <a:t> </a:t>
            </a:r>
          </a:p>
        </p:txBody>
      </p:sp>
      <p:cxnSp>
        <p:nvCxnSpPr>
          <p:cNvPr id="13" name="Straight Arrow Connector 12"/>
          <p:cNvCxnSpPr/>
          <p:nvPr/>
        </p:nvCxnSpPr>
        <p:spPr>
          <a:xfrm>
            <a:off x="6591935" y="1763395"/>
            <a:ext cx="0" cy="3505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4" name="Text Box 14"/>
          <p:cNvSpPr txBox="1"/>
          <p:nvPr/>
        </p:nvSpPr>
        <p:spPr>
          <a:xfrm>
            <a:off x="5910581" y="2124075"/>
            <a:ext cx="1838325" cy="5715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R="304165">
              <a:lnSpc>
                <a:spcPct val="112000"/>
              </a:lnSpc>
              <a:spcBef>
                <a:spcPts val="320"/>
              </a:spcBef>
            </a:pPr>
            <a:r>
              <a:rPr lang="en-US" sz="1100">
                <a:latin typeface="Palatino Linotype"/>
                <a:ea typeface="Palladio Uralic"/>
                <a:cs typeface="Palladio Uralic"/>
              </a:rPr>
              <a:t>INTESTATE ESTATE  </a:t>
            </a:r>
            <a:endParaRPr lang="en-US" sz="1100">
              <a:ea typeface="Calibri"/>
              <a:cs typeface="Latha"/>
            </a:endParaRPr>
          </a:p>
          <a:p>
            <a:pPr marR="304165">
              <a:lnSpc>
                <a:spcPct val="112000"/>
              </a:lnSpc>
              <a:spcBef>
                <a:spcPts val="320"/>
              </a:spcBef>
            </a:pPr>
            <a:r>
              <a:rPr lang="en-US" sz="1100">
                <a:latin typeface="Palatino Linotype"/>
                <a:ea typeface="Palladio Uralic"/>
                <a:cs typeface="Palladio Uralic"/>
              </a:rPr>
              <a:t>            </a:t>
            </a:r>
            <a:r>
              <a:rPr lang="en-US" sz="1000">
                <a:latin typeface="Palatino Linotype"/>
                <a:ea typeface="Palladio Uralic"/>
                <a:cs typeface="Palladio Uralic"/>
              </a:rPr>
              <a:t>[S.55(1)]</a:t>
            </a:r>
            <a:endParaRPr lang="en-US" sz="1100">
              <a:ea typeface="Calibri"/>
              <a:cs typeface="Latha"/>
            </a:endParaRPr>
          </a:p>
          <a:p>
            <a:pPr>
              <a:lnSpc>
                <a:spcPct val="115000"/>
              </a:lnSpc>
              <a:spcAft>
                <a:spcPts val="1000"/>
              </a:spcAft>
            </a:pPr>
            <a:r>
              <a:rPr lang="en-US" sz="1100">
                <a:ea typeface="Calibri"/>
                <a:cs typeface="Latha"/>
              </a:rPr>
              <a:t> </a:t>
            </a:r>
          </a:p>
        </p:txBody>
      </p:sp>
      <p:cxnSp>
        <p:nvCxnSpPr>
          <p:cNvPr id="15" name="Straight Arrow Connector 14"/>
          <p:cNvCxnSpPr/>
          <p:nvPr/>
        </p:nvCxnSpPr>
        <p:spPr>
          <a:xfrm>
            <a:off x="6591935" y="2822575"/>
            <a:ext cx="0" cy="8712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6" name="Text Box 17"/>
          <p:cNvSpPr txBox="1"/>
          <p:nvPr/>
        </p:nvSpPr>
        <p:spPr>
          <a:xfrm>
            <a:off x="5748021" y="3733801"/>
            <a:ext cx="2124075" cy="53149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2000"/>
              </a:lnSpc>
              <a:spcBef>
                <a:spcPts val="320"/>
              </a:spcBef>
            </a:pPr>
            <a:r>
              <a:rPr lang="en-US" sz="900">
                <a:latin typeface="Palatino Linotype"/>
                <a:ea typeface="Palladio Uralic"/>
                <a:cs typeface="Palladio Uralic"/>
              </a:rPr>
              <a:t>COMMISSIONER OF TITLE SETTLEMENT </a:t>
            </a:r>
            <a:r>
              <a:rPr lang="en-US" sz="1000">
                <a:latin typeface="Palatino Linotype"/>
                <a:ea typeface="Palladio Uralic"/>
                <a:cs typeface="Palladio Uralic"/>
              </a:rPr>
              <a:t>[S.55(1)]</a:t>
            </a:r>
            <a:endParaRPr lang="en-US" sz="1100">
              <a:ea typeface="Calibri"/>
              <a:cs typeface="Latha"/>
            </a:endParaRPr>
          </a:p>
          <a:p>
            <a:pPr>
              <a:lnSpc>
                <a:spcPct val="115000"/>
              </a:lnSpc>
              <a:spcAft>
                <a:spcPts val="1000"/>
              </a:spcAft>
            </a:pPr>
            <a:r>
              <a:rPr lang="en-US" sz="1100">
                <a:ea typeface="Calibri"/>
                <a:cs typeface="Latha"/>
              </a:rPr>
              <a:t> </a:t>
            </a:r>
          </a:p>
        </p:txBody>
      </p:sp>
      <p:sp>
        <p:nvSpPr>
          <p:cNvPr id="17" name="Text Box 18"/>
          <p:cNvSpPr txBox="1"/>
          <p:nvPr/>
        </p:nvSpPr>
        <p:spPr>
          <a:xfrm>
            <a:off x="5728971" y="4638675"/>
            <a:ext cx="2143125" cy="5207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93980" marR="228600">
              <a:lnSpc>
                <a:spcPct val="128000"/>
              </a:lnSpc>
            </a:pPr>
            <a:r>
              <a:rPr lang="en-US" sz="1000">
                <a:latin typeface="Palatino Linotype"/>
                <a:ea typeface="Palladio Uralic"/>
                <a:cs typeface="Palladio Uralic"/>
              </a:rPr>
              <a:t>Publication of NOTICE  (for claimants)(CTS) [S.55 ](2)]</a:t>
            </a:r>
            <a:endParaRPr lang="en-US" sz="1100">
              <a:ea typeface="Calibri"/>
              <a:cs typeface="Latha"/>
            </a:endParaRPr>
          </a:p>
          <a:p>
            <a:pPr marR="228600">
              <a:lnSpc>
                <a:spcPct val="115000"/>
              </a:lnSpc>
              <a:spcAft>
                <a:spcPts val="1000"/>
              </a:spcAft>
            </a:pPr>
            <a:r>
              <a:rPr lang="en-US" sz="1100">
                <a:ea typeface="Calibri"/>
                <a:cs typeface="Latha"/>
              </a:rPr>
              <a:t> </a:t>
            </a:r>
          </a:p>
        </p:txBody>
      </p:sp>
      <p:sp>
        <p:nvSpPr>
          <p:cNvPr id="18" name="Text Box 20"/>
          <p:cNvSpPr txBox="1"/>
          <p:nvPr/>
        </p:nvSpPr>
        <p:spPr>
          <a:xfrm>
            <a:off x="6720205" y="2876550"/>
            <a:ext cx="1233170" cy="64770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a:latin typeface="Palatino Linotype"/>
                <a:ea typeface="Palladio Uralic"/>
                <a:cs typeface="Palladio Uralic"/>
              </a:rPr>
              <a:t>Inform the death</a:t>
            </a:r>
            <a:r>
              <a:rPr lang="en-US" sz="1000">
                <a:latin typeface="Palatino Linotype"/>
                <a:ea typeface="Palladio Uralic"/>
                <a:cs typeface="Palladio Uralic"/>
              </a:rPr>
              <a:t> (by any Interested person) [Ss.55(1)]</a:t>
            </a:r>
            <a:endParaRPr lang="en-US" sz="1100">
              <a:ea typeface="Calibri"/>
              <a:cs typeface="Latha"/>
            </a:endParaRPr>
          </a:p>
        </p:txBody>
      </p:sp>
      <p:cxnSp>
        <p:nvCxnSpPr>
          <p:cNvPr id="19" name="Straight Arrow Connector 18"/>
          <p:cNvCxnSpPr/>
          <p:nvPr/>
        </p:nvCxnSpPr>
        <p:spPr>
          <a:xfrm>
            <a:off x="6558915" y="4266566"/>
            <a:ext cx="0" cy="36131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a:off x="6559550" y="5159375"/>
            <a:ext cx="0" cy="40386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1" name="Text Box 23"/>
          <p:cNvSpPr txBox="1"/>
          <p:nvPr/>
        </p:nvSpPr>
        <p:spPr>
          <a:xfrm>
            <a:off x="5634356" y="5562600"/>
            <a:ext cx="1945005" cy="8382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154305" marR="102870" indent="-38100">
              <a:lnSpc>
                <a:spcPct val="128000"/>
              </a:lnSpc>
            </a:pPr>
            <a:r>
              <a:rPr lang="en-US" sz="1000">
                <a:latin typeface="Palatino Linotype"/>
                <a:ea typeface="Palladio Uralic"/>
                <a:cs typeface="Palladio Uralic"/>
              </a:rPr>
              <a:t>SECTIONS 13, 14 20, 21, 22, 23, 24, 25, 26 &amp; 27 be applicable [S.55(3)]</a:t>
            </a:r>
            <a:endParaRPr lang="en-US" sz="1100">
              <a:ea typeface="Calibri"/>
              <a:cs typeface="Latha"/>
            </a:endParaRPr>
          </a:p>
          <a:p>
            <a:pPr>
              <a:lnSpc>
                <a:spcPct val="115000"/>
              </a:lnSpc>
              <a:spcAft>
                <a:spcPts val="1000"/>
              </a:spcAft>
            </a:pPr>
            <a:r>
              <a:rPr lang="en-US" sz="1100">
                <a:ea typeface="Calibri"/>
                <a:cs typeface="Latha"/>
              </a:rPr>
              <a:t> </a:t>
            </a:r>
          </a:p>
        </p:txBody>
      </p:sp>
      <p:cxnSp>
        <p:nvCxnSpPr>
          <p:cNvPr id="22" name="Straight Arrow Connector 21"/>
          <p:cNvCxnSpPr/>
          <p:nvPr/>
        </p:nvCxnSpPr>
        <p:spPr>
          <a:xfrm>
            <a:off x="8994775" y="1769745"/>
            <a:ext cx="0" cy="35052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3" name="Text Box 27"/>
          <p:cNvSpPr txBox="1"/>
          <p:nvPr/>
        </p:nvSpPr>
        <p:spPr>
          <a:xfrm>
            <a:off x="8272780" y="2123441"/>
            <a:ext cx="1570990" cy="127063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a:latin typeface="Palatino Linotype"/>
                <a:ea typeface="Calibri"/>
                <a:cs typeface="Latha"/>
              </a:rPr>
              <a:t>Any person who becomes the owner by virtue of </a:t>
            </a:r>
            <a:endParaRPr lang="en-US" sz="1100">
              <a:ea typeface="Calibri"/>
              <a:cs typeface="Latha"/>
            </a:endParaRPr>
          </a:p>
          <a:p>
            <a:pPr>
              <a:lnSpc>
                <a:spcPct val="115000"/>
              </a:lnSpc>
            </a:pPr>
            <a:r>
              <a:rPr lang="en-US" sz="1100">
                <a:latin typeface="Palatino Linotype"/>
                <a:ea typeface="Calibri"/>
                <a:cs typeface="Latha"/>
              </a:rPr>
              <a:t>1)Court Order or</a:t>
            </a:r>
            <a:endParaRPr lang="en-US" sz="1100">
              <a:ea typeface="Calibri"/>
              <a:cs typeface="Latha"/>
            </a:endParaRPr>
          </a:p>
          <a:p>
            <a:pPr>
              <a:lnSpc>
                <a:spcPct val="115000"/>
              </a:lnSpc>
            </a:pPr>
            <a:r>
              <a:rPr lang="en-US" sz="1100">
                <a:latin typeface="Palatino Linotype"/>
                <a:ea typeface="Calibri"/>
                <a:cs typeface="Latha"/>
              </a:rPr>
              <a:t>2. Certificate of Sale</a:t>
            </a:r>
            <a:endParaRPr lang="en-US" sz="1100">
              <a:ea typeface="Calibri"/>
              <a:cs typeface="Latha"/>
            </a:endParaRPr>
          </a:p>
          <a:p>
            <a:pPr>
              <a:lnSpc>
                <a:spcPct val="115000"/>
              </a:lnSpc>
            </a:pPr>
            <a:r>
              <a:rPr lang="en-US" sz="1100">
                <a:latin typeface="Palatino Linotype"/>
                <a:ea typeface="Calibri"/>
                <a:cs typeface="Latha"/>
              </a:rPr>
              <a:t>[Ss.</a:t>
            </a:r>
            <a:r>
              <a:rPr lang="en-US" sz="1100">
                <a:solidFill>
                  <a:srgbClr val="FF0000"/>
                </a:solidFill>
                <a:latin typeface="Palatino Linotype"/>
                <a:ea typeface="Calibri"/>
                <a:cs typeface="Latha"/>
              </a:rPr>
              <a:t>56(1)]</a:t>
            </a:r>
            <a:endParaRPr lang="en-US" sz="1100">
              <a:ea typeface="Calibri"/>
              <a:cs typeface="Latha"/>
            </a:endParaRPr>
          </a:p>
        </p:txBody>
      </p:sp>
      <p:sp>
        <p:nvSpPr>
          <p:cNvPr id="24" name="Text Box 29"/>
          <p:cNvSpPr txBox="1"/>
          <p:nvPr/>
        </p:nvSpPr>
        <p:spPr>
          <a:xfrm>
            <a:off x="8225155" y="3733801"/>
            <a:ext cx="1619250" cy="65722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200">
                <a:ea typeface="Calibri"/>
                <a:cs typeface="Latha"/>
              </a:rPr>
              <a:t>     </a:t>
            </a:r>
            <a:r>
              <a:rPr lang="en-US" sz="1200">
                <a:latin typeface="Palatino Linotype"/>
                <a:ea typeface="Calibri"/>
                <a:cs typeface="Latha"/>
              </a:rPr>
              <a:t>APPLICATION</a:t>
            </a:r>
            <a:r>
              <a:rPr lang="en-US" sz="1100">
                <a:latin typeface="Palatino Linotype"/>
                <a:ea typeface="Calibri"/>
                <a:cs typeface="Latha"/>
              </a:rPr>
              <a:t> </a:t>
            </a:r>
            <a:endParaRPr lang="en-US" sz="1100">
              <a:ea typeface="Calibri"/>
              <a:cs typeface="Latha"/>
            </a:endParaRPr>
          </a:p>
          <a:p>
            <a:pPr>
              <a:lnSpc>
                <a:spcPct val="115000"/>
              </a:lnSpc>
            </a:pPr>
            <a:r>
              <a:rPr lang="en-US" sz="1100">
                <a:ea typeface="Calibri"/>
                <a:cs typeface="Latha"/>
              </a:rPr>
              <a:t>(</a:t>
            </a:r>
            <a:r>
              <a:rPr lang="en-US" sz="1000">
                <a:latin typeface="Palatino Linotype"/>
                <a:ea typeface="Calibri"/>
                <a:cs typeface="Latha"/>
              </a:rPr>
              <a:t>with supporting documents  [</a:t>
            </a:r>
            <a:r>
              <a:rPr lang="en-US" sz="1000">
                <a:solidFill>
                  <a:srgbClr val="FF0000"/>
                </a:solidFill>
                <a:latin typeface="Palatino Linotype"/>
                <a:ea typeface="Calibri"/>
                <a:cs typeface="Latha"/>
              </a:rPr>
              <a:t>Ss.56(2)]</a:t>
            </a:r>
            <a:endParaRPr lang="en-US" sz="1100">
              <a:ea typeface="Calibri"/>
              <a:cs typeface="Latha"/>
            </a:endParaRPr>
          </a:p>
        </p:txBody>
      </p:sp>
      <p:sp>
        <p:nvSpPr>
          <p:cNvPr id="25" name="Text Box 16"/>
          <p:cNvSpPr txBox="1"/>
          <p:nvPr/>
        </p:nvSpPr>
        <p:spPr>
          <a:xfrm>
            <a:off x="8258276" y="4766260"/>
            <a:ext cx="1666875" cy="504825"/>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R="360045" algn="ctr">
              <a:lnSpc>
                <a:spcPct val="112000"/>
              </a:lnSpc>
              <a:spcBef>
                <a:spcPts val="330"/>
              </a:spcBef>
            </a:pPr>
            <a:r>
              <a:rPr lang="en-US" sz="900">
                <a:latin typeface="Palatino Linotype"/>
                <a:ea typeface="Palladio Uralic"/>
                <a:cs typeface="Palladio Uralic"/>
              </a:rPr>
              <a:t>REGISTER OF TITLE </a:t>
            </a:r>
            <a:r>
              <a:rPr lang="en-US" sz="1100">
                <a:latin typeface="Palatino Linotype"/>
                <a:ea typeface="Palladio Uralic"/>
                <a:cs typeface="Palladio Uralic"/>
              </a:rPr>
              <a:t>(RT)</a:t>
            </a:r>
            <a:endParaRPr lang="en-US" sz="1100">
              <a:latin typeface="Calibri"/>
              <a:ea typeface="Calibri"/>
              <a:cs typeface="Latha"/>
            </a:endParaRPr>
          </a:p>
          <a:p>
            <a:pPr marR="360045">
              <a:lnSpc>
                <a:spcPct val="112000"/>
              </a:lnSpc>
              <a:spcBef>
                <a:spcPts val="330"/>
              </a:spcBef>
            </a:pPr>
            <a:r>
              <a:rPr lang="en-US" sz="1100">
                <a:latin typeface="Palatino Linotype"/>
                <a:ea typeface="Palladio Uralic"/>
                <a:cs typeface="Palladio Uralic"/>
              </a:rPr>
              <a:t> </a:t>
            </a:r>
            <a:endParaRPr lang="en-US" sz="1100">
              <a:latin typeface="Calibri"/>
              <a:ea typeface="Calibri"/>
              <a:cs typeface="Latha"/>
            </a:endParaRPr>
          </a:p>
          <a:p>
            <a:pPr>
              <a:lnSpc>
                <a:spcPct val="115000"/>
              </a:lnSpc>
              <a:spcAft>
                <a:spcPts val="1000"/>
              </a:spcAft>
            </a:pPr>
            <a:r>
              <a:rPr lang="en-US" sz="1100">
                <a:latin typeface="Calibri"/>
                <a:ea typeface="Calibri"/>
                <a:cs typeface="Latha"/>
              </a:rPr>
              <a:t> </a:t>
            </a:r>
          </a:p>
        </p:txBody>
      </p:sp>
      <p:sp>
        <p:nvSpPr>
          <p:cNvPr id="26" name="Text Box 45"/>
          <p:cNvSpPr txBox="1">
            <a:spLocks/>
          </p:cNvSpPr>
          <p:nvPr/>
        </p:nvSpPr>
        <p:spPr>
          <a:xfrm>
            <a:off x="8225156" y="5694580"/>
            <a:ext cx="2214245" cy="474980"/>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a:latin typeface="Palatino Linotype"/>
                <a:ea typeface="Calibri"/>
                <a:cs typeface="Latha"/>
              </a:rPr>
              <a:t>  Register in the Title Register </a:t>
            </a:r>
            <a:endParaRPr lang="en-US" sz="1100">
              <a:latin typeface="Calibri"/>
              <a:ea typeface="Calibri"/>
              <a:cs typeface="Latha"/>
            </a:endParaRPr>
          </a:p>
          <a:p>
            <a:pPr>
              <a:lnSpc>
                <a:spcPct val="115000"/>
              </a:lnSpc>
            </a:pPr>
            <a:r>
              <a:rPr lang="en-US" sz="1100">
                <a:latin typeface="Palatino Linotype"/>
                <a:ea typeface="Calibri"/>
                <a:cs typeface="Latha"/>
              </a:rPr>
              <a:t>                        </a:t>
            </a:r>
            <a:r>
              <a:rPr lang="en-US" sz="800">
                <a:latin typeface="Palatino Linotype"/>
                <a:ea typeface="Calibri"/>
                <a:cs typeface="Latha"/>
              </a:rPr>
              <a:t>[Ss.55.(2)]</a:t>
            </a:r>
            <a:endParaRPr lang="en-US" sz="1100">
              <a:latin typeface="Calibri"/>
              <a:ea typeface="Calibri"/>
              <a:cs typeface="Latha"/>
            </a:endParaRPr>
          </a:p>
        </p:txBody>
      </p:sp>
      <p:cxnSp>
        <p:nvCxnSpPr>
          <p:cNvPr id="27" name="Straight Arrow Connector 26"/>
          <p:cNvCxnSpPr/>
          <p:nvPr/>
        </p:nvCxnSpPr>
        <p:spPr>
          <a:xfrm flipH="1">
            <a:off x="8863965" y="4380865"/>
            <a:ext cx="9526" cy="3667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8873491" y="5271085"/>
            <a:ext cx="0" cy="4095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p:nvPr/>
        </p:nvCxnSpPr>
        <p:spPr>
          <a:xfrm flipH="1">
            <a:off x="3805556" y="4267201"/>
            <a:ext cx="9525" cy="3613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Text Box 34"/>
          <p:cNvSpPr txBox="1">
            <a:spLocks/>
          </p:cNvSpPr>
          <p:nvPr/>
        </p:nvSpPr>
        <p:spPr>
          <a:xfrm>
            <a:off x="2957831" y="5724525"/>
            <a:ext cx="2214245" cy="381000"/>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a:latin typeface="Palatino Linotype"/>
                <a:ea typeface="Calibri"/>
                <a:cs typeface="Latha"/>
              </a:rPr>
              <a:t>  Register in the Title Register </a:t>
            </a:r>
            <a:endParaRPr lang="en-US" sz="1100">
              <a:latin typeface="Calibri"/>
              <a:ea typeface="Calibri"/>
              <a:cs typeface="Latha"/>
            </a:endParaRPr>
          </a:p>
          <a:p>
            <a:pPr>
              <a:lnSpc>
                <a:spcPct val="115000"/>
              </a:lnSpc>
            </a:pPr>
            <a:r>
              <a:rPr lang="en-US" sz="1100">
                <a:latin typeface="Palatino Linotype"/>
                <a:ea typeface="Calibri"/>
                <a:cs typeface="Latha"/>
              </a:rPr>
              <a:t>                        </a:t>
            </a:r>
            <a:endParaRPr lang="en-US" sz="1100">
              <a:latin typeface="Calibri"/>
              <a:ea typeface="Calibri"/>
              <a:cs typeface="Latha"/>
            </a:endParaRPr>
          </a:p>
        </p:txBody>
      </p:sp>
      <p:sp>
        <p:nvSpPr>
          <p:cNvPr id="31" name="Text Box 35"/>
          <p:cNvSpPr txBox="1"/>
          <p:nvPr/>
        </p:nvSpPr>
        <p:spPr>
          <a:xfrm>
            <a:off x="3977005" y="1838325"/>
            <a:ext cx="933450" cy="27432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100">
                <a:latin typeface="Palatino Linotype"/>
                <a:ea typeface="Calibri"/>
                <a:cs typeface="Latha"/>
              </a:rPr>
              <a:t>testate </a:t>
            </a:r>
            <a:endParaRPr lang="en-US" sz="1100">
              <a:ea typeface="Calibri"/>
              <a:cs typeface="Latha"/>
            </a:endParaRPr>
          </a:p>
        </p:txBody>
      </p:sp>
      <p:sp>
        <p:nvSpPr>
          <p:cNvPr id="32" name="Text Box 36"/>
          <p:cNvSpPr txBox="1"/>
          <p:nvPr/>
        </p:nvSpPr>
        <p:spPr>
          <a:xfrm>
            <a:off x="6720205" y="1838325"/>
            <a:ext cx="933450" cy="274320"/>
          </a:xfrm>
          <a:prstGeom prst="rect">
            <a:avLst/>
          </a:prstGeom>
          <a:solidFill>
            <a:sysClr val="window" lastClr="FFFFFF"/>
          </a:solidFill>
          <a:ln w="6350">
            <a:solidFill>
              <a:sysClr val="window" lastClr="FFFFFF"/>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100">
                <a:latin typeface="Palatino Linotype"/>
                <a:ea typeface="Calibri"/>
                <a:cs typeface="Latha"/>
              </a:rPr>
              <a:t>intestate </a:t>
            </a:r>
            <a:endParaRPr lang="en-US" sz="1100">
              <a:latin typeface="Calibri"/>
              <a:ea typeface="Calibri"/>
              <a:cs typeface="Latha"/>
            </a:endParaRPr>
          </a:p>
        </p:txBody>
      </p:sp>
      <p:cxnSp>
        <p:nvCxnSpPr>
          <p:cNvPr id="33" name="Straight Arrow Connector 32"/>
          <p:cNvCxnSpPr/>
          <p:nvPr/>
        </p:nvCxnSpPr>
        <p:spPr>
          <a:xfrm flipH="1">
            <a:off x="8853805" y="3394075"/>
            <a:ext cx="10160" cy="29972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4" name="Rectangle 31"/>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35" name="Rectangle 39"/>
          <p:cNvSpPr>
            <a:spLocks noChangeArrowheads="1"/>
          </p:cNvSpPr>
          <p:nvPr/>
        </p:nvSpPr>
        <p:spPr bwMode="auto">
          <a:xfrm>
            <a:off x="1676401" y="217185"/>
            <a:ext cx="184731"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en-US" sz="900">
                <a:latin typeface="Arial" pitchFamily="34" charset="0"/>
                <a:cs typeface="Arial" pitchFamily="34" charset="0"/>
              </a:rPr>
              <a:t/>
            </a:r>
            <a:br>
              <a:rPr lang="en-US" sz="900">
                <a:latin typeface="Arial" pitchFamily="34" charset="0"/>
                <a:cs typeface="Arial" pitchFamily="34" charset="0"/>
              </a:rPr>
            </a:br>
            <a:endParaRPr lang="en-US">
              <a:latin typeface="Arial" pitchFamily="34" charset="0"/>
              <a:cs typeface="Arial" pitchFamily="34" charset="0"/>
            </a:endParaRPr>
          </a:p>
          <a:p>
            <a:pPr eaLnBrk="0" fontAlgn="base" hangingPunct="0">
              <a:spcBef>
                <a:spcPct val="0"/>
              </a:spcBef>
              <a:spcAft>
                <a:spcPct val="0"/>
              </a:spcAft>
            </a:pPr>
            <a:endParaRPr lang="en-US">
              <a:latin typeface="Arial" pitchFamily="34" charset="0"/>
              <a:cs typeface="Arial" pitchFamily="34" charset="0"/>
            </a:endParaRPr>
          </a:p>
        </p:txBody>
      </p:sp>
      <p:sp>
        <p:nvSpPr>
          <p:cNvPr id="36" name="Rectangle 41"/>
          <p:cNvSpPr>
            <a:spLocks noChangeArrowheads="1"/>
          </p:cNvSpPr>
          <p:nvPr/>
        </p:nvSpPr>
        <p:spPr bwMode="auto">
          <a:xfrm>
            <a:off x="1676400" y="340297"/>
            <a:ext cx="3711272"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3816350" algn="l"/>
              </a:tabLst>
            </a:pPr>
            <a:r>
              <a:rPr lang="en-US" sz="1100">
                <a:latin typeface="Palatino Linotype" pitchFamily="18" charset="0"/>
                <a:ea typeface="Calibri" pitchFamily="34" charset="0"/>
                <a:cs typeface="Latha" pitchFamily="34" charset="0"/>
              </a:rPr>
              <a:t>                                                                                                    </a:t>
            </a:r>
            <a:endParaRPr lang="en-US" sz="900">
              <a:latin typeface="Arial" pitchFamily="34" charset="0"/>
              <a:cs typeface="Arial" pitchFamily="34" charset="0"/>
            </a:endParaRPr>
          </a:p>
          <a:p>
            <a:pPr eaLnBrk="0" fontAlgn="base" hangingPunct="0">
              <a:spcBef>
                <a:spcPct val="0"/>
              </a:spcBef>
              <a:spcAft>
                <a:spcPct val="0"/>
              </a:spcAft>
              <a:tabLst>
                <a:tab pos="3816350" algn="l"/>
              </a:tabLst>
            </a:pPr>
            <a:endParaRPr lang="en-US">
              <a:latin typeface="Arial" pitchFamily="34" charset="0"/>
              <a:cs typeface="Arial" pitchFamily="34" charset="0"/>
            </a:endParaRPr>
          </a:p>
        </p:txBody>
      </p:sp>
      <p:sp>
        <p:nvSpPr>
          <p:cNvPr id="37" name="Rectangle 42"/>
          <p:cNvSpPr>
            <a:spLocks noChangeArrowheads="1"/>
          </p:cNvSpPr>
          <p:nvPr/>
        </p:nvSpPr>
        <p:spPr bwMode="auto">
          <a:xfrm>
            <a:off x="1676400" y="408057"/>
            <a:ext cx="36426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3424238" algn="l"/>
              </a:tabLst>
            </a:pPr>
            <a:endParaRPr lang="en-US" sz="1100" dirty="0">
              <a:latin typeface="Palatino Linotype" pitchFamily="18" charset="0"/>
              <a:ea typeface="Calibri" pitchFamily="34" charset="0"/>
              <a:cs typeface="Latha" pitchFamily="34" charset="0"/>
            </a:endParaRPr>
          </a:p>
          <a:p>
            <a:pPr eaLnBrk="0" fontAlgn="base" hangingPunct="0">
              <a:spcBef>
                <a:spcPct val="0"/>
              </a:spcBef>
              <a:spcAft>
                <a:spcPct val="0"/>
              </a:spcAft>
              <a:tabLst>
                <a:tab pos="3424238" algn="l"/>
              </a:tabLst>
            </a:pPr>
            <a:r>
              <a:rPr lang="en-US" sz="1100" dirty="0">
                <a:latin typeface="Palatino Linotype" pitchFamily="18" charset="0"/>
                <a:ea typeface="Calibri" pitchFamily="34" charset="0"/>
                <a:cs typeface="Latha" pitchFamily="34" charset="0"/>
              </a:rPr>
              <a:t>	</a:t>
            </a:r>
            <a:endParaRPr lang="en-US" sz="900" dirty="0">
              <a:latin typeface="Arial" pitchFamily="34" charset="0"/>
              <a:cs typeface="Arial" pitchFamily="34" charset="0"/>
            </a:endParaRPr>
          </a:p>
          <a:p>
            <a:pPr eaLnBrk="0" fontAlgn="base" hangingPunct="0">
              <a:spcBef>
                <a:spcPct val="0"/>
              </a:spcBef>
              <a:spcAft>
                <a:spcPct val="0"/>
              </a:spcAft>
              <a:tabLst>
                <a:tab pos="3424238" algn="l"/>
              </a:tabLst>
            </a:pPr>
            <a:endParaRPr lang="en-US" dirty="0">
              <a:latin typeface="Arial" pitchFamily="34" charset="0"/>
              <a:cs typeface="Arial" pitchFamily="34" charset="0"/>
            </a:endParaRPr>
          </a:p>
        </p:txBody>
      </p:sp>
      <p:sp>
        <p:nvSpPr>
          <p:cNvPr id="38" name="Rectangle 51"/>
          <p:cNvSpPr>
            <a:spLocks noChangeArrowheads="1"/>
          </p:cNvSpPr>
          <p:nvPr/>
        </p:nvSpPr>
        <p:spPr bwMode="auto">
          <a:xfrm>
            <a:off x="1676401" y="461918"/>
            <a:ext cx="4301177"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tabLst>
                <a:tab pos="1509713" algn="l"/>
              </a:tabLst>
            </a:pPr>
            <a:endParaRPr lang="en-US" sz="1100" dirty="0">
              <a:latin typeface="Palatino Linotype" pitchFamily="18" charset="0"/>
              <a:ea typeface="Calibri" pitchFamily="34" charset="0"/>
              <a:cs typeface="Latha" pitchFamily="34" charset="0"/>
            </a:endParaRPr>
          </a:p>
          <a:p>
            <a:pPr eaLnBrk="0" fontAlgn="base" hangingPunct="0">
              <a:spcBef>
                <a:spcPct val="0"/>
              </a:spcBef>
              <a:spcAft>
                <a:spcPct val="0"/>
              </a:spcAft>
              <a:tabLst>
                <a:tab pos="1509713" algn="l"/>
              </a:tabLst>
            </a:pPr>
            <a:r>
              <a:rPr lang="en-US" sz="1100" dirty="0">
                <a:latin typeface="Palatino Linotype" pitchFamily="18" charset="0"/>
                <a:ea typeface="Calibri" pitchFamily="34" charset="0"/>
                <a:cs typeface="Latha" pitchFamily="34" charset="0"/>
              </a:rPr>
              <a:t>	</a:t>
            </a:r>
            <a:endParaRPr lang="en-US" sz="900" dirty="0">
              <a:latin typeface="Arial" pitchFamily="34" charset="0"/>
              <a:cs typeface="Arial" pitchFamily="34" charset="0"/>
            </a:endParaRPr>
          </a:p>
          <a:p>
            <a:pPr eaLnBrk="0" fontAlgn="base" hangingPunct="0">
              <a:spcBef>
                <a:spcPct val="0"/>
              </a:spcBef>
              <a:spcAft>
                <a:spcPct val="0"/>
              </a:spcAft>
              <a:tabLst>
                <a:tab pos="1509713" algn="l"/>
              </a:tabLst>
            </a:pPr>
            <a:r>
              <a:rPr lang="en-US" sz="1100" dirty="0">
                <a:latin typeface="Palatino Linotype" pitchFamily="18" charset="0"/>
                <a:ea typeface="Calibri" pitchFamily="34" charset="0"/>
                <a:cs typeface="Latha" pitchFamily="34" charset="0"/>
              </a:rPr>
              <a:t>				            </a:t>
            </a:r>
            <a:endParaRPr lang="en-US" dirty="0">
              <a:latin typeface="Arial" pitchFamily="34" charset="0"/>
              <a:cs typeface="Arial" pitchFamily="34" charset="0"/>
            </a:endParaRPr>
          </a:p>
        </p:txBody>
      </p:sp>
    </p:spTree>
    <p:extLst>
      <p:ext uri="{BB962C8B-B14F-4D97-AF65-F5344CB8AC3E}">
        <p14:creationId xmlns:p14="http://schemas.microsoft.com/office/powerpoint/2010/main" val="164811876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EE4178C-25E1-40B2-B282-60832FF963A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018" y="190982"/>
            <a:ext cx="3974667" cy="6476035"/>
          </a:xfrm>
          <a:prstGeom prst="rect">
            <a:avLst/>
          </a:prstGeom>
        </p:spPr>
      </p:pic>
      <p:pic>
        <p:nvPicPr>
          <p:cNvPr id="5" name="Picture 4">
            <a:extLst>
              <a:ext uri="{FF2B5EF4-FFF2-40B4-BE49-F238E27FC236}">
                <a16:creationId xmlns="" xmlns:a16="http://schemas.microsoft.com/office/drawing/2014/main" id="{94C3EC14-3F16-4F62-A4C9-A9D1079B10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426" y="190982"/>
            <a:ext cx="7689781" cy="6476035"/>
          </a:xfrm>
          <a:prstGeom prst="rect">
            <a:avLst/>
          </a:prstGeom>
        </p:spPr>
      </p:pic>
      <p:sp>
        <p:nvSpPr>
          <p:cNvPr id="6" name="Oval 5">
            <a:extLst>
              <a:ext uri="{FF2B5EF4-FFF2-40B4-BE49-F238E27FC236}">
                <a16:creationId xmlns="" xmlns:a16="http://schemas.microsoft.com/office/drawing/2014/main" id="{F69DC166-2FAB-4721-8116-F227698ED120}"/>
              </a:ext>
            </a:extLst>
          </p:cNvPr>
          <p:cNvSpPr/>
          <p:nvPr/>
        </p:nvSpPr>
        <p:spPr>
          <a:xfrm>
            <a:off x="6192456" y="2777924"/>
            <a:ext cx="775504" cy="266218"/>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Oval 6">
            <a:extLst>
              <a:ext uri="{FF2B5EF4-FFF2-40B4-BE49-F238E27FC236}">
                <a16:creationId xmlns="" xmlns:a16="http://schemas.microsoft.com/office/drawing/2014/main" id="{8D1E6864-D83D-4ED0-A8C8-B269B6252982}"/>
              </a:ext>
            </a:extLst>
          </p:cNvPr>
          <p:cNvSpPr/>
          <p:nvPr/>
        </p:nvSpPr>
        <p:spPr>
          <a:xfrm>
            <a:off x="6285053" y="5337860"/>
            <a:ext cx="775504" cy="277792"/>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155403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60157564-2AAF-4E04-B7B3-9A4D499869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3749" y="115747"/>
            <a:ext cx="4358788" cy="6626506"/>
          </a:xfrm>
          <a:prstGeom prst="rect">
            <a:avLst/>
          </a:prstGeom>
        </p:spPr>
      </p:pic>
      <p:pic>
        <p:nvPicPr>
          <p:cNvPr id="9" name="Picture 8">
            <a:extLst>
              <a:ext uri="{FF2B5EF4-FFF2-40B4-BE49-F238E27FC236}">
                <a16:creationId xmlns="" xmlns:a16="http://schemas.microsoft.com/office/drawing/2014/main" id="{A2597ACC-4D3A-4555-91B2-2430439E8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4563" y="115747"/>
            <a:ext cx="4203688" cy="6636154"/>
          </a:xfrm>
          <a:prstGeom prst="rect">
            <a:avLst/>
          </a:prstGeom>
        </p:spPr>
      </p:pic>
      <p:sp>
        <p:nvSpPr>
          <p:cNvPr id="10" name="Oval 9">
            <a:extLst>
              <a:ext uri="{FF2B5EF4-FFF2-40B4-BE49-F238E27FC236}">
                <a16:creationId xmlns="" xmlns:a16="http://schemas.microsoft.com/office/drawing/2014/main" id="{99F87B19-BADA-4500-87B7-D086DFD40963}"/>
              </a:ext>
            </a:extLst>
          </p:cNvPr>
          <p:cNvSpPr/>
          <p:nvPr/>
        </p:nvSpPr>
        <p:spPr>
          <a:xfrm>
            <a:off x="4572000" y="2233915"/>
            <a:ext cx="486137" cy="23149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Oval 10">
            <a:extLst>
              <a:ext uri="{FF2B5EF4-FFF2-40B4-BE49-F238E27FC236}">
                <a16:creationId xmlns="" xmlns:a16="http://schemas.microsoft.com/office/drawing/2014/main" id="{0F2C0231-0A39-43E6-AD31-5DD2B01CB950}"/>
              </a:ext>
            </a:extLst>
          </p:cNvPr>
          <p:cNvSpPr/>
          <p:nvPr/>
        </p:nvSpPr>
        <p:spPr>
          <a:xfrm>
            <a:off x="9088055" y="2349661"/>
            <a:ext cx="486137" cy="231493"/>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74515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0C2F2470-283F-42F7-8F62-91CA85196E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6855" y="144683"/>
            <a:ext cx="4692467" cy="6568633"/>
          </a:xfrm>
          <a:prstGeom prst="rect">
            <a:avLst/>
          </a:prstGeom>
        </p:spPr>
      </p:pic>
      <p:pic>
        <p:nvPicPr>
          <p:cNvPr id="5" name="Picture 4">
            <a:extLst>
              <a:ext uri="{FF2B5EF4-FFF2-40B4-BE49-F238E27FC236}">
                <a16:creationId xmlns="" xmlns:a16="http://schemas.microsoft.com/office/drawing/2014/main" id="{C978D8A0-2A15-48CA-9F62-8D080652B1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32680" y="144682"/>
            <a:ext cx="4803107" cy="6568633"/>
          </a:xfrm>
          <a:prstGeom prst="rect">
            <a:avLst/>
          </a:prstGeom>
        </p:spPr>
      </p:pic>
      <p:sp>
        <p:nvSpPr>
          <p:cNvPr id="6" name="Oval 5">
            <a:extLst>
              <a:ext uri="{FF2B5EF4-FFF2-40B4-BE49-F238E27FC236}">
                <a16:creationId xmlns="" xmlns:a16="http://schemas.microsoft.com/office/drawing/2014/main" id="{83EE772C-7DE3-4CB7-8019-E39F48EB01FF}"/>
              </a:ext>
            </a:extLst>
          </p:cNvPr>
          <p:cNvSpPr/>
          <p:nvPr/>
        </p:nvSpPr>
        <p:spPr>
          <a:xfrm>
            <a:off x="4363656" y="2222339"/>
            <a:ext cx="532435" cy="185195"/>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7" name="Oval 6">
            <a:extLst>
              <a:ext uri="{FF2B5EF4-FFF2-40B4-BE49-F238E27FC236}">
                <a16:creationId xmlns="" xmlns:a16="http://schemas.microsoft.com/office/drawing/2014/main" id="{B46BCF46-A28D-4D0F-BFE5-52110D903002}"/>
              </a:ext>
            </a:extLst>
          </p:cNvPr>
          <p:cNvSpPr/>
          <p:nvPr/>
        </p:nvSpPr>
        <p:spPr>
          <a:xfrm>
            <a:off x="10235878" y="2129741"/>
            <a:ext cx="532435" cy="185195"/>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9166392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7A37CA93-8E2E-4549-AF72-3B8ACDDC20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6166" y="208344"/>
            <a:ext cx="4557228" cy="6441311"/>
          </a:xfrm>
          <a:prstGeom prst="rect">
            <a:avLst/>
          </a:prstGeom>
        </p:spPr>
      </p:pic>
      <p:pic>
        <p:nvPicPr>
          <p:cNvPr id="7" name="Picture 6">
            <a:extLst>
              <a:ext uri="{FF2B5EF4-FFF2-40B4-BE49-F238E27FC236}">
                <a16:creationId xmlns="" xmlns:a16="http://schemas.microsoft.com/office/drawing/2014/main" id="{0EEEEF4A-0E8E-4320-A410-D377115523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6145106" y="-138895"/>
            <a:ext cx="4783455" cy="6858000"/>
          </a:xfrm>
          <a:prstGeom prst="rect">
            <a:avLst/>
          </a:prstGeom>
        </p:spPr>
      </p:pic>
    </p:spTree>
    <p:extLst>
      <p:ext uri="{BB962C8B-B14F-4D97-AF65-F5344CB8AC3E}">
        <p14:creationId xmlns:p14="http://schemas.microsoft.com/office/powerpoint/2010/main" val="14546189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90A5ED0-58E4-4CF7-BFC1-ADE92E196D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0292" y="144683"/>
            <a:ext cx="4692467" cy="6568633"/>
          </a:xfrm>
          <a:prstGeom prst="rect">
            <a:avLst/>
          </a:prstGeom>
        </p:spPr>
      </p:pic>
      <p:pic>
        <p:nvPicPr>
          <p:cNvPr id="5" name="Picture 4">
            <a:extLst>
              <a:ext uri="{FF2B5EF4-FFF2-40B4-BE49-F238E27FC236}">
                <a16:creationId xmlns="" xmlns:a16="http://schemas.microsoft.com/office/drawing/2014/main" id="{D7F575EE-C5E4-41ED-98C6-FDC3E747FF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90168" y="134956"/>
            <a:ext cx="4851540" cy="6578360"/>
          </a:xfrm>
          <a:prstGeom prst="rect">
            <a:avLst/>
          </a:prstGeom>
        </p:spPr>
      </p:pic>
      <p:cxnSp>
        <p:nvCxnSpPr>
          <p:cNvPr id="7" name="Straight Arrow Connector 6">
            <a:extLst>
              <a:ext uri="{FF2B5EF4-FFF2-40B4-BE49-F238E27FC236}">
                <a16:creationId xmlns="" xmlns:a16="http://schemas.microsoft.com/office/drawing/2014/main" id="{E5B6143E-49F9-4E80-BC17-B1FE5DCC70C9}"/>
              </a:ext>
            </a:extLst>
          </p:cNvPr>
          <p:cNvCxnSpPr/>
          <p:nvPr/>
        </p:nvCxnSpPr>
        <p:spPr>
          <a:xfrm>
            <a:off x="5600218" y="3583049"/>
            <a:ext cx="99156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TextBox 1">
            <a:extLst>
              <a:ext uri="{FF2B5EF4-FFF2-40B4-BE49-F238E27FC236}">
                <a16:creationId xmlns="" xmlns:a16="http://schemas.microsoft.com/office/drawing/2014/main" id="{F0FEB318-8246-4848-A7D1-98883B0BFF42}"/>
              </a:ext>
            </a:extLst>
          </p:cNvPr>
          <p:cNvSpPr txBox="1"/>
          <p:nvPr/>
        </p:nvSpPr>
        <p:spPr>
          <a:xfrm>
            <a:off x="4047485" y="3387454"/>
            <a:ext cx="1163707" cy="369332"/>
          </a:xfrm>
          <a:prstGeom prst="rect">
            <a:avLst/>
          </a:prstGeom>
          <a:noFill/>
        </p:spPr>
        <p:txBody>
          <a:bodyPr wrap="square" rtlCol="0">
            <a:spAutoFit/>
          </a:bodyPr>
          <a:lstStyle/>
          <a:p>
            <a:r>
              <a:rPr lang="en-US"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Husband</a:t>
            </a:r>
          </a:p>
        </p:txBody>
      </p:sp>
      <p:sp>
        <p:nvSpPr>
          <p:cNvPr id="6" name="TextBox 5">
            <a:extLst>
              <a:ext uri="{FF2B5EF4-FFF2-40B4-BE49-F238E27FC236}">
                <a16:creationId xmlns="" xmlns:a16="http://schemas.microsoft.com/office/drawing/2014/main" id="{6D0C99D8-943D-472E-BD37-4CD53D93AC03}"/>
              </a:ext>
            </a:extLst>
          </p:cNvPr>
          <p:cNvSpPr txBox="1"/>
          <p:nvPr/>
        </p:nvSpPr>
        <p:spPr>
          <a:xfrm>
            <a:off x="6951962" y="3387454"/>
            <a:ext cx="1163707" cy="369332"/>
          </a:xfrm>
          <a:prstGeom prst="rect">
            <a:avLst/>
          </a:prstGeom>
          <a:noFill/>
        </p:spPr>
        <p:txBody>
          <a:bodyPr wrap="square" rtlCol="0">
            <a:spAutoFit/>
          </a:bodyPr>
          <a:lstStyle/>
          <a:p>
            <a:r>
              <a:rPr lang="en-US"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Wife</a:t>
            </a:r>
          </a:p>
        </p:txBody>
      </p:sp>
    </p:spTree>
    <p:extLst>
      <p:ext uri="{BB962C8B-B14F-4D97-AF65-F5344CB8AC3E}">
        <p14:creationId xmlns:p14="http://schemas.microsoft.com/office/powerpoint/2010/main" val="40805852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685306EC-1542-49A9-9F3D-740662B039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6309852" y="-115747"/>
            <a:ext cx="4642009" cy="6858000"/>
          </a:xfrm>
          <a:prstGeom prst="rect">
            <a:avLst/>
          </a:prstGeom>
        </p:spPr>
      </p:pic>
      <p:pic>
        <p:nvPicPr>
          <p:cNvPr id="11" name="Picture 10">
            <a:extLst>
              <a:ext uri="{FF2B5EF4-FFF2-40B4-BE49-F238E27FC236}">
                <a16:creationId xmlns="" xmlns:a16="http://schemas.microsoft.com/office/drawing/2014/main" id="{1F583962-6075-46CD-898C-4CFD4E2714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143" y="92597"/>
            <a:ext cx="4858636" cy="6672805"/>
          </a:xfrm>
          <a:prstGeom prst="rect">
            <a:avLst/>
          </a:prstGeom>
        </p:spPr>
      </p:pic>
    </p:spTree>
    <p:extLst>
      <p:ext uri="{BB962C8B-B14F-4D97-AF65-F5344CB8AC3E}">
        <p14:creationId xmlns:p14="http://schemas.microsoft.com/office/powerpoint/2010/main" val="5879491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8B0FE816-FF77-41DD-A267-14AF2CF15569}"/>
              </a:ext>
            </a:extLst>
          </p:cNvPr>
          <p:cNvPicPr>
            <a:picLocks noChangeAspect="1"/>
          </p:cNvPicPr>
          <p:nvPr/>
        </p:nvPicPr>
        <p:blipFill>
          <a:blip r:embed="rId2"/>
          <a:stretch>
            <a:fillRect/>
          </a:stretch>
        </p:blipFill>
        <p:spPr>
          <a:xfrm>
            <a:off x="4724553" y="665825"/>
            <a:ext cx="7297753" cy="5294790"/>
          </a:xfrm>
          <a:prstGeom prst="rect">
            <a:avLst/>
          </a:prstGeom>
        </p:spPr>
      </p:pic>
      <p:sp>
        <p:nvSpPr>
          <p:cNvPr id="4" name="TextBox 3">
            <a:extLst>
              <a:ext uri="{FF2B5EF4-FFF2-40B4-BE49-F238E27FC236}">
                <a16:creationId xmlns="" xmlns:a16="http://schemas.microsoft.com/office/drawing/2014/main" id="{35CFE584-B0FA-4C47-9258-50ED52919ED2}"/>
              </a:ext>
            </a:extLst>
          </p:cNvPr>
          <p:cNvSpPr txBox="1"/>
          <p:nvPr/>
        </p:nvSpPr>
        <p:spPr>
          <a:xfrm>
            <a:off x="739214" y="1605060"/>
            <a:ext cx="3515557" cy="3416320"/>
          </a:xfrm>
          <a:prstGeom prst="rect">
            <a:avLst/>
          </a:prstGeom>
          <a:noFill/>
        </p:spPr>
        <p:txBody>
          <a:bodyPr wrap="square" rtlCol="0">
            <a:spAutoFit/>
          </a:bodyPr>
          <a:lstStyle/>
          <a:p>
            <a:r>
              <a:rPr lang="en-US" dirty="0"/>
              <a:t>Section 55 – Registered owner dying intestate</a:t>
            </a:r>
          </a:p>
          <a:p>
            <a:pPr algn="just"/>
            <a:endParaRPr lang="en-US" dirty="0"/>
          </a:p>
          <a:p>
            <a:pPr algn="just"/>
            <a:r>
              <a:rPr lang="en-US" dirty="0"/>
              <a:t>Any party interested may inform the CTS of the death of such registered owner and CTS on being notified shall publish a notice in the prescribed manner calling for claimants to the land parcel registered in favor of such deceased person.</a:t>
            </a:r>
          </a:p>
          <a:p>
            <a:endParaRPr lang="en-US" dirty="0"/>
          </a:p>
        </p:txBody>
      </p:sp>
    </p:spTree>
    <p:extLst>
      <p:ext uri="{BB962C8B-B14F-4D97-AF65-F5344CB8AC3E}">
        <p14:creationId xmlns:p14="http://schemas.microsoft.com/office/powerpoint/2010/main" val="9654922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03C0984-4113-4911-83CA-FEBC14BE711C}"/>
              </a:ext>
            </a:extLst>
          </p:cNvPr>
          <p:cNvSpPr txBox="1"/>
          <p:nvPr/>
        </p:nvSpPr>
        <p:spPr>
          <a:xfrm>
            <a:off x="3417903" y="497150"/>
            <a:ext cx="6320901" cy="830997"/>
          </a:xfrm>
          <a:prstGeom prst="rect">
            <a:avLst/>
          </a:prstGeom>
          <a:noFill/>
        </p:spPr>
        <p:txBody>
          <a:bodyPr wrap="square" rtlCol="0">
            <a:spAutoFit/>
          </a:bodyPr>
          <a:lstStyle/>
          <a:p>
            <a:pPr algn="ctr"/>
            <a:r>
              <a:rPr lang="en-US" sz="2400" dirty="0"/>
              <a:t>Section 13</a:t>
            </a:r>
          </a:p>
          <a:p>
            <a:pPr algn="ctr"/>
            <a:r>
              <a:rPr lang="en-US" sz="2400" dirty="0"/>
              <a:t>How Investigation is done?</a:t>
            </a:r>
          </a:p>
        </p:txBody>
      </p:sp>
      <p:sp>
        <p:nvSpPr>
          <p:cNvPr id="3" name="TextBox 2">
            <a:extLst>
              <a:ext uri="{FF2B5EF4-FFF2-40B4-BE49-F238E27FC236}">
                <a16:creationId xmlns="" xmlns:a16="http://schemas.microsoft.com/office/drawing/2014/main" id="{2108CBB9-D09E-4C9A-991F-DC47F0E33A9E}"/>
              </a:ext>
            </a:extLst>
          </p:cNvPr>
          <p:cNvSpPr txBox="1"/>
          <p:nvPr/>
        </p:nvSpPr>
        <p:spPr>
          <a:xfrm>
            <a:off x="2627790" y="2281963"/>
            <a:ext cx="6320901" cy="2778902"/>
          </a:xfrm>
          <a:prstGeom prst="rect">
            <a:avLst/>
          </a:prstGeom>
          <a:noFill/>
        </p:spPr>
        <p:txBody>
          <a:bodyPr wrap="square" rtlCol="0">
            <a:spAutoFit/>
          </a:bodyPr>
          <a:lstStyle/>
          <a:p>
            <a:pPr>
              <a:lnSpc>
                <a:spcPct val="200000"/>
              </a:lnSpc>
            </a:pPr>
            <a:r>
              <a:rPr lang="en-US" dirty="0"/>
              <a:t>Land Search</a:t>
            </a:r>
          </a:p>
          <a:p>
            <a:pPr>
              <a:lnSpc>
                <a:spcPct val="200000"/>
              </a:lnSpc>
            </a:pPr>
            <a:r>
              <a:rPr lang="en-US" dirty="0"/>
              <a:t>Pedigree</a:t>
            </a:r>
          </a:p>
          <a:p>
            <a:pPr>
              <a:lnSpc>
                <a:spcPct val="200000"/>
              </a:lnSpc>
            </a:pPr>
            <a:r>
              <a:rPr lang="en-US" dirty="0"/>
              <a:t>Previous plans and deeds</a:t>
            </a:r>
          </a:p>
          <a:p>
            <a:pPr>
              <a:lnSpc>
                <a:spcPct val="200000"/>
              </a:lnSpc>
            </a:pPr>
            <a:r>
              <a:rPr lang="en-US" dirty="0"/>
              <a:t>Claim forms</a:t>
            </a:r>
          </a:p>
          <a:p>
            <a:pPr>
              <a:lnSpc>
                <a:spcPct val="200000"/>
              </a:lnSpc>
            </a:pPr>
            <a:r>
              <a:rPr lang="en-US" dirty="0"/>
              <a:t>Water bills and Electricity bills</a:t>
            </a:r>
          </a:p>
        </p:txBody>
      </p:sp>
    </p:spTree>
    <p:extLst>
      <p:ext uri="{BB962C8B-B14F-4D97-AF65-F5344CB8AC3E}">
        <p14:creationId xmlns:p14="http://schemas.microsoft.com/office/powerpoint/2010/main" val="2334243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5E33A9FE-EA54-4BE6-BD2B-B1F57191F8BE}"/>
              </a:ext>
            </a:extLst>
          </p:cNvPr>
          <p:cNvPicPr>
            <a:picLocks noChangeAspect="1"/>
          </p:cNvPicPr>
          <p:nvPr/>
        </p:nvPicPr>
        <p:blipFill>
          <a:blip r:embed="rId2"/>
          <a:stretch>
            <a:fillRect/>
          </a:stretch>
        </p:blipFill>
        <p:spPr>
          <a:xfrm>
            <a:off x="750786" y="224162"/>
            <a:ext cx="5694402" cy="6065238"/>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 xmlns:a16="http://schemas.microsoft.com/office/drawing/2014/main" id="{19290BAF-376C-49FE-B8D9-E0600A6C0970}"/>
              </a:ext>
            </a:extLst>
          </p:cNvPr>
          <p:cNvPicPr>
            <a:picLocks noChangeAspect="1"/>
          </p:cNvPicPr>
          <p:nvPr/>
        </p:nvPicPr>
        <p:blipFill>
          <a:blip r:embed="rId3"/>
          <a:stretch>
            <a:fillRect/>
          </a:stretch>
        </p:blipFill>
        <p:spPr>
          <a:xfrm>
            <a:off x="6855786" y="4154983"/>
            <a:ext cx="5222396" cy="2327553"/>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 xmlns:a16="http://schemas.microsoft.com/office/drawing/2014/main" id="{94B9C72B-74A6-447F-8B8E-37C773329C1F}"/>
              </a:ext>
            </a:extLst>
          </p:cNvPr>
          <p:cNvSpPr txBox="1"/>
          <p:nvPr/>
        </p:nvSpPr>
        <p:spPr>
          <a:xfrm>
            <a:off x="6747028" y="328474"/>
            <a:ext cx="4694186" cy="369332"/>
          </a:xfrm>
          <a:prstGeom prst="rect">
            <a:avLst/>
          </a:prstGeom>
          <a:noFill/>
        </p:spPr>
        <p:txBody>
          <a:bodyPr wrap="square" rtlCol="0">
            <a:spAutoFit/>
          </a:bodyPr>
          <a:lstStyle/>
          <a:p>
            <a:r>
              <a:rPr lang="en-US" dirty="0"/>
              <a:t>Section 14 -Declaration</a:t>
            </a:r>
          </a:p>
        </p:txBody>
      </p:sp>
      <p:cxnSp>
        <p:nvCxnSpPr>
          <p:cNvPr id="10" name="Straight Connector 9">
            <a:extLst>
              <a:ext uri="{FF2B5EF4-FFF2-40B4-BE49-F238E27FC236}">
                <a16:creationId xmlns="" xmlns:a16="http://schemas.microsoft.com/office/drawing/2014/main" id="{3D120325-EA4B-4CA2-BE38-81F7EF56165E}"/>
              </a:ext>
            </a:extLst>
          </p:cNvPr>
          <p:cNvCxnSpPr>
            <a:cxnSpLocks/>
          </p:cNvCxnSpPr>
          <p:nvPr/>
        </p:nvCxnSpPr>
        <p:spPr>
          <a:xfrm>
            <a:off x="7025640" y="746760"/>
            <a:ext cx="15240" cy="23469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 xmlns:a16="http://schemas.microsoft.com/office/drawing/2014/main" id="{8D3801EB-5B50-4994-AB00-979B57629140}"/>
              </a:ext>
            </a:extLst>
          </p:cNvPr>
          <p:cNvCxnSpPr>
            <a:cxnSpLocks/>
          </p:cNvCxnSpPr>
          <p:nvPr/>
        </p:nvCxnSpPr>
        <p:spPr>
          <a:xfrm>
            <a:off x="7040880" y="100584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 xmlns:a16="http://schemas.microsoft.com/office/drawing/2014/main" id="{D69773E2-F7FE-47FE-8B3D-3C87726A9CBE}"/>
              </a:ext>
            </a:extLst>
          </p:cNvPr>
          <p:cNvCxnSpPr>
            <a:cxnSpLocks/>
          </p:cNvCxnSpPr>
          <p:nvPr/>
        </p:nvCxnSpPr>
        <p:spPr>
          <a:xfrm>
            <a:off x="7025640" y="176022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 xmlns:a16="http://schemas.microsoft.com/office/drawing/2014/main" id="{A5161EFD-F7D1-42C1-B0C2-AF8FE9EC118D}"/>
              </a:ext>
            </a:extLst>
          </p:cNvPr>
          <p:cNvCxnSpPr>
            <a:cxnSpLocks/>
          </p:cNvCxnSpPr>
          <p:nvPr/>
        </p:nvCxnSpPr>
        <p:spPr>
          <a:xfrm>
            <a:off x="7040880" y="237744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 xmlns:a16="http://schemas.microsoft.com/office/drawing/2014/main" id="{6C872854-CEA4-4FA1-B015-E0A97DB541A3}"/>
              </a:ext>
            </a:extLst>
          </p:cNvPr>
          <p:cNvCxnSpPr>
            <a:cxnSpLocks/>
          </p:cNvCxnSpPr>
          <p:nvPr/>
        </p:nvCxnSpPr>
        <p:spPr>
          <a:xfrm>
            <a:off x="7040880" y="3078480"/>
            <a:ext cx="304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 xmlns:a16="http://schemas.microsoft.com/office/drawing/2014/main" id="{5169E1E0-7CC2-4C67-8AF9-F44688891991}"/>
              </a:ext>
            </a:extLst>
          </p:cNvPr>
          <p:cNvSpPr txBox="1"/>
          <p:nvPr/>
        </p:nvSpPr>
        <p:spPr>
          <a:xfrm>
            <a:off x="7452360" y="855045"/>
            <a:ext cx="3958374" cy="646331"/>
          </a:xfrm>
          <a:prstGeom prst="rect">
            <a:avLst/>
          </a:prstGeom>
          <a:noFill/>
        </p:spPr>
        <p:txBody>
          <a:bodyPr wrap="square" rtlCol="0">
            <a:spAutoFit/>
          </a:bodyPr>
          <a:lstStyle/>
          <a:p>
            <a:r>
              <a:rPr lang="en-US" dirty="0"/>
              <a:t>Absolute ownership 1</a:t>
            </a:r>
            <a:r>
              <a:rPr lang="en-US" baseline="30000" dirty="0"/>
              <a:t>st</a:t>
            </a:r>
            <a:r>
              <a:rPr lang="en-US" dirty="0"/>
              <a:t> class Title ownership</a:t>
            </a:r>
          </a:p>
        </p:txBody>
      </p:sp>
      <p:sp>
        <p:nvSpPr>
          <p:cNvPr id="19" name="TextBox 18">
            <a:extLst>
              <a:ext uri="{FF2B5EF4-FFF2-40B4-BE49-F238E27FC236}">
                <a16:creationId xmlns="" xmlns:a16="http://schemas.microsoft.com/office/drawing/2014/main" id="{8F7756EF-AAE7-4A81-BAC1-3A6A363BF240}"/>
              </a:ext>
            </a:extLst>
          </p:cNvPr>
          <p:cNvSpPr txBox="1"/>
          <p:nvPr/>
        </p:nvSpPr>
        <p:spPr>
          <a:xfrm>
            <a:off x="7452360" y="1539240"/>
            <a:ext cx="2865120" cy="369327"/>
          </a:xfrm>
          <a:prstGeom prst="rect">
            <a:avLst/>
          </a:prstGeom>
          <a:noFill/>
        </p:spPr>
        <p:txBody>
          <a:bodyPr wrap="square" rtlCol="0">
            <a:spAutoFit/>
          </a:bodyPr>
          <a:lstStyle/>
          <a:p>
            <a:r>
              <a:rPr lang="en-US" dirty="0"/>
              <a:t>Second class Title ownership</a:t>
            </a:r>
          </a:p>
        </p:txBody>
      </p:sp>
      <p:sp>
        <p:nvSpPr>
          <p:cNvPr id="20" name="TextBox 19">
            <a:extLst>
              <a:ext uri="{FF2B5EF4-FFF2-40B4-BE49-F238E27FC236}">
                <a16:creationId xmlns="" xmlns:a16="http://schemas.microsoft.com/office/drawing/2014/main" id="{1EC1AB22-87B4-43E2-903A-CC6BBA112399}"/>
              </a:ext>
            </a:extLst>
          </p:cNvPr>
          <p:cNvSpPr txBox="1"/>
          <p:nvPr/>
        </p:nvSpPr>
        <p:spPr>
          <a:xfrm>
            <a:off x="7452360" y="2209800"/>
            <a:ext cx="2590800" cy="646331"/>
          </a:xfrm>
          <a:prstGeom prst="rect">
            <a:avLst/>
          </a:prstGeom>
          <a:noFill/>
        </p:spPr>
        <p:txBody>
          <a:bodyPr wrap="square" rtlCol="0">
            <a:spAutoFit/>
          </a:bodyPr>
          <a:lstStyle/>
          <a:p>
            <a:r>
              <a:rPr lang="en-US" dirty="0"/>
              <a:t>Portion (part of the land parcel)</a:t>
            </a:r>
          </a:p>
        </p:txBody>
      </p:sp>
      <p:sp>
        <p:nvSpPr>
          <p:cNvPr id="21" name="TextBox 20">
            <a:extLst>
              <a:ext uri="{FF2B5EF4-FFF2-40B4-BE49-F238E27FC236}">
                <a16:creationId xmlns="" xmlns:a16="http://schemas.microsoft.com/office/drawing/2014/main" id="{1D954FDC-9B3F-461C-8FFD-17A2FBE65D99}"/>
              </a:ext>
            </a:extLst>
          </p:cNvPr>
          <p:cNvSpPr txBox="1"/>
          <p:nvPr/>
        </p:nvSpPr>
        <p:spPr>
          <a:xfrm>
            <a:off x="7452360" y="2946093"/>
            <a:ext cx="2910840" cy="369332"/>
          </a:xfrm>
          <a:prstGeom prst="rect">
            <a:avLst/>
          </a:prstGeom>
          <a:noFill/>
        </p:spPr>
        <p:txBody>
          <a:bodyPr wrap="square" rtlCol="0">
            <a:spAutoFit/>
          </a:bodyPr>
          <a:lstStyle/>
          <a:p>
            <a:r>
              <a:rPr lang="en-US" dirty="0"/>
              <a:t>Co-owners</a:t>
            </a:r>
          </a:p>
        </p:txBody>
      </p:sp>
    </p:spTree>
    <p:extLst>
      <p:ext uri="{BB962C8B-B14F-4D97-AF65-F5344CB8AC3E}">
        <p14:creationId xmlns:p14="http://schemas.microsoft.com/office/powerpoint/2010/main" val="24675785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CF405FA4-6C04-4A4E-861E-BDF119E000D7}"/>
              </a:ext>
            </a:extLst>
          </p:cNvPr>
          <p:cNvPicPr>
            <a:picLocks noChangeAspect="1"/>
          </p:cNvPicPr>
          <p:nvPr/>
        </p:nvPicPr>
        <p:blipFill>
          <a:blip r:embed="rId2"/>
          <a:stretch>
            <a:fillRect/>
          </a:stretch>
        </p:blipFill>
        <p:spPr>
          <a:xfrm>
            <a:off x="681261" y="785211"/>
            <a:ext cx="6862769" cy="5287577"/>
          </a:xfrm>
          <a:prstGeom prst="rect">
            <a:avLst/>
          </a:prstGeom>
        </p:spPr>
      </p:pic>
      <p:sp>
        <p:nvSpPr>
          <p:cNvPr id="4" name="TextBox 3">
            <a:extLst>
              <a:ext uri="{FF2B5EF4-FFF2-40B4-BE49-F238E27FC236}">
                <a16:creationId xmlns="" xmlns:a16="http://schemas.microsoft.com/office/drawing/2014/main" id="{72ED97E9-5F2F-419C-9F52-6821C242B889}"/>
              </a:ext>
            </a:extLst>
          </p:cNvPr>
          <p:cNvSpPr txBox="1"/>
          <p:nvPr/>
        </p:nvSpPr>
        <p:spPr>
          <a:xfrm>
            <a:off x="8025414" y="2690335"/>
            <a:ext cx="3808520" cy="1477328"/>
          </a:xfrm>
          <a:prstGeom prst="rect">
            <a:avLst/>
          </a:prstGeom>
          <a:noFill/>
        </p:spPr>
        <p:txBody>
          <a:bodyPr wrap="square" rtlCol="0">
            <a:spAutoFit/>
          </a:bodyPr>
          <a:lstStyle/>
          <a:p>
            <a:pPr algn="just"/>
            <a:r>
              <a:rPr lang="en-US" dirty="0"/>
              <a:t>Section 19 – In case where the land in question is a state land CTS shall prepare a schedule of title for registration of a first class of Absolute ownership to such land.</a:t>
            </a:r>
          </a:p>
        </p:txBody>
      </p:sp>
    </p:spTree>
    <p:extLst>
      <p:ext uri="{BB962C8B-B14F-4D97-AF65-F5344CB8AC3E}">
        <p14:creationId xmlns:p14="http://schemas.microsoft.com/office/powerpoint/2010/main" val="32634042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90800" y="1"/>
            <a:ext cx="4419600" cy="684033"/>
          </a:xfrm>
          <a:prstGeom prst="rect">
            <a:avLst/>
          </a:prstGeom>
        </p:spPr>
        <p:txBody>
          <a:bodyPr wrap="square">
            <a:spAutoFit/>
          </a:bodyPr>
          <a:lstStyle/>
          <a:p>
            <a:pPr>
              <a:lnSpc>
                <a:spcPct val="115000"/>
              </a:lnSpc>
            </a:pPr>
            <a:r>
              <a:rPr lang="en-US" sz="1100" b="1" u="sng" dirty="0">
                <a:latin typeface="Palatino Linotype"/>
                <a:ea typeface="Calibri"/>
                <a:cs typeface="Latha"/>
              </a:rPr>
              <a:t>SUB-DIVISION &amp; AMALGAMATION</a:t>
            </a:r>
          </a:p>
          <a:p>
            <a:pPr>
              <a:lnSpc>
                <a:spcPct val="115000"/>
              </a:lnSpc>
            </a:pPr>
            <a:r>
              <a:rPr lang="en-US" sz="1200" dirty="0">
                <a:latin typeface="Palatino Linotype"/>
                <a:ea typeface="Calibri"/>
                <a:cs typeface="Latha"/>
              </a:rPr>
              <a:t>(Section 36 of Registration of Title Act No.21 of 1998)</a:t>
            </a:r>
            <a:endParaRPr lang="en-US" sz="1200" dirty="0">
              <a:latin typeface="Calibri"/>
              <a:ea typeface="Calibri"/>
              <a:cs typeface="Latha"/>
            </a:endParaRPr>
          </a:p>
          <a:p>
            <a:r>
              <a:rPr lang="en-US" sz="1200" dirty="0">
                <a:latin typeface="Palatino Linotype"/>
                <a:ea typeface="Calibri"/>
                <a:cs typeface="Latha"/>
              </a:rPr>
              <a:t>By registering a Plan of </a:t>
            </a:r>
            <a:r>
              <a:rPr lang="en-US" sz="1200" dirty="0" err="1">
                <a:latin typeface="Palatino Linotype"/>
                <a:ea typeface="Calibri"/>
                <a:cs typeface="Latha"/>
              </a:rPr>
              <a:t>redivision</a:t>
            </a:r>
            <a:r>
              <a:rPr lang="en-US" sz="1200" dirty="0">
                <a:latin typeface="Palatino Linotype"/>
                <a:ea typeface="Calibri"/>
                <a:cs typeface="Latha"/>
              </a:rPr>
              <a:t> or amalgamation</a:t>
            </a:r>
            <a:endParaRPr lang="en-US" sz="1200" dirty="0"/>
          </a:p>
        </p:txBody>
      </p:sp>
      <p:sp>
        <p:nvSpPr>
          <p:cNvPr id="3" name="Text Box 1"/>
          <p:cNvSpPr txBox="1">
            <a:spLocks/>
          </p:cNvSpPr>
          <p:nvPr/>
        </p:nvSpPr>
        <p:spPr>
          <a:xfrm>
            <a:off x="4383088" y="742950"/>
            <a:ext cx="1752600" cy="51435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n-US" sz="1100">
                <a:latin typeface="Palatino Linotype"/>
                <a:ea typeface="Calibri"/>
                <a:cs typeface="Latha"/>
              </a:rPr>
              <a:t>OWNER/S</a:t>
            </a:r>
            <a:endParaRPr lang="en-US" sz="1100">
              <a:ea typeface="Calibri"/>
              <a:cs typeface="Latha"/>
            </a:endParaRPr>
          </a:p>
          <a:p>
            <a:pPr algn="ctr">
              <a:lnSpc>
                <a:spcPct val="115000"/>
              </a:lnSpc>
            </a:pPr>
            <a:r>
              <a:rPr lang="en-US" sz="1000">
                <a:latin typeface="Palatino Linotype"/>
                <a:ea typeface="Calibri"/>
                <a:cs typeface="Latha"/>
              </a:rPr>
              <a:t>[S.36(1)]</a:t>
            </a:r>
            <a:endParaRPr lang="en-US" sz="1100">
              <a:ea typeface="Calibri"/>
              <a:cs typeface="Latha"/>
            </a:endParaRPr>
          </a:p>
        </p:txBody>
      </p:sp>
      <p:cxnSp>
        <p:nvCxnSpPr>
          <p:cNvPr id="4" name="Straight Connector 3"/>
          <p:cNvCxnSpPr>
            <a:cxnSpLocks/>
          </p:cNvCxnSpPr>
          <p:nvPr/>
        </p:nvCxnSpPr>
        <p:spPr>
          <a:xfrm flipV="1">
            <a:off x="5935664" y="2197735"/>
            <a:ext cx="1019175" cy="0"/>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p:cNvCxnSpPr>
            <a:cxnSpLocks/>
          </p:cNvCxnSpPr>
          <p:nvPr/>
        </p:nvCxnSpPr>
        <p:spPr>
          <a:xfrm>
            <a:off x="6944678" y="1163320"/>
            <a:ext cx="0" cy="1714500"/>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Arrow Connector 5"/>
          <p:cNvCxnSpPr>
            <a:cxnSpLocks/>
          </p:cNvCxnSpPr>
          <p:nvPr/>
        </p:nvCxnSpPr>
        <p:spPr>
          <a:xfrm>
            <a:off x="6954839" y="1162685"/>
            <a:ext cx="35242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7" name="Straight Arrow Connector 6"/>
          <p:cNvCxnSpPr>
            <a:cxnSpLocks/>
          </p:cNvCxnSpPr>
          <p:nvPr/>
        </p:nvCxnSpPr>
        <p:spPr>
          <a:xfrm>
            <a:off x="6973889" y="1771650"/>
            <a:ext cx="35242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8" name="Straight Arrow Connector 7"/>
          <p:cNvCxnSpPr>
            <a:cxnSpLocks/>
          </p:cNvCxnSpPr>
          <p:nvPr/>
        </p:nvCxnSpPr>
        <p:spPr>
          <a:xfrm>
            <a:off x="6964364" y="2324100"/>
            <a:ext cx="35242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9" name="Straight Arrow Connector 8"/>
          <p:cNvCxnSpPr>
            <a:cxnSpLocks/>
          </p:cNvCxnSpPr>
          <p:nvPr/>
        </p:nvCxnSpPr>
        <p:spPr>
          <a:xfrm>
            <a:off x="6964364" y="2652395"/>
            <a:ext cx="35242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0" name="Straight Arrow Connector 9"/>
          <p:cNvCxnSpPr>
            <a:cxnSpLocks/>
          </p:cNvCxnSpPr>
          <p:nvPr/>
        </p:nvCxnSpPr>
        <p:spPr>
          <a:xfrm>
            <a:off x="5182553" y="1248411"/>
            <a:ext cx="0" cy="33845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11" name="Text Box 13"/>
          <p:cNvSpPr txBox="1">
            <a:spLocks/>
          </p:cNvSpPr>
          <p:nvPr/>
        </p:nvSpPr>
        <p:spPr>
          <a:xfrm>
            <a:off x="3827447" y="1577657"/>
            <a:ext cx="2392045" cy="7239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pPr>
            <a:r>
              <a:rPr lang="en-US" sz="1000">
                <a:latin typeface="Palatino Linotype"/>
                <a:ea typeface="Calibri"/>
                <a:cs typeface="Latha"/>
              </a:rPr>
              <a:t>APPLICATION</a:t>
            </a:r>
            <a:endParaRPr lang="en-US" sz="1100">
              <a:ea typeface="Calibri"/>
              <a:cs typeface="Latha"/>
            </a:endParaRPr>
          </a:p>
          <a:p>
            <a:pPr>
              <a:lnSpc>
                <a:spcPct val="115000"/>
              </a:lnSpc>
            </a:pPr>
            <a:r>
              <a:rPr lang="en-US" sz="1000">
                <a:latin typeface="Palatino Linotype"/>
                <a:ea typeface="Calibri"/>
                <a:cs typeface="Latha"/>
              </a:rPr>
              <a:t>      (for sub-division or amalgamation</a:t>
            </a:r>
            <a:endParaRPr lang="en-US" sz="1100">
              <a:ea typeface="Calibri"/>
              <a:cs typeface="Latha"/>
            </a:endParaRPr>
          </a:p>
          <a:p>
            <a:pPr algn="ctr">
              <a:lnSpc>
                <a:spcPct val="115000"/>
              </a:lnSpc>
            </a:pPr>
            <a:r>
              <a:rPr lang="en-US" sz="1000">
                <a:latin typeface="Palatino Linotype"/>
                <a:ea typeface="Calibri"/>
                <a:cs typeface="Latha"/>
              </a:rPr>
              <a:t>[shall contain a declaration] [s.36 (2)]</a:t>
            </a:r>
            <a:endParaRPr lang="en-US" sz="1100">
              <a:ea typeface="Calibri"/>
              <a:cs typeface="Latha"/>
            </a:endParaRPr>
          </a:p>
        </p:txBody>
      </p:sp>
      <p:cxnSp>
        <p:nvCxnSpPr>
          <p:cNvPr id="12" name="Straight Connector 11"/>
          <p:cNvCxnSpPr>
            <a:cxnSpLocks/>
          </p:cNvCxnSpPr>
          <p:nvPr/>
        </p:nvCxnSpPr>
        <p:spPr>
          <a:xfrm>
            <a:off x="4468178" y="2315211"/>
            <a:ext cx="0" cy="219075"/>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cxnSpLocks/>
          </p:cNvCxnSpPr>
          <p:nvPr/>
        </p:nvCxnSpPr>
        <p:spPr>
          <a:xfrm>
            <a:off x="5639753" y="2315211"/>
            <a:ext cx="0" cy="219075"/>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a:cxnSpLocks/>
          </p:cNvCxnSpPr>
          <p:nvPr/>
        </p:nvCxnSpPr>
        <p:spPr>
          <a:xfrm>
            <a:off x="4249738" y="2533650"/>
            <a:ext cx="1981200" cy="0"/>
          </a:xfrm>
          <a:prstGeom prst="line">
            <a:avLst/>
          </a:prstGeom>
        </p:spPr>
        <p:style>
          <a:lnRef idx="1">
            <a:schemeClr val="dk1"/>
          </a:lnRef>
          <a:fillRef idx="0">
            <a:schemeClr val="dk1"/>
          </a:fillRef>
          <a:effectRef idx="0">
            <a:schemeClr val="dk1"/>
          </a:effectRef>
          <a:fontRef idx="minor">
            <a:schemeClr val="tx1"/>
          </a:fontRef>
        </p:style>
      </p:cxnSp>
      <p:sp>
        <p:nvSpPr>
          <p:cNvPr id="15" name="Text Box 28"/>
          <p:cNvSpPr txBox="1">
            <a:spLocks/>
          </p:cNvSpPr>
          <p:nvPr/>
        </p:nvSpPr>
        <p:spPr>
          <a:xfrm>
            <a:off x="3511869" y="3077210"/>
            <a:ext cx="1649095" cy="55753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000">
                <a:latin typeface="Palatino Linotype"/>
                <a:ea typeface="Calibri"/>
                <a:cs typeface="Latha"/>
              </a:rPr>
              <a:t>    REGISTRAR OF TITLE</a:t>
            </a:r>
            <a:endParaRPr lang="en-US" sz="1100">
              <a:ea typeface="Calibri"/>
              <a:cs typeface="Latha"/>
            </a:endParaRPr>
          </a:p>
          <a:p>
            <a:pPr>
              <a:lnSpc>
                <a:spcPct val="115000"/>
              </a:lnSpc>
            </a:pPr>
            <a:r>
              <a:rPr lang="en-US" sz="1000">
                <a:latin typeface="Palatino Linotype"/>
                <a:ea typeface="Calibri"/>
                <a:cs typeface="Latha"/>
              </a:rPr>
              <a:t>               (RT)</a:t>
            </a:r>
            <a:endParaRPr lang="en-US" sz="1100">
              <a:ea typeface="Calibri"/>
              <a:cs typeface="Latha"/>
            </a:endParaRPr>
          </a:p>
          <a:p>
            <a:pPr>
              <a:lnSpc>
                <a:spcPct val="115000"/>
              </a:lnSpc>
            </a:pPr>
            <a:r>
              <a:rPr lang="en-US" sz="1000">
                <a:latin typeface="Palatino Linotype"/>
                <a:ea typeface="Calibri"/>
                <a:cs typeface="Latha"/>
              </a:rPr>
              <a:t>             </a:t>
            </a:r>
            <a:endParaRPr lang="en-US" sz="1100">
              <a:ea typeface="Calibri"/>
              <a:cs typeface="Latha"/>
            </a:endParaRPr>
          </a:p>
        </p:txBody>
      </p:sp>
      <p:sp>
        <p:nvSpPr>
          <p:cNvPr id="16" name="Text Box 29"/>
          <p:cNvSpPr txBox="1">
            <a:spLocks/>
          </p:cNvSpPr>
          <p:nvPr/>
        </p:nvSpPr>
        <p:spPr>
          <a:xfrm>
            <a:off x="5292409" y="3077211"/>
            <a:ext cx="2009775" cy="43878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000" dirty="0">
                <a:latin typeface="Palatino Linotype"/>
                <a:ea typeface="Calibri"/>
                <a:cs typeface="Latha"/>
              </a:rPr>
              <a:t>Superintendent of Surveyors</a:t>
            </a:r>
            <a:endParaRPr lang="en-US" sz="1100" dirty="0">
              <a:ea typeface="Calibri"/>
              <a:cs typeface="Latha"/>
            </a:endParaRPr>
          </a:p>
          <a:p>
            <a:pPr>
              <a:lnSpc>
                <a:spcPct val="115000"/>
              </a:lnSpc>
            </a:pPr>
            <a:r>
              <a:rPr lang="en-US" sz="1000" dirty="0">
                <a:latin typeface="Palatino Linotype"/>
                <a:ea typeface="Calibri"/>
                <a:cs typeface="Latha"/>
              </a:rPr>
              <a:t>          (SS) [S.36(3)]</a:t>
            </a:r>
            <a:endParaRPr lang="en-US" sz="1100" dirty="0">
              <a:ea typeface="Calibri"/>
              <a:cs typeface="Latha"/>
            </a:endParaRPr>
          </a:p>
          <a:p>
            <a:pPr>
              <a:lnSpc>
                <a:spcPct val="115000"/>
              </a:lnSpc>
            </a:pPr>
            <a:r>
              <a:rPr lang="en-US" sz="1000" dirty="0">
                <a:latin typeface="Palatino Linotype"/>
                <a:ea typeface="Calibri"/>
                <a:cs typeface="Latha"/>
              </a:rPr>
              <a:t> </a:t>
            </a:r>
            <a:endParaRPr lang="en-US" sz="1100" dirty="0">
              <a:ea typeface="Calibri"/>
              <a:cs typeface="Latha"/>
            </a:endParaRPr>
          </a:p>
          <a:p>
            <a:pPr>
              <a:lnSpc>
                <a:spcPct val="115000"/>
              </a:lnSpc>
              <a:spcAft>
                <a:spcPts val="1000"/>
              </a:spcAft>
            </a:pPr>
            <a:r>
              <a:rPr lang="en-US" sz="1100" dirty="0">
                <a:ea typeface="Calibri"/>
                <a:cs typeface="Latha"/>
              </a:rPr>
              <a:t> </a:t>
            </a:r>
          </a:p>
        </p:txBody>
      </p:sp>
      <p:sp>
        <p:nvSpPr>
          <p:cNvPr id="17" name="Text Box 32"/>
          <p:cNvSpPr txBox="1">
            <a:spLocks/>
          </p:cNvSpPr>
          <p:nvPr/>
        </p:nvSpPr>
        <p:spPr>
          <a:xfrm>
            <a:off x="5815013" y="3611246"/>
            <a:ext cx="4378325" cy="48704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dirty="0">
                <a:latin typeface="Palatino Linotype"/>
                <a:ea typeface="Calibri"/>
                <a:cs typeface="Latha"/>
              </a:rPr>
              <a:t>If SS is satisfied, that </a:t>
            </a:r>
            <a:endParaRPr lang="en-US" sz="1100" dirty="0">
              <a:ea typeface="Calibri"/>
              <a:cs typeface="Latha"/>
            </a:endParaRPr>
          </a:p>
          <a:p>
            <a:pPr>
              <a:lnSpc>
                <a:spcPct val="115000"/>
              </a:lnSpc>
            </a:pPr>
            <a:r>
              <a:rPr lang="en-US" sz="1100" dirty="0">
                <a:latin typeface="Palatino Linotype"/>
                <a:ea typeface="Calibri"/>
                <a:cs typeface="Latha"/>
              </a:rPr>
              <a:t>Plan conform to cadastral Map &amp; Regulations </a:t>
            </a:r>
            <a:r>
              <a:rPr lang="en-US" sz="1000" dirty="0">
                <a:latin typeface="Palatino Linotype"/>
                <a:ea typeface="Calibri"/>
                <a:cs typeface="Latha"/>
              </a:rPr>
              <a:t>[Ss.36(3)] </a:t>
            </a:r>
            <a:endParaRPr lang="en-US" sz="1100" dirty="0">
              <a:ea typeface="Calibri"/>
              <a:cs typeface="Latha"/>
            </a:endParaRPr>
          </a:p>
          <a:p>
            <a:pPr indent="-57150">
              <a:lnSpc>
                <a:spcPct val="115000"/>
              </a:lnSpc>
            </a:pPr>
            <a:r>
              <a:rPr lang="en-US" sz="1100" dirty="0">
                <a:latin typeface="Palatino Linotype"/>
                <a:ea typeface="Calibri"/>
                <a:cs typeface="Latha"/>
              </a:rPr>
              <a:t>  </a:t>
            </a:r>
            <a:endParaRPr lang="en-US" sz="1100" dirty="0">
              <a:ea typeface="Calibri"/>
              <a:cs typeface="Latha"/>
            </a:endParaRPr>
          </a:p>
          <a:p>
            <a:pPr indent="-57150" algn="ctr">
              <a:lnSpc>
                <a:spcPct val="115000"/>
              </a:lnSpc>
            </a:pPr>
            <a:r>
              <a:rPr lang="en-US" sz="1100" dirty="0">
                <a:latin typeface="Palatino Linotype"/>
                <a:ea typeface="Calibri"/>
                <a:cs typeface="Latha"/>
              </a:rPr>
              <a:t> </a:t>
            </a:r>
            <a:endParaRPr lang="en-US" sz="1100" dirty="0">
              <a:ea typeface="Calibri"/>
              <a:cs typeface="Latha"/>
            </a:endParaRPr>
          </a:p>
        </p:txBody>
      </p:sp>
      <p:sp>
        <p:nvSpPr>
          <p:cNvPr id="18" name="Text Box 37"/>
          <p:cNvSpPr txBox="1">
            <a:spLocks/>
          </p:cNvSpPr>
          <p:nvPr/>
        </p:nvSpPr>
        <p:spPr>
          <a:xfrm>
            <a:off x="4842829" y="5439411"/>
            <a:ext cx="1958975" cy="29527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100">
                <a:latin typeface="Palatino Linotype"/>
                <a:ea typeface="Calibri"/>
                <a:cs typeface="Latha"/>
              </a:rPr>
              <a:t>REGISTRAR OF TITLE (RT)</a:t>
            </a:r>
            <a:endParaRPr lang="en-US" sz="1100">
              <a:ea typeface="Calibri"/>
              <a:cs typeface="Latha"/>
            </a:endParaRPr>
          </a:p>
        </p:txBody>
      </p:sp>
      <p:sp>
        <p:nvSpPr>
          <p:cNvPr id="19" name="Text Box 39"/>
          <p:cNvSpPr txBox="1">
            <a:spLocks/>
          </p:cNvSpPr>
          <p:nvPr/>
        </p:nvSpPr>
        <p:spPr>
          <a:xfrm>
            <a:off x="5832476" y="4139565"/>
            <a:ext cx="4454525" cy="60706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a:latin typeface="Palatino Linotype"/>
                <a:ea typeface="Calibri"/>
                <a:cs typeface="Latha"/>
              </a:rPr>
              <a:t>AND make necessary amendments showing the sub-division or amalgamation on the cadastral map </a:t>
            </a:r>
            <a:endParaRPr lang="en-US" sz="1100">
              <a:ea typeface="Calibri"/>
              <a:cs typeface="Latha"/>
            </a:endParaRPr>
          </a:p>
          <a:p>
            <a:pPr>
              <a:lnSpc>
                <a:spcPct val="115000"/>
              </a:lnSpc>
              <a:spcAft>
                <a:spcPts val="1000"/>
              </a:spcAft>
            </a:pPr>
            <a:r>
              <a:rPr lang="en-US" sz="1100">
                <a:latin typeface="Palatino Linotype"/>
                <a:ea typeface="Calibri"/>
                <a:cs typeface="Latha"/>
              </a:rPr>
              <a:t>with a Certification on behalf of SG </a:t>
            </a:r>
            <a:r>
              <a:rPr lang="en-US" sz="1000">
                <a:latin typeface="Palatino Linotype"/>
                <a:ea typeface="Calibri"/>
                <a:cs typeface="Latha"/>
              </a:rPr>
              <a:t>[Ss.36(3)]</a:t>
            </a:r>
            <a:endParaRPr lang="en-US" sz="1100">
              <a:ea typeface="Calibri"/>
              <a:cs typeface="Latha"/>
            </a:endParaRPr>
          </a:p>
        </p:txBody>
      </p:sp>
      <p:sp>
        <p:nvSpPr>
          <p:cNvPr id="20" name="Text Box 41"/>
          <p:cNvSpPr txBox="1">
            <a:spLocks/>
          </p:cNvSpPr>
          <p:nvPr/>
        </p:nvSpPr>
        <p:spPr>
          <a:xfrm>
            <a:off x="3180080" y="5824538"/>
            <a:ext cx="2279650" cy="46291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000" dirty="0">
                <a:latin typeface="Palatino Linotype"/>
                <a:ea typeface="Calibri"/>
                <a:cs typeface="Latha"/>
              </a:rPr>
              <a:t>Application &amp; Documents to be filed in the relevant file </a:t>
            </a:r>
            <a:r>
              <a:rPr lang="en-US" sz="800" dirty="0">
                <a:latin typeface="Palatino Linotype"/>
                <a:ea typeface="Calibri"/>
                <a:cs typeface="Latha"/>
              </a:rPr>
              <a:t>[Ss.36(5(b)]</a:t>
            </a:r>
            <a:endParaRPr lang="en-US" sz="1100" dirty="0">
              <a:ea typeface="Calibri"/>
              <a:cs typeface="Latha"/>
            </a:endParaRPr>
          </a:p>
        </p:txBody>
      </p:sp>
      <p:sp>
        <p:nvSpPr>
          <p:cNvPr id="21" name="Text Box 42"/>
          <p:cNvSpPr txBox="1">
            <a:spLocks/>
          </p:cNvSpPr>
          <p:nvPr/>
        </p:nvSpPr>
        <p:spPr>
          <a:xfrm>
            <a:off x="3485199" y="3700145"/>
            <a:ext cx="1844675" cy="488950"/>
          </a:xfrm>
          <a:prstGeom prst="rect">
            <a:avLst/>
          </a:prstGeom>
          <a:solidFill>
            <a:schemeClr val="lt1"/>
          </a:solidFill>
          <a:ln w="6350">
            <a:solidFill>
              <a:schemeClr val="tx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000">
                <a:latin typeface="Palatino Linotype"/>
                <a:ea typeface="Calibri"/>
                <a:cs typeface="Latha"/>
              </a:rPr>
              <a:t>NOTIFY Applicant about the certification of the plan</a:t>
            </a:r>
            <a:endParaRPr lang="en-US" sz="1100">
              <a:ea typeface="Calibri"/>
              <a:cs typeface="Latha"/>
            </a:endParaRPr>
          </a:p>
        </p:txBody>
      </p:sp>
      <p:sp>
        <p:nvSpPr>
          <p:cNvPr id="22" name="Text Box 43"/>
          <p:cNvSpPr txBox="1">
            <a:spLocks/>
          </p:cNvSpPr>
          <p:nvPr/>
        </p:nvSpPr>
        <p:spPr>
          <a:xfrm>
            <a:off x="4129322" y="4233545"/>
            <a:ext cx="854710" cy="292100"/>
          </a:xfrm>
          <a:prstGeom prst="rect">
            <a:avLst/>
          </a:prstGeom>
          <a:solidFill>
            <a:schemeClr val="lt1"/>
          </a:solidFill>
          <a:ln w="6350">
            <a:solidFill>
              <a:schemeClr val="bg1"/>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000" dirty="0">
                <a:latin typeface="Palatino Linotype"/>
                <a:ea typeface="Calibri"/>
                <a:cs typeface="Latha"/>
              </a:rPr>
              <a:t>FORWARD</a:t>
            </a:r>
            <a:endParaRPr lang="en-US" sz="1100" dirty="0">
              <a:ea typeface="Calibri"/>
              <a:cs typeface="Latha"/>
            </a:endParaRPr>
          </a:p>
        </p:txBody>
      </p:sp>
      <p:sp>
        <p:nvSpPr>
          <p:cNvPr id="23" name="Text Box 45"/>
          <p:cNvSpPr txBox="1">
            <a:spLocks/>
          </p:cNvSpPr>
          <p:nvPr/>
        </p:nvSpPr>
        <p:spPr>
          <a:xfrm>
            <a:off x="4277678" y="6430010"/>
            <a:ext cx="3096260" cy="39878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100">
                <a:latin typeface="Palatino Linotype"/>
                <a:ea typeface="Calibri"/>
                <a:cs typeface="Latha"/>
              </a:rPr>
              <a:t>       Register in the Title Register </a:t>
            </a:r>
            <a:endParaRPr lang="en-US" sz="1100">
              <a:ea typeface="Calibri"/>
              <a:cs typeface="Latha"/>
            </a:endParaRPr>
          </a:p>
          <a:p>
            <a:pPr>
              <a:lnSpc>
                <a:spcPct val="115000"/>
              </a:lnSpc>
            </a:pPr>
            <a:r>
              <a:rPr lang="en-US" sz="1100">
                <a:latin typeface="Palatino Linotype"/>
                <a:ea typeface="Calibri"/>
                <a:cs typeface="Latha"/>
              </a:rPr>
              <a:t>  (with cross reference to former) </a:t>
            </a:r>
            <a:r>
              <a:rPr lang="en-US" sz="800">
                <a:latin typeface="Palatino Linotype"/>
                <a:ea typeface="Calibri"/>
                <a:cs typeface="Latha"/>
              </a:rPr>
              <a:t>[S.36.(5)]</a:t>
            </a:r>
            <a:endParaRPr lang="en-US" sz="1100">
              <a:ea typeface="Calibri"/>
              <a:cs typeface="Latha"/>
            </a:endParaRPr>
          </a:p>
        </p:txBody>
      </p:sp>
      <p:sp>
        <p:nvSpPr>
          <p:cNvPr id="24" name="Text Box 8"/>
          <p:cNvSpPr txBox="1">
            <a:spLocks/>
          </p:cNvSpPr>
          <p:nvPr/>
        </p:nvSpPr>
        <p:spPr>
          <a:xfrm>
            <a:off x="7323138" y="533401"/>
            <a:ext cx="2305050" cy="281241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pPr>
            <a:r>
              <a:rPr lang="en-US" sz="1000" u="sng">
                <a:latin typeface="Palatino Linotype"/>
                <a:ea typeface="Calibri"/>
                <a:cs typeface="Latha"/>
              </a:rPr>
              <a:t>DECLARATION </a:t>
            </a:r>
            <a:r>
              <a:rPr lang="en-US" sz="1000">
                <a:latin typeface="Palatino Linotype"/>
                <a:ea typeface="Calibri"/>
                <a:cs typeface="Latha"/>
              </a:rPr>
              <a:t>(S.36(2)</a:t>
            </a:r>
            <a:endParaRPr lang="en-US" sz="1100">
              <a:ea typeface="Calibri"/>
              <a:cs typeface="Latha"/>
            </a:endParaRPr>
          </a:p>
          <a:p>
            <a:pPr marL="342900" indent="-342900">
              <a:lnSpc>
                <a:spcPct val="115000"/>
              </a:lnSpc>
              <a:buSzPts val="1100"/>
              <a:buFont typeface="+mj-lt"/>
              <a:buAutoNum type="arabicPeriod"/>
              <a:tabLst>
                <a:tab pos="285750" algn="l"/>
              </a:tabLst>
            </a:pPr>
            <a:r>
              <a:rPr lang="en-US" sz="1000">
                <a:solidFill>
                  <a:srgbClr val="000000"/>
                </a:solidFill>
                <a:latin typeface="Palatino Linotype"/>
                <a:ea typeface="Times New Roman"/>
                <a:cs typeface="Times New Roman"/>
              </a:rPr>
              <a:t>Particulars of every encumbrance.</a:t>
            </a:r>
            <a:endParaRPr lang="en-US" sz="1100">
              <a:ea typeface="Calibri"/>
              <a:cs typeface="Latha"/>
            </a:endParaRPr>
          </a:p>
          <a:p>
            <a:pPr>
              <a:lnSpc>
                <a:spcPct val="115000"/>
              </a:lnSpc>
            </a:pPr>
            <a:r>
              <a:rPr lang="en-US" sz="1000">
                <a:latin typeface="Palatino Linotype"/>
                <a:ea typeface="Calibri"/>
                <a:cs typeface="Latha"/>
              </a:rPr>
              <a:t>Lis Pendens, seizure. Order or decree (if any)(s.36 (2) (a).</a:t>
            </a:r>
            <a:endParaRPr lang="en-US" sz="1100">
              <a:ea typeface="Calibri"/>
              <a:cs typeface="Latha"/>
            </a:endParaRPr>
          </a:p>
          <a:p>
            <a:pPr>
              <a:lnSpc>
                <a:spcPct val="115000"/>
              </a:lnSpc>
            </a:pPr>
            <a:r>
              <a:rPr lang="en-US" sz="1000">
                <a:latin typeface="Palatino Linotype"/>
                <a:ea typeface="Calibri"/>
                <a:cs typeface="Latha"/>
              </a:rPr>
              <a:t> </a:t>
            </a:r>
            <a:endParaRPr lang="en-US" sz="1100">
              <a:ea typeface="Calibri"/>
              <a:cs typeface="Latha"/>
            </a:endParaRPr>
          </a:p>
          <a:p>
            <a:pPr marL="342900" indent="-342900">
              <a:lnSpc>
                <a:spcPct val="115000"/>
              </a:lnSpc>
              <a:buSzPts val="1100"/>
              <a:buFont typeface="+mj-lt"/>
              <a:buAutoNum type="arabicPeriod"/>
            </a:pPr>
            <a:r>
              <a:rPr lang="en-US" sz="1000">
                <a:latin typeface="Palatino Linotype"/>
                <a:ea typeface="Calibri"/>
                <a:cs typeface="Latha"/>
              </a:rPr>
              <a:t>References to Title Register &amp; Cadastral Map(s.36 (2) (b).</a:t>
            </a:r>
            <a:endParaRPr lang="en-US" sz="1100">
              <a:ea typeface="Calibri"/>
              <a:cs typeface="Latha"/>
            </a:endParaRPr>
          </a:p>
          <a:p>
            <a:pPr marL="457200">
              <a:lnSpc>
                <a:spcPct val="115000"/>
              </a:lnSpc>
            </a:pPr>
            <a:r>
              <a:rPr lang="en-US" sz="1000">
                <a:latin typeface="Palatino Linotype"/>
                <a:ea typeface="Calibri"/>
                <a:cs typeface="Latha"/>
              </a:rPr>
              <a:t> </a:t>
            </a:r>
            <a:endParaRPr lang="en-US" sz="1100">
              <a:ea typeface="Calibri"/>
              <a:cs typeface="Latha"/>
            </a:endParaRPr>
          </a:p>
          <a:p>
            <a:pPr>
              <a:lnSpc>
                <a:spcPct val="115000"/>
              </a:lnSpc>
            </a:pPr>
            <a:r>
              <a:rPr lang="en-US" sz="1000">
                <a:latin typeface="Palatino Linotype"/>
                <a:ea typeface="Calibri"/>
                <a:cs typeface="Latha"/>
              </a:rPr>
              <a:t>A  Survey Plan (made by a private Registered Surveyor)</a:t>
            </a:r>
            <a:endParaRPr lang="en-US" sz="1100">
              <a:ea typeface="Calibri"/>
              <a:cs typeface="Latha"/>
            </a:endParaRPr>
          </a:p>
          <a:p>
            <a:pPr marL="114300">
              <a:lnSpc>
                <a:spcPct val="115000"/>
              </a:lnSpc>
            </a:pPr>
            <a:r>
              <a:rPr lang="en-US" sz="1000">
                <a:latin typeface="Palatino Linotype"/>
                <a:ea typeface="Calibri"/>
                <a:cs typeface="Latha"/>
              </a:rPr>
              <a:t>with reference to Cadastral map (C/Map) &amp;  showing the  proposed</a:t>
            </a:r>
            <a:endParaRPr lang="en-US" sz="1100">
              <a:ea typeface="Calibri"/>
              <a:cs typeface="Latha"/>
            </a:endParaRPr>
          </a:p>
          <a:p>
            <a:pPr>
              <a:lnSpc>
                <a:spcPct val="115000"/>
              </a:lnSpc>
            </a:pPr>
            <a:r>
              <a:rPr lang="en-US" sz="1000">
                <a:latin typeface="Palatino Linotype"/>
                <a:ea typeface="Calibri"/>
                <a:cs typeface="Latha"/>
              </a:rPr>
              <a:t>    sub-division/ amalgamation</a:t>
            </a:r>
            <a:endParaRPr lang="en-US" sz="1100">
              <a:ea typeface="Calibri"/>
              <a:cs typeface="Latha"/>
            </a:endParaRPr>
          </a:p>
          <a:p>
            <a:pPr marL="457200">
              <a:lnSpc>
                <a:spcPct val="115000"/>
              </a:lnSpc>
            </a:pPr>
            <a:r>
              <a:rPr lang="en-US" sz="1000">
                <a:latin typeface="Palatino Linotype"/>
                <a:ea typeface="Calibri"/>
                <a:cs typeface="Latha"/>
              </a:rPr>
              <a:t>                              [s.36 (2) (c)]</a:t>
            </a:r>
            <a:endParaRPr lang="en-US" sz="1100">
              <a:ea typeface="Calibri"/>
              <a:cs typeface="Latha"/>
            </a:endParaRPr>
          </a:p>
          <a:p>
            <a:pPr>
              <a:lnSpc>
                <a:spcPct val="115000"/>
              </a:lnSpc>
            </a:pPr>
            <a:r>
              <a:rPr lang="en-US" sz="1100">
                <a:latin typeface="Palatino Linotype"/>
                <a:ea typeface="Calibri"/>
                <a:cs typeface="Latha"/>
              </a:rPr>
              <a:t> </a:t>
            </a:r>
            <a:endParaRPr lang="en-US" sz="1100">
              <a:ea typeface="Calibri"/>
              <a:cs typeface="Latha"/>
            </a:endParaRPr>
          </a:p>
        </p:txBody>
      </p:sp>
      <p:sp>
        <p:nvSpPr>
          <p:cNvPr id="25" name="Text Box 21"/>
          <p:cNvSpPr txBox="1">
            <a:spLocks/>
          </p:cNvSpPr>
          <p:nvPr/>
        </p:nvSpPr>
        <p:spPr>
          <a:xfrm>
            <a:off x="3354154" y="2620011"/>
            <a:ext cx="819384" cy="278765"/>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900" dirty="0">
                <a:latin typeface="Palatino Linotype"/>
                <a:ea typeface="Calibri"/>
                <a:cs typeface="Latha"/>
              </a:rPr>
              <a:t>ORIGINAL</a:t>
            </a:r>
            <a:endParaRPr lang="en-US" sz="1050" dirty="0">
              <a:ea typeface="Calibri"/>
              <a:cs typeface="Latha"/>
            </a:endParaRPr>
          </a:p>
        </p:txBody>
      </p:sp>
      <p:sp>
        <p:nvSpPr>
          <p:cNvPr id="26" name="Text Box 30"/>
          <p:cNvSpPr txBox="1">
            <a:spLocks/>
          </p:cNvSpPr>
          <p:nvPr/>
        </p:nvSpPr>
        <p:spPr>
          <a:xfrm>
            <a:off x="5292409" y="2581910"/>
            <a:ext cx="640715" cy="342900"/>
          </a:xfrm>
          <a:prstGeom prst="rect">
            <a:avLst/>
          </a:prstGeom>
          <a:solidFill>
            <a:schemeClr val="lt1"/>
          </a:solidFill>
          <a:ln w="6350">
            <a:solidFill>
              <a:prstClr val="black"/>
            </a:solid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1050" dirty="0">
                <a:latin typeface="Palatino Linotype"/>
                <a:ea typeface="Calibri"/>
                <a:cs typeface="Latha"/>
              </a:rPr>
              <a:t>COPY</a:t>
            </a:r>
            <a:endParaRPr lang="en-US" sz="1050" dirty="0">
              <a:ea typeface="Calibri"/>
              <a:cs typeface="Latha"/>
            </a:endParaRPr>
          </a:p>
        </p:txBody>
      </p:sp>
      <p:cxnSp>
        <p:nvCxnSpPr>
          <p:cNvPr id="27" name="Straight Arrow Connector 26"/>
          <p:cNvCxnSpPr>
            <a:cxnSpLocks/>
          </p:cNvCxnSpPr>
          <p:nvPr/>
        </p:nvCxnSpPr>
        <p:spPr>
          <a:xfrm>
            <a:off x="4277678" y="2535556"/>
            <a:ext cx="0" cy="541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a:cxnSpLocks/>
          </p:cNvCxnSpPr>
          <p:nvPr/>
        </p:nvCxnSpPr>
        <p:spPr>
          <a:xfrm>
            <a:off x="6230304" y="2535556"/>
            <a:ext cx="635" cy="541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Text Box 54"/>
          <p:cNvSpPr txBox="1">
            <a:spLocks/>
          </p:cNvSpPr>
          <p:nvPr/>
        </p:nvSpPr>
        <p:spPr>
          <a:xfrm>
            <a:off x="5832475" y="4848860"/>
            <a:ext cx="4454525" cy="521970"/>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100">
                <a:solidFill>
                  <a:srgbClr val="000000"/>
                </a:solidFill>
                <a:latin typeface="Palatino Linotype"/>
                <a:ea typeface="Calibri"/>
                <a:cs typeface="Latha"/>
              </a:rPr>
              <a:t>Original Plan (tended by the Applicant) be filed of record in the office of SS </a:t>
            </a:r>
            <a:r>
              <a:rPr lang="en-US" sz="800">
                <a:solidFill>
                  <a:srgbClr val="000000"/>
                </a:solidFill>
                <a:latin typeface="Palatino Linotype"/>
                <a:ea typeface="Calibri"/>
                <a:cs typeface="Latha"/>
              </a:rPr>
              <a:t>[s.36(4)] </a:t>
            </a:r>
            <a:endParaRPr lang="en-US" sz="1100">
              <a:latin typeface="Calibri"/>
              <a:ea typeface="Calibri"/>
              <a:cs typeface="Latha"/>
            </a:endParaRPr>
          </a:p>
        </p:txBody>
      </p:sp>
      <p:sp>
        <p:nvSpPr>
          <p:cNvPr id="30" name="Text Box 17"/>
          <p:cNvSpPr txBox="1">
            <a:spLocks/>
          </p:cNvSpPr>
          <p:nvPr/>
        </p:nvSpPr>
        <p:spPr>
          <a:xfrm>
            <a:off x="3546158" y="4462145"/>
            <a:ext cx="1790700" cy="767080"/>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15000"/>
              </a:lnSpc>
              <a:spcAft>
                <a:spcPts val="1000"/>
              </a:spcAft>
            </a:pPr>
            <a:r>
              <a:rPr lang="en-US" sz="1100" dirty="0">
                <a:solidFill>
                  <a:srgbClr val="000000"/>
                </a:solidFill>
                <a:latin typeface="Palatino Linotype"/>
                <a:ea typeface="Calibri"/>
                <a:cs typeface="Latha"/>
              </a:rPr>
              <a:t>A copy of the section of cadastral map showing the amendment </a:t>
            </a:r>
            <a:r>
              <a:rPr lang="en-US" sz="800" dirty="0">
                <a:solidFill>
                  <a:srgbClr val="000000"/>
                </a:solidFill>
                <a:latin typeface="Palatino Linotype"/>
                <a:ea typeface="Calibri"/>
                <a:cs typeface="Latha"/>
              </a:rPr>
              <a:t>[s.36(3)] </a:t>
            </a:r>
            <a:endParaRPr lang="en-US" sz="1100" dirty="0">
              <a:latin typeface="Calibri"/>
              <a:ea typeface="Calibri"/>
              <a:cs typeface="Latha"/>
            </a:endParaRPr>
          </a:p>
        </p:txBody>
      </p:sp>
      <p:sp>
        <p:nvSpPr>
          <p:cNvPr id="31" name="Text Box 11"/>
          <p:cNvSpPr txBox="1">
            <a:spLocks/>
          </p:cNvSpPr>
          <p:nvPr/>
        </p:nvSpPr>
        <p:spPr>
          <a:xfrm>
            <a:off x="5933124" y="5771198"/>
            <a:ext cx="4184015" cy="430213"/>
          </a:xfrm>
          <a:prstGeom prst="rect">
            <a:avLst/>
          </a:prstGeom>
          <a:solidFill>
            <a:sysClr val="window" lastClr="FFFFFF"/>
          </a:solidFill>
          <a:ln w="6350">
            <a:solidFill>
              <a:prstClr val="black"/>
            </a:solid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15000"/>
              </a:lnSpc>
              <a:spcAft>
                <a:spcPts val="1000"/>
              </a:spcAft>
            </a:pPr>
            <a:r>
              <a:rPr lang="en-US" sz="900">
                <a:latin typeface="Palatino Linotype"/>
                <a:ea typeface="Calibri"/>
                <a:cs typeface="Latha"/>
              </a:rPr>
              <a:t>On receipt of relevant section of the C/Map from SS if  RT satisfied such app for Sub/Amalgam. conforms the provision of RTA and regulations   [s.36(5)]</a:t>
            </a:r>
            <a:endParaRPr lang="en-US" sz="1100">
              <a:latin typeface="Calibri"/>
              <a:ea typeface="Calibri"/>
              <a:cs typeface="Latha"/>
            </a:endParaRPr>
          </a:p>
        </p:txBody>
      </p:sp>
      <p:cxnSp>
        <p:nvCxnSpPr>
          <p:cNvPr id="32" name="Straight Arrow Connector 31"/>
          <p:cNvCxnSpPr/>
          <p:nvPr/>
        </p:nvCxnSpPr>
        <p:spPr>
          <a:xfrm flipH="1">
            <a:off x="5636579" y="5734685"/>
            <a:ext cx="3175" cy="6959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p:nvPr/>
        </p:nvCxnSpPr>
        <p:spPr>
          <a:xfrm>
            <a:off x="5731828" y="3515995"/>
            <a:ext cx="0" cy="19367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p:nvPr/>
        </p:nvCxnSpPr>
        <p:spPr>
          <a:xfrm flipH="1">
            <a:off x="5292409" y="4086860"/>
            <a:ext cx="438785" cy="1143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33"/>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36" name="Rectangle 51"/>
          <p:cNvSpPr>
            <a:spLocks noChangeArrowheads="1"/>
          </p:cNvSpPr>
          <p:nvPr/>
        </p:nvSpPr>
        <p:spPr bwMode="auto">
          <a:xfrm>
            <a:off x="1524001" y="272534"/>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indent="457200" fontAlgn="base">
              <a:spcBef>
                <a:spcPct val="0"/>
              </a:spcBef>
              <a:spcAft>
                <a:spcPct val="0"/>
              </a:spcAft>
            </a:pPr>
            <a:endParaRPr lang="en-US">
              <a:latin typeface="Arial" pitchFamily="34" charset="0"/>
              <a:cs typeface="Arial" pitchFamily="34" charset="0"/>
            </a:endParaRPr>
          </a:p>
        </p:txBody>
      </p:sp>
    </p:spTree>
    <p:extLst>
      <p:ext uri="{BB962C8B-B14F-4D97-AF65-F5344CB8AC3E}">
        <p14:creationId xmlns:p14="http://schemas.microsoft.com/office/powerpoint/2010/main" val="3199951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FBFB831C-72B3-4000-8389-89D35D71F2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4502" y="443882"/>
            <a:ext cx="4486460" cy="5981947"/>
          </a:xfrm>
          <a:prstGeom prst="rect">
            <a:avLst/>
          </a:prstGeom>
        </p:spPr>
      </p:pic>
      <p:pic>
        <p:nvPicPr>
          <p:cNvPr id="5" name="Picture 4">
            <a:extLst>
              <a:ext uri="{FF2B5EF4-FFF2-40B4-BE49-F238E27FC236}">
                <a16:creationId xmlns="" xmlns:a16="http://schemas.microsoft.com/office/drawing/2014/main" id="{E6304A78-58FC-44EF-A477-E87A4DEC81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9909" y="443882"/>
            <a:ext cx="4486461" cy="5981947"/>
          </a:xfrm>
          <a:prstGeom prst="rect">
            <a:avLst/>
          </a:prstGeom>
        </p:spPr>
      </p:pic>
    </p:spTree>
    <p:extLst>
      <p:ext uri="{BB962C8B-B14F-4D97-AF65-F5344CB8AC3E}">
        <p14:creationId xmlns:p14="http://schemas.microsoft.com/office/powerpoint/2010/main" val="17967465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82023B-5F1C-4F7E-8DD4-AB3280F5B1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7565" y="296045"/>
            <a:ext cx="4699432" cy="6265909"/>
          </a:xfrm>
          <a:prstGeom prst="rect">
            <a:avLst/>
          </a:prstGeom>
        </p:spPr>
      </p:pic>
      <p:pic>
        <p:nvPicPr>
          <p:cNvPr id="5" name="Picture 4">
            <a:extLst>
              <a:ext uri="{FF2B5EF4-FFF2-40B4-BE49-F238E27FC236}">
                <a16:creationId xmlns="" xmlns:a16="http://schemas.microsoft.com/office/drawing/2014/main" id="{6DBFE890-098B-4D8F-8A5B-36D2396A97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68968" y="296043"/>
            <a:ext cx="4699433" cy="6265911"/>
          </a:xfrm>
          <a:prstGeom prst="rect">
            <a:avLst/>
          </a:prstGeom>
        </p:spPr>
      </p:pic>
    </p:spTree>
    <p:extLst>
      <p:ext uri="{BB962C8B-B14F-4D97-AF65-F5344CB8AC3E}">
        <p14:creationId xmlns:p14="http://schemas.microsoft.com/office/powerpoint/2010/main" val="41973295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046FDA72-4E48-4DDF-989B-E9AD2CD9C6DE}"/>
              </a:ext>
            </a:extLst>
          </p:cNvPr>
          <p:cNvSpPr/>
          <p:nvPr/>
        </p:nvSpPr>
        <p:spPr>
          <a:xfrm>
            <a:off x="1382313" y="2967335"/>
            <a:ext cx="9427389"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Functions of a Notary under RTA </a:t>
            </a:r>
          </a:p>
        </p:txBody>
      </p:sp>
    </p:spTree>
    <p:extLst>
      <p:ext uri="{BB962C8B-B14F-4D97-AF65-F5344CB8AC3E}">
        <p14:creationId xmlns:p14="http://schemas.microsoft.com/office/powerpoint/2010/main" val="6777978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5775" y="372577"/>
            <a:ext cx="6096000" cy="4893647"/>
          </a:xfrm>
          <a:prstGeom prst="rect">
            <a:avLst/>
          </a:prstGeom>
        </p:spPr>
        <p:txBody>
          <a:bodyPr>
            <a:spAutoFit/>
          </a:bodyPr>
          <a:lstStyle/>
          <a:p>
            <a:r>
              <a:rPr lang="en-US" sz="2400" dirty="0" smtClean="0"/>
              <a:t>1. Examination </a:t>
            </a:r>
            <a:r>
              <a:rPr lang="en-US" sz="2400" dirty="0"/>
              <a:t>of Title</a:t>
            </a:r>
          </a:p>
          <a:p>
            <a:endParaRPr lang="en-US" dirty="0"/>
          </a:p>
          <a:p>
            <a:r>
              <a:rPr lang="en-US" dirty="0"/>
              <a:t>Section 34 – inspection of title registers and cadastral maps</a:t>
            </a:r>
          </a:p>
          <a:p>
            <a:endParaRPr lang="en-US" dirty="0"/>
          </a:p>
          <a:p>
            <a:r>
              <a:rPr lang="en-US" dirty="0"/>
              <a:t>Section 35 – certification by Registrar to be prima facie evidence</a:t>
            </a:r>
          </a:p>
          <a:p>
            <a:endParaRPr lang="en-US" dirty="0"/>
          </a:p>
          <a:p>
            <a:r>
              <a:rPr lang="en-US" dirty="0"/>
              <a:t>Section 37 -  certificate of title form conclusive evidence of the title to such interest.</a:t>
            </a:r>
          </a:p>
          <a:p>
            <a:endParaRPr lang="en-US" dirty="0"/>
          </a:p>
          <a:p>
            <a:r>
              <a:rPr lang="en-US" dirty="0"/>
              <a:t>Section 38 – Interest in a land parcel is not acquired unless such title or interest is registered under the provisions of this Act.</a:t>
            </a:r>
          </a:p>
          <a:p>
            <a:endParaRPr lang="en-US" dirty="0"/>
          </a:p>
          <a:p>
            <a:r>
              <a:rPr lang="en-US" dirty="0"/>
              <a:t>Section 42 – Prior title</a:t>
            </a:r>
          </a:p>
          <a:p>
            <a:endParaRPr lang="en-US" dirty="0"/>
          </a:p>
          <a:p>
            <a:r>
              <a:rPr lang="en-US" dirty="0"/>
              <a:t>Section 49 – Instrument to take effect on registration</a:t>
            </a:r>
            <a:endParaRPr lang="en-US" dirty="0"/>
          </a:p>
        </p:txBody>
      </p:sp>
    </p:spTree>
    <p:extLst>
      <p:ext uri="{BB962C8B-B14F-4D97-AF65-F5344CB8AC3E}">
        <p14:creationId xmlns:p14="http://schemas.microsoft.com/office/powerpoint/2010/main" val="39162602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8225" y="480757"/>
            <a:ext cx="9658349" cy="5146537"/>
          </a:xfrm>
          <a:prstGeom prst="rect">
            <a:avLst/>
          </a:prstGeom>
        </p:spPr>
        <p:txBody>
          <a:bodyPr wrap="square">
            <a:spAutoFit/>
          </a:bodyPr>
          <a:lstStyle/>
          <a:p>
            <a:pPr>
              <a:lnSpc>
                <a:spcPct val="115000"/>
              </a:lnSpc>
              <a:spcAft>
                <a:spcPts val="1000"/>
              </a:spcAft>
            </a:pPr>
            <a:r>
              <a:rPr lang="en-US" sz="1400" b="1" u="sng"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EXAMINATION OF TITLE – Part II</a:t>
            </a:r>
          </a:p>
          <a:p>
            <a:pPr>
              <a:spcAft>
                <a:spcPts val="1000"/>
              </a:spcAft>
            </a:pPr>
            <a:r>
              <a:rPr lang="en-US" sz="1200" b="1" u="sng" dirty="0" smtClean="0">
                <a:solidFill>
                  <a:srgbClr val="000099"/>
                </a:solidFill>
                <a:latin typeface="Palatino Linotype" panose="02040502050505030304" pitchFamily="18" charset="0"/>
                <a:ea typeface="Times New Roman" panose="02020603050405020304" pitchFamily="18" charset="0"/>
                <a:cs typeface="Latha" panose="020B0604020202020204" pitchFamily="34" charset="0"/>
              </a:rPr>
              <a:t>CHECK LIST </a:t>
            </a:r>
            <a:endParaRPr lang="en-US" sz="1600" b="1" u="sng" dirty="0" smtClean="0">
              <a:latin typeface="Palatino Linotype" panose="02040502050505030304" pitchFamily="18" charset="0"/>
              <a:ea typeface="Times New Roman" panose="02020603050405020304" pitchFamily="18" charset="0"/>
              <a:cs typeface="Latha" panose="020B0604020202020204" pitchFamily="34" charset="0"/>
            </a:endParaRPr>
          </a:p>
          <a:p>
            <a:pPr marL="342900" marR="0" lvl="0" indent="-342900">
              <a:spcBef>
                <a:spcPts val="0"/>
              </a:spcBef>
              <a:spcAft>
                <a:spcPts val="0"/>
              </a:spcAft>
              <a:buFont typeface="Courier New" panose="02070309020205020404" pitchFamily="49" charset="0"/>
              <a:buAutoNum type="arabicPeriod"/>
            </a:pPr>
            <a:r>
              <a:rPr lang="en-US" sz="1100" b="1" dirty="0" smtClean="0">
                <a:solidFill>
                  <a:srgbClr val="000099"/>
                </a:solidFill>
                <a:latin typeface="Palatino Linotype" panose="02040502050505030304" pitchFamily="18" charset="0"/>
                <a:ea typeface="Times New Roman" panose="02020603050405020304" pitchFamily="18" charset="0"/>
                <a:cs typeface="Latha" panose="020B0604020202020204" pitchFamily="34" charset="0"/>
              </a:rPr>
              <a:t>Original </a:t>
            </a: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Title Certificate </a:t>
            </a:r>
            <a:endParaRPr lang="en-US" sz="1400" b="1" dirty="0">
              <a:latin typeface="Palatino Linotype" panose="0204050205050503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Original approved survey Plan</a:t>
            </a:r>
            <a:endParaRPr lang="en-US" sz="1400" b="1" dirty="0">
              <a:latin typeface="Palatino Linotype" panose="0204050205050503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Cadastral Map &amp; CD</a:t>
            </a:r>
            <a:endParaRPr lang="en-US" sz="1400" b="1" dirty="0">
              <a:latin typeface="Palatino Linotype" panose="0204050205050503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0"/>
              </a:spcAft>
              <a:buFont typeface="Courier New" panose="02070309020205020404" pitchFamily="49" charset="0"/>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Encumbrances</a:t>
            </a:r>
            <a:endParaRPr lang="en-US" sz="1400" b="1" dirty="0">
              <a:latin typeface="Palatino Linotype" panose="02040502050505030304" pitchFamily="18" charset="0"/>
              <a:ea typeface="Times New Roman" panose="02020603050405020304" pitchFamily="18" charset="0"/>
              <a:cs typeface="Times New Roman" panose="02020603050405020304" pitchFamily="18" charset="0"/>
            </a:endParaRPr>
          </a:p>
          <a:p>
            <a:pPr marL="742950" marR="0" lvl="1" indent="-285750">
              <a:spcBef>
                <a:spcPts val="0"/>
              </a:spcBef>
              <a:spcAft>
                <a:spcPts val="0"/>
              </a:spcAft>
              <a:buFont typeface="+mj-lt"/>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unexpired leases</a:t>
            </a:r>
            <a:endParaRPr lang="en-US" sz="1400" b="1" dirty="0">
              <a:latin typeface="Palatino Linotype" panose="02040502050505030304" pitchFamily="18" charset="0"/>
              <a:ea typeface="Times New Roman" panose="02020603050405020304" pitchFamily="18" charset="0"/>
              <a:cs typeface="Latha" panose="020B0604020202020204" pitchFamily="34" charset="0"/>
            </a:endParaRPr>
          </a:p>
          <a:p>
            <a:pPr marL="742950" marR="0" lvl="1" indent="-285750">
              <a:spcBef>
                <a:spcPts val="0"/>
              </a:spcBef>
              <a:spcAft>
                <a:spcPts val="0"/>
              </a:spcAft>
              <a:buFont typeface="+mj-lt"/>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cancelled/ un settled mortgage bonds</a:t>
            </a:r>
            <a:endParaRPr lang="en-US" sz="1400" b="1" dirty="0">
              <a:latin typeface="Palatino Linotype" panose="02040502050505030304" pitchFamily="18" charset="0"/>
              <a:ea typeface="Times New Roman" panose="02020603050405020304" pitchFamily="18" charset="0"/>
              <a:cs typeface="Latha" panose="020B0604020202020204" pitchFamily="34" charset="0"/>
            </a:endParaRPr>
          </a:p>
          <a:p>
            <a:pPr marL="742950" marR="0" lvl="1" indent="-285750">
              <a:spcBef>
                <a:spcPts val="0"/>
              </a:spcBef>
              <a:spcAft>
                <a:spcPts val="0"/>
              </a:spcAft>
              <a:buFont typeface="+mj-lt"/>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existing contracts</a:t>
            </a:r>
            <a:endParaRPr lang="en-US" sz="1400" b="1" dirty="0">
              <a:latin typeface="Palatino Linotype" panose="02040502050505030304" pitchFamily="18" charset="0"/>
              <a:ea typeface="Times New Roman" panose="02020603050405020304" pitchFamily="18" charset="0"/>
              <a:cs typeface="Latha" panose="020B0604020202020204" pitchFamily="34" charset="0"/>
            </a:endParaRPr>
          </a:p>
          <a:p>
            <a:pPr marL="742950" marR="0" lvl="1" indent="-285750">
              <a:spcBef>
                <a:spcPts val="0"/>
              </a:spcBef>
              <a:spcAft>
                <a:spcPts val="0"/>
              </a:spcAft>
              <a:buFont typeface="+mj-lt"/>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 Notices Caveats/ Seizure/ Priority/ lis pendens/ Seizure priority</a:t>
            </a:r>
            <a:endParaRPr lang="en-US" sz="1400" b="1" dirty="0">
              <a:latin typeface="Palatino Linotype" panose="02040502050505030304" pitchFamily="18" charset="0"/>
              <a:ea typeface="Times New Roman" panose="02020603050405020304" pitchFamily="18" charset="0"/>
              <a:cs typeface="Latha" panose="020B0604020202020204" pitchFamily="34" charset="0"/>
            </a:endParaRPr>
          </a:p>
          <a:p>
            <a:pPr marL="742950" marR="0" lvl="1" indent="-285750">
              <a:spcBef>
                <a:spcPts val="0"/>
              </a:spcBef>
              <a:spcAft>
                <a:spcPts val="0"/>
              </a:spcAft>
              <a:buFont typeface="+mj-lt"/>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  </a:t>
            </a:r>
            <a:endParaRPr lang="en-US" sz="1400" b="1" dirty="0">
              <a:latin typeface="Palatino Linotype" panose="02040502050505030304" pitchFamily="18" charset="0"/>
              <a:ea typeface="Times New Roman" panose="02020603050405020304" pitchFamily="18" charset="0"/>
              <a:cs typeface="Latha" panose="020B0604020202020204" pitchFamily="34" charset="0"/>
            </a:endParaRPr>
          </a:p>
          <a:p>
            <a:pPr marL="342900" marR="0" lvl="0" indent="-342900">
              <a:spcBef>
                <a:spcPts val="0"/>
              </a:spcBef>
              <a:spcAft>
                <a:spcPts val="0"/>
              </a:spcAft>
              <a:buFont typeface="Courier New" panose="02070309020205020404" pitchFamily="49" charset="0"/>
              <a:buAutoNum type="arabicPeriod"/>
            </a:pPr>
            <a:r>
              <a:rPr lang="en-US" sz="1100" b="1" dirty="0">
                <a:solidFill>
                  <a:srgbClr val="000099"/>
                </a:solidFill>
                <a:latin typeface="Palatino Linotype" panose="02040502050505030304" pitchFamily="18" charset="0"/>
                <a:ea typeface="Times New Roman" panose="02020603050405020304" pitchFamily="18" charset="0"/>
                <a:cs typeface="Latha" panose="020B0604020202020204" pitchFamily="34" charset="0"/>
              </a:rPr>
              <a:t>       (</a:t>
            </a: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a)Petition</a:t>
            </a:r>
            <a:b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b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(b). Affidavit</a:t>
            </a:r>
            <a:b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b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(c). Letters of Administration</a:t>
            </a:r>
            <a:b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b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(d). Inventory</a:t>
            </a:r>
            <a:b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b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(e). Final Accounts</a:t>
            </a:r>
            <a:b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b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(f). Scheme of Distribution if any</a:t>
            </a:r>
            <a:b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b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(g). Last Journal Entry showing termination of proceedings</a:t>
            </a:r>
            <a:endParaRPr lang="en-US" sz="1400" b="1" dirty="0">
              <a:latin typeface="Palatino Linotype" panose="0204050205050503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1000"/>
              </a:spcAft>
              <a:buFont typeface="Courier New" panose="02070309020205020404" pitchFamily="49" charset="0"/>
              <a:buAutoNum type="arabicPeriod"/>
            </a:pPr>
            <a:r>
              <a:rPr lang="en-US" sz="1100" b="1" dirty="0" smtClean="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  Utility </a:t>
            </a:r>
            <a:r>
              <a:rPr lang="en-US" sz="1100" b="1" dirty="0">
                <a:solidFill>
                  <a:srgbClr val="000099"/>
                </a:solidFill>
                <a:latin typeface="Palatino Linotype" panose="02040502050505030304" pitchFamily="18" charset="0"/>
                <a:ea typeface="Times New Roman" panose="02020603050405020304" pitchFamily="18" charset="0"/>
                <a:cs typeface="Times New Roman" panose="02020603050405020304" pitchFamily="18" charset="0"/>
              </a:rPr>
              <a:t>bills </a:t>
            </a:r>
            <a:endParaRPr lang="en-US" sz="1400" b="1" dirty="0">
              <a:latin typeface="Palatino Linotype" panose="02040502050505030304" pitchFamily="18" charset="0"/>
              <a:ea typeface="Times New Roman" panose="02020603050405020304" pitchFamily="18" charset="0"/>
              <a:cs typeface="Times New Roman" panose="02020603050405020304" pitchFamily="18" charset="0"/>
            </a:endParaRPr>
          </a:p>
          <a:p>
            <a:pPr>
              <a:spcAft>
                <a:spcPts val="1000"/>
              </a:spcAft>
            </a:pPr>
            <a:r>
              <a:rPr lang="en-US" sz="1100" b="1" dirty="0" smtClean="0">
                <a:solidFill>
                  <a:srgbClr val="000099"/>
                </a:solidFill>
                <a:latin typeface="Palatino Linotype" panose="02040502050505030304" pitchFamily="18" charset="0"/>
                <a:ea typeface="Times New Roman" panose="02020603050405020304" pitchFamily="18" charset="0"/>
                <a:cs typeface="Latha" panose="020B0604020202020204" pitchFamily="34" charset="0"/>
              </a:rPr>
              <a:t>7. </a:t>
            </a: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If the Owner is an incorporated body</a:t>
            </a:r>
          </a:p>
          <a:p>
            <a:pPr>
              <a:spcAft>
                <a:spcPts val="1000"/>
              </a:spcAft>
            </a:pP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  1.Certificate </a:t>
            </a:r>
            <a:r>
              <a:rPr lang="en-US" sz="11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rPr>
              <a:t>of </a:t>
            </a: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Incorporation. 2 </a:t>
            </a:r>
            <a:r>
              <a:rPr lang="en-US" sz="11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rPr>
              <a:t>Memorandum &amp; Articles of </a:t>
            </a: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Association 3.Form 1 and 15 ( or 40) 3. NIC’s of  </a:t>
            </a:r>
            <a:r>
              <a:rPr lang="en-US" sz="11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rPr>
              <a:t>directors of the </a:t>
            </a: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company 4. Photographs  </a:t>
            </a:r>
          </a:p>
          <a:p>
            <a:pPr>
              <a:spcAft>
                <a:spcPts val="1000"/>
              </a:spcAft>
            </a:pPr>
            <a:r>
              <a:rPr lang="en-US" sz="11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rPr>
              <a:t> </a:t>
            </a: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   of  executants</a:t>
            </a:r>
            <a:r>
              <a:rPr lang="en-US" sz="11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rPr>
              <a:t>   </a:t>
            </a:r>
            <a:r>
              <a:rPr lang="en-US" sz="1100" b="1" dirty="0" smtClean="0">
                <a:solidFill>
                  <a:srgbClr val="FF0000"/>
                </a:solidFill>
                <a:latin typeface="Palatino Linotype" panose="02040502050505030304" pitchFamily="18" charset="0"/>
                <a:ea typeface="Times New Roman" panose="02020603050405020304" pitchFamily="18" charset="0"/>
                <a:cs typeface="Latha" panose="020B0604020202020204" pitchFamily="34" charset="0"/>
              </a:rPr>
              <a:t>5. company seal , Director seal 6.Resolution </a:t>
            </a:r>
            <a:r>
              <a:rPr lang="en-US" sz="11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rPr>
              <a:t>to sell the land </a:t>
            </a:r>
            <a:endParaRPr lang="en-US" sz="1400" b="1" dirty="0">
              <a:solidFill>
                <a:srgbClr val="FF0000"/>
              </a:solidFill>
              <a:latin typeface="Palatino Linotype" panose="02040502050505030304" pitchFamily="18" charset="0"/>
              <a:ea typeface="Times New Roman" panose="02020603050405020304" pitchFamily="18" charset="0"/>
              <a:cs typeface="Latha" panose="020B0604020202020204" pitchFamily="34" charset="0"/>
            </a:endParaRPr>
          </a:p>
          <a:p>
            <a:pPr>
              <a:spcAft>
                <a:spcPts val="1000"/>
              </a:spcAft>
            </a:pPr>
            <a:r>
              <a:rPr lang="en-US" sz="1100" b="1" dirty="0" smtClean="0">
                <a:solidFill>
                  <a:srgbClr val="2A2A2A"/>
                </a:solidFill>
                <a:latin typeface="Palatino Linotype" panose="02040502050505030304" pitchFamily="18" charset="0"/>
                <a:ea typeface="Times New Roman" panose="02020603050405020304" pitchFamily="18" charset="0"/>
                <a:cs typeface="Latha" panose="020B0604020202020204" pitchFamily="34" charset="0"/>
              </a:rPr>
              <a:t>8</a:t>
            </a:r>
            <a:r>
              <a:rPr lang="en-US" sz="1100" b="1" dirty="0" smtClean="0">
                <a:solidFill>
                  <a:srgbClr val="00B050"/>
                </a:solidFill>
                <a:latin typeface="Palatino Linotype" panose="02040502050505030304" pitchFamily="18" charset="0"/>
                <a:ea typeface="Times New Roman" panose="02020603050405020304" pitchFamily="18" charset="0"/>
                <a:cs typeface="Latha" panose="020B0604020202020204" pitchFamily="34" charset="0"/>
              </a:rPr>
              <a:t>. Local Authority certificates </a:t>
            </a:r>
          </a:p>
          <a:p>
            <a:pPr>
              <a:spcAft>
                <a:spcPts val="1000"/>
              </a:spcAft>
            </a:pPr>
            <a:r>
              <a:rPr lang="en-US" sz="1100" b="1" dirty="0" smtClean="0">
                <a:solidFill>
                  <a:srgbClr val="00B050"/>
                </a:solidFill>
                <a:latin typeface="Palatino Linotype" panose="02040502050505030304" pitchFamily="18" charset="0"/>
                <a:ea typeface="Times New Roman" panose="02020603050405020304" pitchFamily="18" charset="0"/>
                <a:cs typeface="Latha" panose="020B0604020202020204" pitchFamily="34" charset="0"/>
              </a:rPr>
              <a:t>     1.street </a:t>
            </a:r>
            <a:r>
              <a:rPr lang="en-US" sz="1100" b="1" dirty="0">
                <a:solidFill>
                  <a:srgbClr val="00B050"/>
                </a:solidFill>
                <a:latin typeface="Palatino Linotype" panose="02040502050505030304" pitchFamily="18" charset="0"/>
                <a:ea typeface="Times New Roman" panose="02020603050405020304" pitchFamily="18" charset="0"/>
                <a:cs typeface="Latha" panose="020B0604020202020204" pitchFamily="34" charset="0"/>
              </a:rPr>
              <a:t>line </a:t>
            </a:r>
            <a:r>
              <a:rPr lang="en-US" sz="1100" b="1" dirty="0" smtClean="0">
                <a:solidFill>
                  <a:srgbClr val="00B050"/>
                </a:solidFill>
                <a:latin typeface="Palatino Linotype" panose="02040502050505030304" pitchFamily="18" charset="0"/>
                <a:ea typeface="Times New Roman" panose="02020603050405020304" pitchFamily="18" charset="0"/>
                <a:cs typeface="Latha" panose="020B0604020202020204" pitchFamily="34" charset="0"/>
              </a:rPr>
              <a:t>, building line , ownership and </a:t>
            </a:r>
            <a:r>
              <a:rPr lang="en-US" sz="1100" b="1" dirty="0">
                <a:solidFill>
                  <a:srgbClr val="00B050"/>
                </a:solidFill>
                <a:latin typeface="Palatino Linotype" panose="02040502050505030304" pitchFamily="18" charset="0"/>
                <a:ea typeface="Times New Roman" panose="02020603050405020304" pitchFamily="18" charset="0"/>
                <a:cs typeface="Latha" panose="020B0604020202020204" pitchFamily="34" charset="0"/>
              </a:rPr>
              <a:t>non-vesting </a:t>
            </a:r>
            <a:r>
              <a:rPr lang="en-US" sz="1100" b="1" dirty="0" smtClean="0">
                <a:solidFill>
                  <a:srgbClr val="00B050"/>
                </a:solidFill>
                <a:latin typeface="Palatino Linotype" panose="02040502050505030304" pitchFamily="18" charset="0"/>
                <a:ea typeface="Times New Roman" panose="02020603050405020304" pitchFamily="18" charset="0"/>
                <a:cs typeface="Latha" panose="020B0604020202020204" pitchFamily="34" charset="0"/>
              </a:rPr>
              <a:t>certificate 2. if there is a building –approved building plan &amp; Certificate of Conformity</a:t>
            </a:r>
            <a:endParaRPr lang="en-US" sz="1400" b="1" dirty="0">
              <a:solidFill>
                <a:srgbClr val="00B050"/>
              </a:solidFill>
              <a:latin typeface="Palatino Linotype" panose="02040502050505030304" pitchFamily="18" charset="0"/>
              <a:ea typeface="Times New Roman" panose="02020603050405020304" pitchFamily="18" charset="0"/>
              <a:cs typeface="Latha" panose="020B0604020202020204" pitchFamily="34" charset="0"/>
            </a:endParaRPr>
          </a:p>
        </p:txBody>
      </p:sp>
    </p:spTree>
    <p:extLst>
      <p:ext uri="{BB962C8B-B14F-4D97-AF65-F5344CB8AC3E}">
        <p14:creationId xmlns:p14="http://schemas.microsoft.com/office/powerpoint/2010/main" val="951569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583397AC-D836-412A-AD8C-B4162F8234A9}"/>
              </a:ext>
            </a:extLst>
          </p:cNvPr>
          <p:cNvSpPr txBox="1"/>
          <p:nvPr/>
        </p:nvSpPr>
        <p:spPr>
          <a:xfrm>
            <a:off x="443883" y="206432"/>
            <a:ext cx="11097087" cy="7386638"/>
          </a:xfrm>
          <a:prstGeom prst="rect">
            <a:avLst/>
          </a:prstGeom>
          <a:noFill/>
        </p:spPr>
        <p:txBody>
          <a:bodyPr wrap="square" rtlCol="0">
            <a:spAutoFit/>
          </a:bodyPr>
          <a:lstStyle/>
          <a:p>
            <a:r>
              <a:rPr lang="en-US" sz="2400" dirty="0" smtClean="0"/>
              <a:t>2. </a:t>
            </a:r>
            <a:r>
              <a:rPr lang="en-US" sz="2400" dirty="0" smtClean="0"/>
              <a:t>Drafting</a:t>
            </a:r>
            <a:endParaRPr lang="en-US" sz="2400" dirty="0"/>
          </a:p>
          <a:p>
            <a:endParaRPr lang="en-US" dirty="0"/>
          </a:p>
          <a:p>
            <a:r>
              <a:rPr lang="en-US" dirty="0"/>
              <a:t>Section 28 – no entries shall be made in respect of transactions relating to land parcels registered under this act in the Land Registers maintained under the RDO.</a:t>
            </a:r>
          </a:p>
          <a:p>
            <a:endParaRPr lang="en-US" dirty="0"/>
          </a:p>
          <a:p>
            <a:r>
              <a:rPr lang="en-US" dirty="0"/>
              <a:t>Section 39 – every land parcel, title to which has been registered under this act, or any interest therein shall be transferred or dealt according to the provisions of this act.</a:t>
            </a:r>
          </a:p>
          <a:p>
            <a:endParaRPr lang="en-US" dirty="0"/>
          </a:p>
          <a:p>
            <a:r>
              <a:rPr lang="en-US" dirty="0"/>
              <a:t>Section 43 (1) – every instrument conveying title or any interest in a land parcel presented for registration shall use the form prescribed in the RTA.</a:t>
            </a:r>
          </a:p>
          <a:p>
            <a:endParaRPr lang="en-US" dirty="0"/>
          </a:p>
          <a:p>
            <a:r>
              <a:rPr lang="en-US" dirty="0"/>
              <a:t>Section 46 – The Registrar of Title not to register instrument conveying title in future.</a:t>
            </a:r>
          </a:p>
          <a:p>
            <a:endParaRPr lang="en-US" dirty="0"/>
          </a:p>
          <a:p>
            <a:r>
              <a:rPr lang="en-US" dirty="0"/>
              <a:t>Section 47 - No part of land that has been registered with a First Class or Second Class Title of Ownership can be transferred or handled in any way unless the registered owner first divides the land into smaller parcels and registers these new parcels under this Act.</a:t>
            </a:r>
          </a:p>
          <a:p>
            <a:endParaRPr lang="en-US" dirty="0"/>
          </a:p>
          <a:p>
            <a:r>
              <a:rPr lang="en-US" dirty="0"/>
              <a:t>Section 48 – Instrument conferring co-ownership is invalid</a:t>
            </a:r>
          </a:p>
          <a:p>
            <a:endParaRPr lang="en-US" dirty="0"/>
          </a:p>
          <a:p>
            <a:r>
              <a:rPr lang="en-US" dirty="0"/>
              <a:t>Section 57 – Prescription Ordinance does not apply</a:t>
            </a:r>
          </a:p>
          <a:p>
            <a:endParaRPr lang="en-US" dirty="0"/>
          </a:p>
          <a:p>
            <a:r>
              <a:rPr lang="en-US" dirty="0"/>
              <a:t>Section 63 – Partition Act does not apply</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8784118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2925" y="462716"/>
            <a:ext cx="8115300" cy="2817694"/>
          </a:xfrm>
          <a:prstGeom prst="rect">
            <a:avLst/>
          </a:prstGeom>
        </p:spPr>
        <p:txBody>
          <a:bodyPr wrap="square">
            <a:spAutoFit/>
          </a:bodyPr>
          <a:lstStyle/>
          <a:p>
            <a:pPr lvl="0" algn="just">
              <a:lnSpc>
                <a:spcPct val="115000"/>
              </a:lnSpc>
            </a:pPr>
            <a:r>
              <a:rPr lang="en-US" sz="2800" b="1" u="sng" dirty="0" smtClean="0">
                <a:solidFill>
                  <a:srgbClr val="FFFF99">
                    <a:lumMod val="10000"/>
                  </a:srgbClr>
                </a:solidFill>
                <a:latin typeface="Monotype Corsiva"/>
                <a:ea typeface="Calibri"/>
                <a:cs typeface="Latha"/>
              </a:rPr>
              <a:t>Drafting Part II -Forms -Refer Gazettes</a:t>
            </a:r>
          </a:p>
          <a:p>
            <a:pPr lvl="0" algn="just">
              <a:lnSpc>
                <a:spcPct val="115000"/>
              </a:lnSpc>
            </a:pPr>
            <a:endParaRPr lang="en-US" sz="2800" b="1" u="sng" dirty="0" smtClean="0">
              <a:solidFill>
                <a:srgbClr val="FFFF99">
                  <a:lumMod val="10000"/>
                </a:srgbClr>
              </a:solidFill>
              <a:latin typeface="Monotype Corsiva"/>
              <a:ea typeface="Calibri"/>
              <a:cs typeface="Latha"/>
            </a:endParaRPr>
          </a:p>
          <a:p>
            <a:pPr marL="457200" lvl="0" indent="-457200" algn="just">
              <a:lnSpc>
                <a:spcPct val="115000"/>
              </a:lnSpc>
              <a:buAutoNum type="arabicPeriod"/>
            </a:pPr>
            <a:r>
              <a:rPr lang="en-US" sz="2000" b="1" dirty="0" smtClean="0">
                <a:solidFill>
                  <a:srgbClr val="FFFF99">
                    <a:lumMod val="10000"/>
                  </a:srgbClr>
                </a:solidFill>
                <a:latin typeface="Monotype Corsiva"/>
                <a:ea typeface="Calibri"/>
                <a:cs typeface="Latha"/>
              </a:rPr>
              <a:t>The Gazette (Extra Ordinary) No.1050/10 of 21/10/1998</a:t>
            </a:r>
          </a:p>
          <a:p>
            <a:pPr marL="457200" lvl="0" indent="-457200" algn="just">
              <a:lnSpc>
                <a:spcPct val="115000"/>
              </a:lnSpc>
              <a:buAutoNum type="arabicPeriod"/>
            </a:pPr>
            <a:r>
              <a:rPr lang="en-US" sz="2000" b="1" dirty="0">
                <a:solidFill>
                  <a:srgbClr val="FFFF99">
                    <a:lumMod val="10000"/>
                  </a:srgbClr>
                </a:solidFill>
                <a:latin typeface="Monotype Corsiva"/>
                <a:ea typeface="Calibri"/>
                <a:cs typeface="Latha"/>
              </a:rPr>
              <a:t>The Gazette (Extra Ordinary </a:t>
            </a:r>
            <a:r>
              <a:rPr lang="en-US" sz="2000" b="1" dirty="0" smtClean="0">
                <a:solidFill>
                  <a:srgbClr val="FFFF99">
                    <a:lumMod val="10000"/>
                  </a:srgbClr>
                </a:solidFill>
                <a:latin typeface="Monotype Corsiva"/>
                <a:ea typeface="Calibri"/>
                <a:cs typeface="Latha"/>
              </a:rPr>
              <a:t>No.1886/58 of 31/10/2014</a:t>
            </a:r>
          </a:p>
          <a:p>
            <a:pPr marL="457200" lvl="0" indent="-457200" algn="just">
              <a:lnSpc>
                <a:spcPct val="115000"/>
              </a:lnSpc>
              <a:buAutoNum type="arabicPeriod"/>
            </a:pPr>
            <a:r>
              <a:rPr lang="en-US" sz="2000" b="1" dirty="0">
                <a:solidFill>
                  <a:srgbClr val="FFFF99">
                    <a:lumMod val="10000"/>
                  </a:srgbClr>
                </a:solidFill>
                <a:latin typeface="Monotype Corsiva"/>
                <a:ea typeface="Calibri"/>
                <a:cs typeface="Latha"/>
              </a:rPr>
              <a:t>The Gazette (Extra Ordinary </a:t>
            </a:r>
            <a:r>
              <a:rPr lang="en-US" sz="2000" b="1" dirty="0" smtClean="0">
                <a:solidFill>
                  <a:srgbClr val="FFFF99">
                    <a:lumMod val="10000"/>
                  </a:srgbClr>
                </a:solidFill>
                <a:latin typeface="Monotype Corsiva"/>
                <a:ea typeface="Calibri"/>
                <a:cs typeface="Latha"/>
              </a:rPr>
              <a:t>No.2308/27 of 01/12/2022</a:t>
            </a:r>
          </a:p>
          <a:p>
            <a:pPr lvl="0" algn="ctr">
              <a:lnSpc>
                <a:spcPct val="115000"/>
              </a:lnSpc>
            </a:pPr>
            <a:endParaRPr lang="en-US" dirty="0">
              <a:ea typeface="Calibri"/>
              <a:cs typeface="Latha"/>
            </a:endParaRPr>
          </a:p>
          <a:p>
            <a:pPr algn="ctr">
              <a:lnSpc>
                <a:spcPct val="115000"/>
              </a:lnSpc>
            </a:pPr>
            <a:r>
              <a:rPr lang="en-US" sz="2000" dirty="0">
                <a:latin typeface="Monotype Corsiva"/>
                <a:ea typeface="Calibri"/>
                <a:cs typeface="Latha"/>
              </a:rPr>
              <a:t> </a:t>
            </a:r>
            <a:endParaRPr lang="en-US" sz="2000" dirty="0">
              <a:ea typeface="Calibri"/>
              <a:cs typeface="Latha"/>
            </a:endParaRPr>
          </a:p>
        </p:txBody>
      </p:sp>
    </p:spTree>
    <p:extLst>
      <p:ext uri="{BB962C8B-B14F-4D97-AF65-F5344CB8AC3E}">
        <p14:creationId xmlns:p14="http://schemas.microsoft.com/office/powerpoint/2010/main" val="2206464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A86F7F9-C120-4D04-ABB5-8D159A584702}"/>
              </a:ext>
            </a:extLst>
          </p:cNvPr>
          <p:cNvSpPr txBox="1"/>
          <p:nvPr/>
        </p:nvSpPr>
        <p:spPr>
          <a:xfrm>
            <a:off x="678180" y="579120"/>
            <a:ext cx="10835640" cy="3508653"/>
          </a:xfrm>
          <a:prstGeom prst="rect">
            <a:avLst/>
          </a:prstGeom>
          <a:noFill/>
        </p:spPr>
        <p:txBody>
          <a:bodyPr wrap="square" rtlCol="0">
            <a:spAutoFit/>
          </a:bodyPr>
          <a:lstStyle/>
          <a:p>
            <a:r>
              <a:rPr lang="en-US" sz="2400" dirty="0"/>
              <a:t>3</a:t>
            </a:r>
            <a:r>
              <a:rPr lang="en-US" sz="2400" dirty="0" smtClean="0"/>
              <a:t>. </a:t>
            </a:r>
            <a:r>
              <a:rPr lang="en-US" sz="2400" dirty="0"/>
              <a:t>Execution</a:t>
            </a:r>
          </a:p>
          <a:p>
            <a:endParaRPr lang="en-US" dirty="0"/>
          </a:p>
          <a:p>
            <a:r>
              <a:rPr lang="en-US" dirty="0"/>
              <a:t>Section 43 (2) -  Instruments prepared under this Act shall be signed by the parties to the two witnesses and attested by a Notary Public.</a:t>
            </a:r>
          </a:p>
          <a:p>
            <a:r>
              <a:rPr lang="en-US" dirty="0"/>
              <a:t>In case of a state land, by a Notary Public or by any public officer authorized to do so, by or under any law.</a:t>
            </a:r>
          </a:p>
          <a:p>
            <a:endParaRPr lang="en-US" dirty="0"/>
          </a:p>
          <a:p>
            <a:r>
              <a:rPr lang="en-US" dirty="0"/>
              <a:t>Section 44 - A Notary Public must:</a:t>
            </a:r>
          </a:p>
          <a:p>
            <a:endParaRPr lang="en-US" dirty="0"/>
          </a:p>
          <a:p>
            <a:r>
              <a:rPr lang="en-US" dirty="0"/>
              <a:t>Verify the identity of all parties and witnesses using official ID or other reliable methods.</a:t>
            </a:r>
          </a:p>
          <a:p>
            <a:r>
              <a:rPr lang="en-US" dirty="0"/>
              <a:t>Check the parties' legal capacity using Title Registry records.</a:t>
            </a:r>
          </a:p>
          <a:p>
            <a:r>
              <a:rPr lang="en-US" dirty="0"/>
              <a:t>Confirm the land and its title details with the Certificate of Title and Title Registry records.</a:t>
            </a:r>
          </a:p>
          <a:p>
            <a:endParaRPr lang="en-US" dirty="0"/>
          </a:p>
        </p:txBody>
      </p:sp>
    </p:spTree>
    <p:extLst>
      <p:ext uri="{BB962C8B-B14F-4D97-AF65-F5344CB8AC3E}">
        <p14:creationId xmlns:p14="http://schemas.microsoft.com/office/powerpoint/2010/main" val="30135485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1AB4883-3B9E-4690-A09F-3215F318899B}"/>
              </a:ext>
            </a:extLst>
          </p:cNvPr>
          <p:cNvSpPr txBox="1"/>
          <p:nvPr/>
        </p:nvSpPr>
        <p:spPr>
          <a:xfrm>
            <a:off x="670560" y="731520"/>
            <a:ext cx="1735289" cy="461665"/>
          </a:xfrm>
          <a:prstGeom prst="rect">
            <a:avLst/>
          </a:prstGeom>
          <a:noFill/>
        </p:spPr>
        <p:txBody>
          <a:bodyPr wrap="square" rtlCol="0">
            <a:spAutoFit/>
          </a:bodyPr>
          <a:lstStyle/>
          <a:p>
            <a:r>
              <a:rPr lang="en-US" sz="2400" dirty="0"/>
              <a:t>4</a:t>
            </a:r>
            <a:r>
              <a:rPr lang="en-US" sz="2400" dirty="0" smtClean="0"/>
              <a:t>. </a:t>
            </a:r>
            <a:r>
              <a:rPr lang="en-US" sz="2400" dirty="0"/>
              <a:t>Stamping</a:t>
            </a:r>
          </a:p>
        </p:txBody>
      </p:sp>
      <p:pic>
        <p:nvPicPr>
          <p:cNvPr id="4" name="Picture 3">
            <a:extLst>
              <a:ext uri="{FF2B5EF4-FFF2-40B4-BE49-F238E27FC236}">
                <a16:creationId xmlns="" xmlns:a16="http://schemas.microsoft.com/office/drawing/2014/main" id="{DCD99274-A5E3-4BC4-BF62-5569AE76D1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17988" y="1100852"/>
            <a:ext cx="9093012" cy="5440680"/>
          </a:xfrm>
          <a:prstGeom prst="rect">
            <a:avLst/>
          </a:prstGeom>
        </p:spPr>
      </p:pic>
      <p:sp>
        <p:nvSpPr>
          <p:cNvPr id="5" name="Oval 4">
            <a:extLst>
              <a:ext uri="{FF2B5EF4-FFF2-40B4-BE49-F238E27FC236}">
                <a16:creationId xmlns="" xmlns:a16="http://schemas.microsoft.com/office/drawing/2014/main" id="{4F8AC762-10B2-47B6-AC78-86A08E1A01EB}"/>
              </a:ext>
            </a:extLst>
          </p:cNvPr>
          <p:cNvSpPr/>
          <p:nvPr/>
        </p:nvSpPr>
        <p:spPr>
          <a:xfrm>
            <a:off x="4768788" y="2627790"/>
            <a:ext cx="2654423" cy="284086"/>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13302907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0F5BFE9-639D-4FD3-BA4F-A50207FF418F}"/>
              </a:ext>
            </a:extLst>
          </p:cNvPr>
          <p:cNvSpPr txBox="1"/>
          <p:nvPr/>
        </p:nvSpPr>
        <p:spPr>
          <a:xfrm>
            <a:off x="381000" y="182880"/>
            <a:ext cx="6019800" cy="461665"/>
          </a:xfrm>
          <a:prstGeom prst="rect">
            <a:avLst/>
          </a:prstGeom>
          <a:noFill/>
        </p:spPr>
        <p:txBody>
          <a:bodyPr wrap="square" rtlCol="0">
            <a:spAutoFit/>
          </a:bodyPr>
          <a:lstStyle/>
          <a:p>
            <a:r>
              <a:rPr lang="en-US" sz="2400" dirty="0"/>
              <a:t>5. Attestation</a:t>
            </a:r>
          </a:p>
        </p:txBody>
      </p:sp>
      <p:pic>
        <p:nvPicPr>
          <p:cNvPr id="4" name="Picture 3">
            <a:extLst>
              <a:ext uri="{FF2B5EF4-FFF2-40B4-BE49-F238E27FC236}">
                <a16:creationId xmlns="" xmlns:a16="http://schemas.microsoft.com/office/drawing/2014/main" id="{141D679A-4E67-4987-9BA2-53AFC30C00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1370" y="182880"/>
            <a:ext cx="4823719" cy="6431625"/>
          </a:xfrm>
          <a:prstGeom prst="rect">
            <a:avLst/>
          </a:prstGeom>
        </p:spPr>
      </p:pic>
      <p:sp>
        <p:nvSpPr>
          <p:cNvPr id="5" name="Oval 4">
            <a:extLst>
              <a:ext uri="{FF2B5EF4-FFF2-40B4-BE49-F238E27FC236}">
                <a16:creationId xmlns="" xmlns:a16="http://schemas.microsoft.com/office/drawing/2014/main" id="{1517480B-3C07-4619-9C3F-48EFF63F3A10}"/>
              </a:ext>
            </a:extLst>
          </p:cNvPr>
          <p:cNvSpPr/>
          <p:nvPr/>
        </p:nvSpPr>
        <p:spPr>
          <a:xfrm>
            <a:off x="3524436" y="4234649"/>
            <a:ext cx="4190260" cy="479394"/>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372212719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909B645D-2572-4C2D-884B-76807544C555}"/>
              </a:ext>
            </a:extLst>
          </p:cNvPr>
          <p:cNvSpPr txBox="1"/>
          <p:nvPr/>
        </p:nvSpPr>
        <p:spPr>
          <a:xfrm>
            <a:off x="825623" y="488272"/>
            <a:ext cx="6045694" cy="6001643"/>
          </a:xfrm>
          <a:prstGeom prst="rect">
            <a:avLst/>
          </a:prstGeom>
          <a:noFill/>
        </p:spPr>
        <p:txBody>
          <a:bodyPr wrap="square" rtlCol="0">
            <a:spAutoFit/>
          </a:bodyPr>
          <a:lstStyle/>
          <a:p>
            <a:r>
              <a:rPr lang="en-US" sz="2400" dirty="0"/>
              <a:t>6. Registration</a:t>
            </a:r>
          </a:p>
          <a:p>
            <a:endParaRPr lang="en-US" dirty="0"/>
          </a:p>
          <a:p>
            <a:r>
              <a:rPr lang="en-US" dirty="0"/>
              <a:t>Section 40 –An instrument to transfer interest in land can be submitted for title registration by:</a:t>
            </a:r>
          </a:p>
          <a:p>
            <a:pPr marL="285750" indent="-285750">
              <a:buFont typeface="Arial" panose="020B0604020202020204" pitchFamily="34" charset="0"/>
              <a:buChar char="•"/>
            </a:pPr>
            <a:r>
              <a:rPr lang="en-US" dirty="0"/>
              <a:t>Anyone claiming an interest or benefit from it.</a:t>
            </a:r>
          </a:p>
          <a:p>
            <a:pPr marL="285750" indent="-285750">
              <a:buFont typeface="Arial" panose="020B0604020202020204" pitchFamily="34" charset="0"/>
              <a:buChar char="•"/>
            </a:pPr>
            <a:r>
              <a:rPr lang="en-US" dirty="0"/>
              <a:t>Anyone with a claim or charge on the affected land.</a:t>
            </a:r>
          </a:p>
          <a:p>
            <a:pPr marL="285750" indent="-285750">
              <a:buFont typeface="Arial" panose="020B0604020202020204" pitchFamily="34" charset="0"/>
              <a:buChar char="•"/>
            </a:pPr>
            <a:r>
              <a:rPr lang="en-US" dirty="0"/>
              <a:t>Anyone who witnessed the instrument</a:t>
            </a:r>
          </a:p>
          <a:p>
            <a:pPr marL="285750" indent="-285750">
              <a:buFont typeface="Arial" panose="020B0604020202020204" pitchFamily="34" charset="0"/>
              <a:buChar char="•"/>
            </a:pPr>
            <a:endParaRPr lang="en-US" dirty="0"/>
          </a:p>
          <a:p>
            <a:r>
              <a:rPr lang="en-US" dirty="0"/>
              <a:t>Section 41 – </a:t>
            </a:r>
          </a:p>
          <a:p>
            <a:r>
              <a:rPr lang="en-US" dirty="0"/>
              <a:t>Each Registrar of Title will maintain a "day book" to record details of every instrument presented for registration, including the day, hour, and, if requested, the minute of presentation. For priority purposes, the time of presentation is considered the time of registration.</a:t>
            </a:r>
          </a:p>
          <a:p>
            <a:endParaRPr lang="en-US" dirty="0"/>
          </a:p>
          <a:p>
            <a:r>
              <a:rPr lang="en-US" dirty="0"/>
              <a:t>If an instrument is sent by mail or under cover, it is considered presented for registration when the packet is opened.</a:t>
            </a:r>
          </a:p>
          <a:p>
            <a:endParaRPr lang="en-US" dirty="0"/>
          </a:p>
          <a:p>
            <a:r>
              <a:rPr lang="en-US" dirty="0"/>
              <a:t>Section 45 (1) –Notary Public should forward instruments attested within 7 days to Registrar of Title.</a:t>
            </a:r>
          </a:p>
          <a:p>
            <a:endParaRPr lang="en-US" dirty="0"/>
          </a:p>
        </p:txBody>
      </p:sp>
      <p:pic>
        <p:nvPicPr>
          <p:cNvPr id="6" name="Picture 5">
            <a:extLst>
              <a:ext uri="{FF2B5EF4-FFF2-40B4-BE49-F238E27FC236}">
                <a16:creationId xmlns="" xmlns:a16="http://schemas.microsoft.com/office/drawing/2014/main" id="{5C2A0357-7B24-4DE4-A4B4-8B850077133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7342" y="967666"/>
            <a:ext cx="5001988" cy="4514294"/>
          </a:xfrm>
          <a:prstGeom prst="rect">
            <a:avLst/>
          </a:prstGeom>
        </p:spPr>
      </p:pic>
    </p:spTree>
    <p:extLst>
      <p:ext uri="{BB962C8B-B14F-4D97-AF65-F5344CB8AC3E}">
        <p14:creationId xmlns:p14="http://schemas.microsoft.com/office/powerpoint/2010/main" val="1929028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C857B090-73F5-4887-B505-426AB9EB8B1A}"/>
              </a:ext>
            </a:extLst>
          </p:cNvPr>
          <p:cNvSpPr/>
          <p:nvPr/>
        </p:nvSpPr>
        <p:spPr>
          <a:xfrm>
            <a:off x="4562224" y="5034260"/>
            <a:ext cx="3315203"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Thank you!</a:t>
            </a:r>
          </a:p>
        </p:txBody>
      </p:sp>
      <p:sp>
        <p:nvSpPr>
          <p:cNvPr id="3" name="Rectangle 2"/>
          <p:cNvSpPr/>
          <p:nvPr/>
        </p:nvSpPr>
        <p:spPr>
          <a:xfrm>
            <a:off x="3048000" y="1596191"/>
            <a:ext cx="6096000" cy="3665619"/>
          </a:xfrm>
          <a:prstGeom prst="rect">
            <a:avLst/>
          </a:prstGeom>
        </p:spPr>
        <p:txBody>
          <a:bodyPr>
            <a:spAutoFit/>
          </a:bodyPr>
          <a:lstStyle/>
          <a:p>
            <a:pPr lvl="0" algn="ctr">
              <a:lnSpc>
                <a:spcPct val="115000"/>
              </a:lnSpc>
            </a:pPr>
            <a:r>
              <a:rPr lang="en-US" sz="5400" b="1" dirty="0">
                <a:solidFill>
                  <a:srgbClr val="FFFF99">
                    <a:lumMod val="10000"/>
                  </a:srgbClr>
                </a:solidFill>
                <a:latin typeface="Monotype Corsiva"/>
                <a:ea typeface="Calibri"/>
                <a:cs typeface="Latha"/>
              </a:rPr>
              <a:t>The End</a:t>
            </a:r>
            <a:endParaRPr lang="en-US" sz="900" b="1" dirty="0">
              <a:solidFill>
                <a:srgbClr val="FFFF99">
                  <a:lumMod val="10000"/>
                </a:srgbClr>
              </a:solidFill>
              <a:ea typeface="Calibri"/>
              <a:cs typeface="Latha"/>
            </a:endParaRPr>
          </a:p>
          <a:p>
            <a:pPr lvl="0" algn="ctr">
              <a:lnSpc>
                <a:spcPct val="115000"/>
              </a:lnSpc>
            </a:pPr>
            <a:r>
              <a:rPr lang="en-US" sz="1600" b="1" dirty="0">
                <a:solidFill>
                  <a:srgbClr val="FFFF99">
                    <a:lumMod val="10000"/>
                  </a:srgbClr>
                </a:solidFill>
                <a:latin typeface="Monotype Corsiva"/>
                <a:ea typeface="Calibri"/>
                <a:cs typeface="Latha"/>
              </a:rPr>
              <a:t> </a:t>
            </a:r>
            <a:endParaRPr lang="en-US" sz="900" b="1" dirty="0">
              <a:solidFill>
                <a:srgbClr val="FFFF99">
                  <a:lumMod val="10000"/>
                </a:srgbClr>
              </a:solidFill>
              <a:ea typeface="Calibri"/>
              <a:cs typeface="Latha"/>
            </a:endParaRPr>
          </a:p>
          <a:p>
            <a:pPr lvl="0" algn="ctr">
              <a:lnSpc>
                <a:spcPct val="115000"/>
              </a:lnSpc>
            </a:pPr>
            <a:r>
              <a:rPr lang="en-US" b="1" dirty="0">
                <a:solidFill>
                  <a:srgbClr val="FFFF99">
                    <a:lumMod val="10000"/>
                  </a:srgbClr>
                </a:solidFill>
                <a:latin typeface="Monotype Corsiva"/>
                <a:ea typeface="Calibri"/>
                <a:cs typeface="Latha"/>
              </a:rPr>
              <a:t>Thank for your attention</a:t>
            </a:r>
            <a:endParaRPr lang="en-US" sz="900" b="1" dirty="0">
              <a:solidFill>
                <a:srgbClr val="FFFF99">
                  <a:lumMod val="10000"/>
                </a:srgbClr>
              </a:solidFill>
              <a:ea typeface="Calibri"/>
              <a:cs typeface="Latha"/>
            </a:endParaRPr>
          </a:p>
          <a:p>
            <a:pPr algn="ctr">
              <a:lnSpc>
                <a:spcPct val="150000"/>
              </a:lnSpc>
            </a:pPr>
            <a:r>
              <a:rPr lang="en-US" dirty="0">
                <a:latin typeface="Monotype Corsiva"/>
                <a:ea typeface="Calibri"/>
                <a:cs typeface="Latha"/>
              </a:rPr>
              <a:t>Next seminar on:</a:t>
            </a:r>
            <a:endParaRPr lang="en-US" dirty="0">
              <a:ea typeface="Calibri"/>
              <a:cs typeface="Latha"/>
            </a:endParaRPr>
          </a:p>
          <a:p>
            <a:pPr algn="ctr">
              <a:lnSpc>
                <a:spcPct val="150000"/>
              </a:lnSpc>
            </a:pPr>
            <a:r>
              <a:rPr lang="en-US" b="1" dirty="0">
                <a:latin typeface="Monotype Corsiva"/>
                <a:ea typeface="Calibri"/>
                <a:cs typeface="Latha"/>
              </a:rPr>
              <a:t>Rules of Notary</a:t>
            </a:r>
            <a:endParaRPr lang="en-US" dirty="0">
              <a:ea typeface="Calibri"/>
              <a:cs typeface="Latha"/>
            </a:endParaRPr>
          </a:p>
          <a:p>
            <a:pPr algn="ctr">
              <a:lnSpc>
                <a:spcPct val="150000"/>
              </a:lnSpc>
            </a:pPr>
            <a:r>
              <a:rPr lang="en-US" b="1" dirty="0">
                <a:latin typeface="Monotype Corsiva"/>
                <a:ea typeface="Calibri"/>
                <a:cs typeface="Latha"/>
              </a:rPr>
              <a:t>(Topic 04)</a:t>
            </a:r>
            <a:endParaRPr lang="en-US" dirty="0">
              <a:ea typeface="Calibri"/>
              <a:cs typeface="Latha"/>
            </a:endParaRPr>
          </a:p>
          <a:p>
            <a:pPr algn="ctr">
              <a:lnSpc>
                <a:spcPct val="150000"/>
              </a:lnSpc>
            </a:pPr>
            <a:r>
              <a:rPr lang="en-US" dirty="0">
                <a:latin typeface="Monotype Corsiva"/>
                <a:ea typeface="Calibri"/>
                <a:cs typeface="Latha"/>
              </a:rPr>
              <a:t>On </a:t>
            </a:r>
            <a:r>
              <a:rPr lang="en-US" dirty="0" smtClean="0">
                <a:latin typeface="Monotype Corsiva"/>
                <a:ea typeface="Calibri"/>
                <a:cs typeface="Latha"/>
              </a:rPr>
              <a:t>09 </a:t>
            </a:r>
            <a:r>
              <a:rPr lang="en-US" dirty="0">
                <a:latin typeface="Monotype Corsiva"/>
                <a:ea typeface="Calibri"/>
                <a:cs typeface="Latha"/>
              </a:rPr>
              <a:t>/</a:t>
            </a:r>
            <a:r>
              <a:rPr lang="en-US" dirty="0" smtClean="0">
                <a:latin typeface="Monotype Corsiva"/>
                <a:ea typeface="Calibri"/>
                <a:cs typeface="Latha"/>
              </a:rPr>
              <a:t>02/2025 (Sunday )</a:t>
            </a:r>
            <a:endParaRPr lang="en-US" dirty="0">
              <a:ea typeface="Calibri"/>
              <a:cs typeface="Latha"/>
            </a:endParaRPr>
          </a:p>
          <a:p>
            <a:pPr algn="ctr">
              <a:lnSpc>
                <a:spcPct val="115000"/>
              </a:lnSpc>
            </a:pPr>
            <a:r>
              <a:rPr lang="en-US" sz="2000" dirty="0">
                <a:latin typeface="Monotype Corsiva"/>
                <a:ea typeface="Calibri"/>
                <a:cs typeface="Latha"/>
              </a:rPr>
              <a:t> </a:t>
            </a:r>
            <a:endParaRPr lang="en-US" sz="2000" dirty="0">
              <a:ea typeface="Calibri"/>
              <a:cs typeface="Latha"/>
            </a:endParaRPr>
          </a:p>
        </p:txBody>
      </p:sp>
    </p:spTree>
    <p:extLst>
      <p:ext uri="{BB962C8B-B14F-4D97-AF65-F5344CB8AC3E}">
        <p14:creationId xmlns:p14="http://schemas.microsoft.com/office/powerpoint/2010/main" val="2292338094"/>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olstice">
  <a:themeElements>
    <a:clrScheme name="Custom 3">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794</TotalTime>
  <Words>1470</Words>
  <Application>Microsoft Office PowerPoint</Application>
  <PresentationFormat>Widescreen</PresentationFormat>
  <Paragraphs>237</Paragraphs>
  <Slides>31</Slides>
  <Notes>0</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31</vt:i4>
      </vt:variant>
    </vt:vector>
  </HeadingPairs>
  <TitlesOfParts>
    <vt:vector size="45" baseType="lpstr">
      <vt:lpstr>Arial</vt:lpstr>
      <vt:lpstr>Calibri</vt:lpstr>
      <vt:lpstr>Calibri Light</vt:lpstr>
      <vt:lpstr>Courier New</vt:lpstr>
      <vt:lpstr>Gill Sans MT</vt:lpstr>
      <vt:lpstr>Latha</vt:lpstr>
      <vt:lpstr>Monotype Corsiva</vt:lpstr>
      <vt:lpstr>Palatino Linotype</vt:lpstr>
      <vt:lpstr>Palladio Uralic</vt:lpstr>
      <vt:lpstr>Times New Roman</vt:lpstr>
      <vt:lpstr>Verdana</vt:lpstr>
      <vt:lpstr>Wingdings 2</vt:lpstr>
      <vt:lpstr>Office Theme</vt:lpstr>
      <vt:lpstr>Solstice</vt:lpstr>
      <vt:lpstr>Practical Aspect of Registration of Title 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36 – Amalgamation or subdivision of units</dc:title>
  <dc:creator>86368</dc:creator>
  <cp:lastModifiedBy>HP</cp:lastModifiedBy>
  <cp:revision>19</cp:revision>
  <dcterms:created xsi:type="dcterms:W3CDTF">2024-08-21T14:00:34Z</dcterms:created>
  <dcterms:modified xsi:type="dcterms:W3CDTF">2025-02-02T03:02:24Z</dcterms:modified>
</cp:coreProperties>
</file>