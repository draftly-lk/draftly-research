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draftly-cover · 0:20</a:t>
            </a:r>
          </a:p>
          <a:p/>
          <a:p>
            <a:r>
              <a:t>Draftly is our final data science and engineering project. We built a statutory retrieval study and a matter workbench for Sri Lankan conveyancing. Both are grounded in evidence and keep legal decisions with the lawyer. We begin with the task practitioners face.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matter-before-form · 0:40</a:t>
            </a:r>
          </a:p>
          <a:p/>
          <a:p>
            <a:r>
              <a:t>Draftly addresses two related problems. First, a legal question can require several statutory provisions together. Search may surface one plausible section while missing a definition or exception. Our research paper measures that completeness problem. Second, ownership, parcel details, parties, and registered interests are buried in PDFs and scanned documents. Lawyers spend time reading and reconciling them, so extracted values must remain reviewable. We will show the legal retrieval research first, then the software workbench that handles documents and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practitioner-constraints · 0:40</a:t>
            </a:r>
          </a:p>
          <a:p/>
          <a:p>
            <a:r>
              <a:t>We held three in-person discussions with legal practitioners and experts. One was with Anura Dhanaratna, a lawyer and notary who teaches conveyancing at Sri Lanka Law College. His detailed notarial-practice curriculum helped us organize the conveyancing topic map and identify statutory coverage; we obtained the actual Acts from legal source collections. He also supplied sample matter documents that we used in document-reading trials. Those trials informed page handling and multilingual OCR design, but field-level extraction accuracy has not been established. The discussions gave us concrete workflow constraints: link proposed facts to their source, check the law that applied on the relevant date, and keep consequential decisions with the lawyer. This is stakeholder grounding of the problem and design, while legal labels and final instruments still need professional validation. We begin the research section with the data these sources helped us assemble.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statutory-corpus · 0:55</a:t>
            </a:r>
          </a:p>
          <a:p/>
          <a:p>
            <a:r>
              <a:t>The practitioner curriculum gave us the notarial and conveyancing topic map. Principal enactments named in the Law College course tables became the starting set; we collected their amendments and parsed source PDFs into a frozen section index. Six edge types record definitions, exceptions, qualifications, procedural requirements, cross-references, and amendments. The section is the retrieval unit. The Hugging Face resource here is an Act metadata and source-link index, while the full parsed text used in the experiments remains internal. Alongside statutes, we assembled case law for legal research.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case-law-corpus · 0:55</a:t>
            </a:r>
          </a:p>
          <a:p/>
          <a:p>
            <a:r>
              <a:t>The case-law work complements statutory retrieval. We collected 3,703 reported conveyancing judgments from NLR and SLR and 5,474 official Supreme Court and Court of Appeal judgment documents. A deterministic headnote reader recovered a verbatim rule in 3,521 reported cases. For harder cases, a bounded model-assisted path required a quotation present in the judgment. On a held-out set, 74 of 100 outputs passed that quote gate; a provisional model judge rated 58.1 percent of accepted outputs fully usable, below our threshold. No extracted rule is lawyer approved, and case-law ranking was outside the scored statutory benchmark. The next slide shows the separate retriever built over these cases.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case-retrieval · 0:50</a:t>
            </a:r>
          </a:p>
          <a:p/>
          <a:p>
            <a:r>
              <a:t>Alongside the statutory corpus, we assembled 3,703 reported conveyancing judgments and 5,474 official-court judgment documents. A separate case retriever indexes 5,121 cases flagged as conveyancing-related. Given a fact pattern, it searches judgment text and extracted rule statements lexically, expands through cases sharing statute or topic links, and fuses the ranked lists. The code also supports a dense channel, but no embedding key was available in the recorded evaluation, so those results reflect lexical plus graph retrieval only. A case needs lexical or graph corroboration to be returned. Twenty past-paper fact patterns were judged by LLM proxies: 14 of 20 initial results were judged to contain an analogous case, but a later corpus rebaseline fell to 10 of 20. This is exploratory evidence without lawyer-verified relevance labels. The case service is separate from the paper's statutory retriever and from the hosted BM25 research path.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qa-benchmark · 0:55</a:t>
            </a:r>
          </a:p>
          <a:p/>
          <a:p>
            <a:r>
              <a:t>These questions came from sixteen Law College conveyancing examination papers, a different input from Anura Dhanaratna’s notarial curriculum. The papers yielded 667 atomic questions. Scenario selection and matter grouping produced fifty statute-only scored questions in forty matters; forty questions in thirty-two matters formed the test split. One agent proposed the indispensable provisions and evidence-linked answers, and an independent agent checked them. A deterministic validator confirmed identifiers and quotations in the frozen corpus. It could not decide legal indispensability. The three-attorney stage shown at right remains planned. The provisional benchmark is public on Hugging Face. We need a metric that reflects whether all proposed sections were found.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complete-bundle-metric · 0:40</a:t>
            </a:r>
          </a:p>
          <a:p/>
          <a:p>
            <a:r>
              <a:t>A system can rank a plausible section first and still omit a definition, exception, or procedural requirement. Complete-indispensable recall at twenty gives full credit only if every proposed indispensable section appears in the first twenty results. This picture explains the metric; it is not an actual benchmark case. Because the labels have not been attorney adjudicated, the score uses provisional reference sets. We used the same frozen data and metric to compare seven retrieval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retrieval-systems · 0:55</a:t>
            </a:r>
          </a:p>
          <a:p/>
          <a:p>
            <a:r>
              <a:t>The diagram shows where methods diverge after receiving the same scenario question. BM25 favors exact terminology; dense search uses semantic section windows; hybrid fuses rankings; a reranker is a separate variant. Hierarchical retrieval first routes to likely Acts, then retrieves sections. Typed expansion follows explicit legal relationships and applies a temporal filter. All seven were offline configurations scored on the same frozen questions and corpus. The live platform has a BM25 index, not seven selectable modes. The next slide shows which approaches recovered complete bundles.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retrieval-results · 1:00</a:t>
            </a:r>
          </a:p>
          <a:p/>
          <a:p>
            <a:r>
              <a:t>Hierarchical retrieval recorded the highest observed complete-bundle score, 0.375, while hybrid had the highest average indispensable recall. The paired intervals among leading systems include zero, so point estimates do not establish a certain winner. None of the twenty test questions needing four or more provisions was completed by any system. Of 114 indispensable sections missed by the structure-aware retriever, only two were one explicit edge from a retrieved seed. The graph holds useful explicit relationships, but most scenario dependencies were not encoded as reachable edges. These are offline results against provisional labels. The accepted paper packages this dataset, method, and negative result.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accepted-research-paper · 0:45</a:t>
            </a:r>
          </a:p>
          <a:p/>
          <a:p>
            <a:r>
              <a:t>This paper is accepted for presentation at the NeurIPS 2026 GlobalSouthAI workshop. It contributes the structured Sri Lankan statutory corpus, a scenario QA benchmark with proposed indispensable sections, and a matched seven-system retrieval evaluation. The tested typed-edge expansion did not demonstrate a gain over strong hybrid retrieval. The paper also reports the hard multi-provision failure and limited one-hop reachability of missed sections. Labels need attorney validation before we can claim legal gold. Our hosted search is currently BM25; a teammate is developing embedding-enabled retrieval with query rewriting, which the paper did not evaluate. That integration must be scored on the same complete-bundle question. We now move to the software workbench that uses legal research and document evidence in a lawyer-owned matter.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rta-scope · 0:50</a:t>
            </a:r>
          </a:p>
          <a:p/>
          <a:p>
            <a:r>
              <a:t>Part two is the software engineering workbench. We chose post-certificate transactions under the Registration of Title Act No. 21 of 1998 after practitioner discussions. In this first lane, the lawyer can work from a title certificate, cadastral or survey plan information, and the relevant transaction documents, following defined requirements and prescribed forms. That gave us a bounded workflow in which to test source-linked document review and checks. The older deeds-registration path brings handwritten pattiru or folio records and historical title tracing; making Sinhala handwriting recognition reliable would have become a separate research project. After discussion with our supervisor, we deferred that OCR problem, AT-form extraction, and initial title settlement to later work. This does not mean every RTA input is clean or machine-readable: scans still need lawyer verification. The next slide shows how the selected matter moves through the workbench.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matter-route · 0:40</a:t>
            </a:r>
          </a:p>
          <a:p/>
          <a:p>
            <a:r>
              <a:t>The matter is the unit of work. A user opens and classifies it, uploads documents, and sees candidate facts linked to evidence. A lawyer verifies or corrects those candidates before checks or form bindings. The versioned rule pack supplies requirements. The lawyer can discuss matter state with the Draftly Matter Agent and separately inspect cited legal research; direct agent-to-research calling remains planned. Draft, preflight, approval, and export are distinct records. The hosted demonstration later shows which screens and gates are connected today. First, look closely at the fact boundary.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document-ocr-evaluation · 0:55</a:t>
            </a:r>
          </a:p>
          <a:p/>
          <a:p>
            <a:r>
              <a:t>We tested document reading on a collection of four matters, 38 documents, and 282 pages. That is the available inventory, not a claim that every engine processed every page. This actual title-document page shows the OCR regions found in one benchmark run; the source text has been redacted for the presentation. In a 26-page Vision pilot, text was returned on every page. That measures coverage, not correctness. One matter also has 37 labelled fields across four documents, but the extraction comparison was not scored after credential and availability failures. A detected box is evidence of a text region, not a verified title fact. The next slide shows how such evidence would travel through the full document-processing design.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document-processing-pipeline · 0:50</a:t>
            </a:r>
          </a:p>
          <a:p/>
          <a:p>
            <a:r>
              <a:t>Here is the complete document-processing sequence we designed from the OCR trials. It starts with upload, OCR and quality checks, then handles orientation before classifying and grouping pages. The later stages create derivatives and propose structured fields for human review. The diagram is a research design reference, and its original storage lanes were removed because they no longer match the VPS. In the hosted workbench, the source file and processing run persist, but extraction currently supplies stub candidates. A lawyer must verify or correct a candidate before it becomes a versioned fact for drafting. So the pipeline image shows the full intended flow and its review gate, while the status strip names what is running today. Next is the separate statutory research service.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shipped-retrieval · 0:55</a:t>
            </a:r>
          </a:p>
          <a:p/>
          <a:p>
            <a:r>
              <a:t>The hosted research workspace takes a lawyer's question through the workbench and API to an internal retrieval container. That container currently ranks statutory sections with BM25; it is not the paper's offline hybrid or hierarchical system. Retrieved passages retain Act and section citations. The research API can use those passages to compose a grounded response, and it abstains with insufficient authority when no usable passage is returned. This path is separate from the Draftly Matter Agent today: the agent's direct legal-research tool is not connected. A teammate is building embedding-enabled retrieval and query rewriting, but we should update the solid diagram only after the deployed configuration and a smoke test confirm it. The assistant has a similar authority boundary.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agent-boundary · 0:50</a:t>
            </a:r>
          </a:p>
          <a:p/>
          <a:p>
            <a:r>
              <a:t>The Draftly Matter Agent is organized around a matter session, not unrestricted access to the database. It can read authorized matter context through allowlisted tools, while consequential proposed actions require confirmation. A model suggestion cannot directly write a verified legal fact. The agent's direct statute-search tool is still to be connected; legal questions abstain there today. The separate research workspace returns cited statutory material or an insufficient-authority response. This image is a design reference, so its older storage and provider labels do not describe the current VPS. The rule pack carries the same control into drafting.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rules-and-gates · 0:45</a:t>
            </a:r>
          </a:p>
          <a:p/>
          <a:p>
            <a:r>
              <a:t>The RTA rule pack is versioned content, not a free-form prompt. It records transaction types, required documents, checklist items, checks, forms, and each requirement's source class. A matter's checklist is pinned to the rule-pack version used. Findings send the lawyer back to missing or conflicting evidence; they are not a determination of title. Unresolved statutory blockers stop relevant progression, and an unapproved form cannot be exported as approved. Legal wording still needs professional sign-off, so no registration-ready export is claimed. We can now demonstrate these gates in a synthetic matter.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product-demo · 2:30</a:t>
            </a:r>
          </a:p>
          <a:p/>
          <a:p>
            <a:r>
              <a:t>This is a synthetic RTA matter, so no client information is being shown. Open the matter and its persisted document record. At the candidate view, show the source and the separate lawyer-review action; hosted extraction supplies a stub candidate here. Open a checklist finding. If the matter chat is available, show a short conversation about matter state. Then move to the separate research workspace for a cited statute passage or insufficient-authority state; do not imply the agent called research. End at draft preflight with an unresolved value or refusal, not an approved instrument. Return to activity history. If a live screen fails, switch to the recorded path and state what the capture shows.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testing-rundown · 1:15</a:t>
            </a:r>
          </a:p>
          <a:p/>
          <a:p>
            <a:r>
              <a:t>Five tracks test different parts of the project. The accepted-paper statutory study compared seven systems on 40 questions, with a highest observed complete-bundle score of 0.375 on provisional labels. The separate similar-case retriever was tried on 20 past-paper fact patterns: an LLM judged 14 initial results correct, but only 10 after a corpus rebaseline; the dense channel was inactive. In held-out case-law rule extraction, 74 of 100 cases passed quote grounding and 58.1 percent of accepted rules were judged fully usable by a provisional model judge. The Vision pilot returned text on 26 of 26 pages, while field accuracy remains unscored. Platform tests recorded 3,906 backend passes, 348 frontend passes, three browser refusal passes, and 15 fixed defects. The wider browser run had nine failures. None of the legal relevance or field results is lawyer-validated. The [testing evidence map](TESTING_EVIDENCE.md) holds the methods and gates.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team-contributions · 0:45</a:t>
            </a:r>
          </a:p>
          <a:p/>
          <a:p>
            <a:r>
              <a:t>These contributions overlap, so the slide names the main outputs each person drove. Himath led the statutory corpus and benchmarking, worked on the High Court case-law strand, and produced the first draft of the research paper. Lahiru worked on case-law collection and retrieval alongside the OCR and extraction research. Praveen worked on BM25 search and the templates, output flow, and lawyer-facing interface. Integration and testing drew on the team. We are showing the actual research and engineering strands rather than assigning artificial percentage shares.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takeaway · 0:25</a:t>
            </a:r>
          </a:p>
          <a:p/>
          <a:p>
            <a:r>
              <a:t>Draftly measured a hard statutory retrieval problem and built a matter workflow that keeps evidence and lawyer decisions inspectable. The next validation steps are attorney adjudication, document-field accuracy, form wording, and complete browser journeys. Thank you; we welcome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hyperlink" Target="https://huggingface.co/datasets/lanka-legal-nlp/draftly-sri-lanka-act-sourc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hyperlink" Target="https://huggingface.co/datasets/lanka-legal-nlp/draftly-statutory-retrieval/tree/v1.0-paper-provisiona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raftly-logo-white-transparent.png"/>
          <p:cNvPicPr>
            <a:picLocks noChangeAspect="1"/>
          </p:cNvPicPr>
          <p:nvPr/>
        </p:nvPicPr>
        <p:blipFill>
          <a:blip r:embed="rId3"/>
          <a:stretch>
            <a:fillRect/>
          </a:stretch>
        </p:blipFill>
        <p:spPr>
          <a:xfrm>
            <a:off x="484632" y="472322"/>
            <a:ext cx="2011680" cy="1167618"/>
          </a:xfrm>
          <a:prstGeom prst="rect">
            <a:avLst/>
          </a:prstGeom>
        </p:spPr>
      </p:pic>
      <p:sp>
        <p:nvSpPr>
          <p:cNvPr id="4" name="TextBox 3"/>
          <p:cNvSpPr txBox="1"/>
          <p:nvPr/>
        </p:nvSpPr>
        <p:spPr>
          <a:xfrm>
            <a:off x="658368" y="1965960"/>
            <a:ext cx="10652760" cy="914400"/>
          </a:xfrm>
          <a:prstGeom prst="rect">
            <a:avLst/>
          </a:prstGeom>
          <a:noFill/>
        </p:spPr>
        <p:txBody>
          <a:bodyPr wrap="square" lIns="0" rIns="0" tIns="0" bIns="0" anchor="ctr">
            <a:normAutofit/>
          </a:bodyPr>
          <a:lstStyle/>
          <a:p>
            <a:pPr algn="l">
              <a:spcBef>
                <a:spcPts val="0"/>
              </a:spcBef>
              <a:spcAft>
                <a:spcPts val="0"/>
              </a:spcAft>
            </a:pPr>
            <a:r>
              <a:rPr sz="5900" b="0">
                <a:solidFill>
                  <a:srgbClr val="FFFFFF"/>
                </a:solidFill>
                <a:latin typeface="Arial"/>
              </a:rPr>
              <a:t>DRAFTLY</a:t>
            </a:r>
          </a:p>
        </p:txBody>
      </p:sp>
      <p:sp>
        <p:nvSpPr>
          <p:cNvPr id="5" name="TextBox 4"/>
          <p:cNvSpPr txBox="1"/>
          <p:nvPr/>
        </p:nvSpPr>
        <p:spPr>
          <a:xfrm>
            <a:off x="658368" y="2971800"/>
            <a:ext cx="10287000" cy="1078992"/>
          </a:xfrm>
          <a:prstGeom prst="rect">
            <a:avLst/>
          </a:prstGeom>
          <a:noFill/>
        </p:spPr>
        <p:txBody>
          <a:bodyPr wrap="square" lIns="0" rIns="0" tIns="0" bIns="0" anchor="ctr">
            <a:normAutofit/>
          </a:bodyPr>
          <a:lstStyle/>
          <a:p>
            <a:pPr algn="l">
              <a:spcBef>
                <a:spcPts val="0"/>
              </a:spcBef>
              <a:spcAft>
                <a:spcPts val="0"/>
              </a:spcAft>
            </a:pPr>
            <a:r>
              <a:rPr sz="2700" b="0">
                <a:solidFill>
                  <a:srgbClr val="FFFFFF"/>
                </a:solidFill>
                <a:latin typeface="Arial"/>
              </a:rPr>
              <a:t>Grounded legal retrieval and a lawyer-controlled</a:t>
            </a:r>
          </a:p>
          <a:p>
            <a:pPr algn="l">
              <a:spcBef>
                <a:spcPts val="0"/>
              </a:spcBef>
              <a:spcAft>
                <a:spcPts val="0"/>
              </a:spcAft>
            </a:pPr>
            <a:r>
              <a:rPr sz="2700" b="0">
                <a:solidFill>
                  <a:srgbClr val="FFFFFF"/>
                </a:solidFill>
                <a:latin typeface="Arial"/>
              </a:rPr>
              <a:t>conveyancing matter workflow for Sri Lanka</a:t>
            </a:r>
          </a:p>
        </p:txBody>
      </p:sp>
      <p:cxnSp>
        <p:nvCxnSpPr>
          <p:cNvPr id="6" name="Connector 5"/>
          <p:cNvCxnSpPr/>
          <p:nvPr/>
        </p:nvCxnSpPr>
        <p:spPr>
          <a:xfrm>
            <a:off x="658368" y="4718304"/>
            <a:ext cx="10588752"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4901184"/>
            <a:ext cx="10287000" cy="320040"/>
          </a:xfrm>
          <a:prstGeom prst="rect">
            <a:avLst/>
          </a:prstGeom>
          <a:noFill/>
        </p:spPr>
        <p:txBody>
          <a:bodyPr wrap="square" lIns="0" rIns="0" tIns="0" bIns="0" anchor="ctr">
            <a:normAutofit/>
          </a:bodyPr>
          <a:lstStyle/>
          <a:p>
            <a:pPr algn="l">
              <a:spcBef>
                <a:spcPts val="0"/>
              </a:spcBef>
              <a:spcAft>
                <a:spcPts val="0"/>
              </a:spcAft>
            </a:pPr>
            <a:r>
              <a:rPr sz="1400" b="0">
                <a:solidFill>
                  <a:srgbClr val="FFFFFF"/>
                </a:solidFill>
                <a:latin typeface="Arial"/>
              </a:rPr>
              <a:t>GROUP 06  ·  UNIVERSITY OF MORATUWA  ·  DCS&amp;E</a:t>
            </a:r>
          </a:p>
        </p:txBody>
      </p:sp>
      <p:sp>
        <p:nvSpPr>
          <p:cNvPr id="8" name="TextBox 7"/>
          <p:cNvSpPr txBox="1"/>
          <p:nvPr/>
        </p:nvSpPr>
        <p:spPr>
          <a:xfrm>
            <a:off x="658368" y="5367528"/>
            <a:ext cx="10287000" cy="329184"/>
          </a:xfrm>
          <a:prstGeom prst="rect">
            <a:avLst/>
          </a:prstGeom>
          <a:noFill/>
        </p:spPr>
        <p:txBody>
          <a:bodyPr wrap="square" lIns="0" rIns="0" tIns="0" bIns="0" anchor="ctr">
            <a:normAutofit/>
          </a:bodyPr>
          <a:lstStyle/>
          <a:p>
            <a:pPr algn="l">
              <a:spcBef>
                <a:spcPts val="0"/>
              </a:spcBef>
              <a:spcAft>
                <a:spcPts val="0"/>
              </a:spcAft>
            </a:pPr>
            <a:r>
              <a:rPr sz="1700" b="0">
                <a:solidFill>
                  <a:srgbClr val="FFFFFF"/>
                </a:solidFill>
                <a:latin typeface="Arial"/>
              </a:rPr>
              <a:t>Himath Dhanapala  ·  Lahiru Dilshan  ·  Praveen De Silva</a:t>
            </a:r>
          </a:p>
        </p:txBody>
      </p:sp>
      <p:sp>
        <p:nvSpPr>
          <p:cNvPr id="9" name="TextBox 8"/>
          <p:cNvSpPr txBox="1"/>
          <p:nvPr/>
        </p:nvSpPr>
        <p:spPr>
          <a:xfrm>
            <a:off x="658368" y="5806440"/>
            <a:ext cx="9144000" cy="256032"/>
          </a:xfrm>
          <a:prstGeom prst="rect">
            <a:avLst/>
          </a:prstGeom>
          <a:noFill/>
        </p:spPr>
        <p:txBody>
          <a:bodyPr wrap="square" lIns="0" rIns="0" tIns="0" bIns="0" anchor="ctr">
            <a:normAutofit/>
          </a:bodyPr>
          <a:lstStyle/>
          <a:p>
            <a:pPr algn="l">
              <a:spcBef>
                <a:spcPts val="0"/>
              </a:spcBef>
              <a:spcAft>
                <a:spcPts val="0"/>
              </a:spcAft>
            </a:pPr>
            <a:r>
              <a:rPr sz="1300" b="0">
                <a:solidFill>
                  <a:srgbClr val="FFFFFF"/>
                </a:solidFill>
                <a:latin typeface="Arial"/>
              </a:rPr>
              <a:t>Supervisor: Dr. Nisansa de Silva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A conveyancing matter has two information bottlenecks</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02 / 22</a:t>
            </a:r>
          </a:p>
        </p:txBody>
      </p:sp>
      <p:sp>
        <p:nvSpPr>
          <p:cNvPr id="9" name="Rectangle 8"/>
          <p:cNvSpPr/>
          <p:nvPr/>
        </p:nvSpPr>
        <p:spPr>
          <a:xfrm>
            <a:off x="566928" y="1700784"/>
            <a:ext cx="5385816" cy="342900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38528"/>
            <a:ext cx="1280160" cy="822960"/>
          </a:xfrm>
          <a:prstGeom prst="rect">
            <a:avLst/>
          </a:prstGeom>
          <a:noFill/>
        </p:spPr>
        <p:txBody>
          <a:bodyPr wrap="square" lIns="0" rIns="0" tIns="0" bIns="0" anchor="ctr">
            <a:normAutofit/>
          </a:bodyPr>
          <a:lstStyle/>
          <a:p>
            <a:pPr algn="l">
              <a:spcBef>
                <a:spcPts val="0"/>
              </a:spcBef>
              <a:spcAft>
                <a:spcPts val="0"/>
              </a:spcAft>
            </a:pPr>
            <a:r>
              <a:rPr sz="5200" b="0">
                <a:solidFill>
                  <a:srgbClr val="002FA7"/>
                </a:solidFill>
                <a:latin typeface="Arial"/>
              </a:rPr>
              <a:t>01</a:t>
            </a:r>
          </a:p>
        </p:txBody>
      </p:sp>
      <p:sp>
        <p:nvSpPr>
          <p:cNvPr id="11" name="TextBox 10"/>
          <p:cNvSpPr txBox="1"/>
          <p:nvPr/>
        </p:nvSpPr>
        <p:spPr>
          <a:xfrm>
            <a:off x="822960" y="2852928"/>
            <a:ext cx="4800600" cy="438912"/>
          </a:xfrm>
          <a:prstGeom prst="rect">
            <a:avLst/>
          </a:prstGeom>
          <a:noFill/>
        </p:spPr>
        <p:txBody>
          <a:bodyPr wrap="square" lIns="0" rIns="0" tIns="0" bIns="0" anchor="ctr">
            <a:normAutofit/>
          </a:bodyPr>
          <a:lstStyle/>
          <a:p>
            <a:pPr algn="l">
              <a:spcBef>
                <a:spcPts val="0"/>
              </a:spcBef>
              <a:spcAft>
                <a:spcPts val="0"/>
              </a:spcAft>
            </a:pPr>
            <a:r>
              <a:rPr sz="1800" b="1">
                <a:solidFill>
                  <a:srgbClr val="0A0A0A"/>
                </a:solidFill>
                <a:latin typeface="Arial"/>
              </a:rPr>
              <a:t>LEGAL INFORMATION RETRIEVAL</a:t>
            </a:r>
          </a:p>
        </p:txBody>
      </p:sp>
      <p:sp>
        <p:nvSpPr>
          <p:cNvPr id="12" name="TextBox 11"/>
          <p:cNvSpPr txBox="1"/>
          <p:nvPr/>
        </p:nvSpPr>
        <p:spPr>
          <a:xfrm>
            <a:off x="822960" y="3429000"/>
            <a:ext cx="4800600" cy="1115568"/>
          </a:xfrm>
          <a:prstGeom prst="rect">
            <a:avLst/>
          </a:prstGeom>
          <a:noFill/>
        </p:spPr>
        <p:txBody>
          <a:bodyPr wrap="square" lIns="0" rIns="0" tIns="0" bIns="0" anchor="t">
            <a:normAutofit/>
          </a:bodyPr>
          <a:lstStyle/>
          <a:p>
            <a:pPr algn="l">
              <a:spcBef>
                <a:spcPts val="0"/>
              </a:spcBef>
              <a:spcAft>
                <a:spcPts val="0"/>
              </a:spcAft>
            </a:pPr>
            <a:r>
              <a:rPr sz="2100" b="0">
                <a:solidFill>
                  <a:srgbClr val="0A0A0A"/>
                </a:solidFill>
                <a:latin typeface="Arial"/>
              </a:rPr>
              <a:t>One scenario can require several provisions. A missing section leaves the answer incomplete.</a:t>
            </a:r>
          </a:p>
        </p:txBody>
      </p:sp>
      <p:sp>
        <p:nvSpPr>
          <p:cNvPr id="13" name="Rectangle 12"/>
          <p:cNvSpPr/>
          <p:nvPr/>
        </p:nvSpPr>
        <p:spPr>
          <a:xfrm>
            <a:off x="6227064" y="1700784"/>
            <a:ext cx="5385816" cy="342900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1938528"/>
            <a:ext cx="1280160" cy="822960"/>
          </a:xfrm>
          <a:prstGeom prst="rect">
            <a:avLst/>
          </a:prstGeom>
          <a:noFill/>
        </p:spPr>
        <p:txBody>
          <a:bodyPr wrap="square" lIns="0" rIns="0" tIns="0" bIns="0" anchor="ctr">
            <a:normAutofit/>
          </a:bodyPr>
          <a:lstStyle/>
          <a:p>
            <a:pPr algn="l">
              <a:spcBef>
                <a:spcPts val="0"/>
              </a:spcBef>
              <a:spcAft>
                <a:spcPts val="0"/>
              </a:spcAft>
            </a:pPr>
            <a:r>
              <a:rPr sz="5200" b="0">
                <a:solidFill>
                  <a:srgbClr val="002FA7"/>
                </a:solidFill>
                <a:latin typeface="Arial"/>
              </a:rPr>
              <a:t>02</a:t>
            </a:r>
          </a:p>
        </p:txBody>
      </p:sp>
      <p:sp>
        <p:nvSpPr>
          <p:cNvPr id="15" name="TextBox 14"/>
          <p:cNvSpPr txBox="1"/>
          <p:nvPr/>
        </p:nvSpPr>
        <p:spPr>
          <a:xfrm>
            <a:off x="6483096" y="2852928"/>
            <a:ext cx="4800600" cy="438912"/>
          </a:xfrm>
          <a:prstGeom prst="rect">
            <a:avLst/>
          </a:prstGeom>
          <a:noFill/>
        </p:spPr>
        <p:txBody>
          <a:bodyPr wrap="square" lIns="0" rIns="0" tIns="0" bIns="0" anchor="ctr">
            <a:normAutofit/>
          </a:bodyPr>
          <a:lstStyle/>
          <a:p>
            <a:pPr algn="l">
              <a:spcBef>
                <a:spcPts val="0"/>
              </a:spcBef>
              <a:spcAft>
                <a:spcPts val="0"/>
              </a:spcAft>
            </a:pPr>
            <a:r>
              <a:rPr sz="1800" b="1">
                <a:solidFill>
                  <a:srgbClr val="0A0A0A"/>
                </a:solidFill>
                <a:latin typeface="Arial"/>
              </a:rPr>
              <a:t>MATTER DOCUMENTS</a:t>
            </a:r>
          </a:p>
        </p:txBody>
      </p:sp>
      <p:sp>
        <p:nvSpPr>
          <p:cNvPr id="16" name="TextBox 15"/>
          <p:cNvSpPr txBox="1"/>
          <p:nvPr/>
        </p:nvSpPr>
        <p:spPr>
          <a:xfrm>
            <a:off x="6483096" y="3429000"/>
            <a:ext cx="4800600" cy="1115568"/>
          </a:xfrm>
          <a:prstGeom prst="rect">
            <a:avLst/>
          </a:prstGeom>
          <a:noFill/>
        </p:spPr>
        <p:txBody>
          <a:bodyPr wrap="square" lIns="0" rIns="0" tIns="0" bIns="0" anchor="t">
            <a:normAutofit/>
          </a:bodyPr>
          <a:lstStyle/>
          <a:p>
            <a:pPr algn="l">
              <a:spcBef>
                <a:spcPts val="0"/>
              </a:spcBef>
              <a:spcAft>
                <a:spcPts val="0"/>
              </a:spcAft>
            </a:pPr>
            <a:r>
              <a:rPr sz="2100" b="0">
                <a:solidFill>
                  <a:srgbClr val="0A0A0A"/>
                </a:solidFill>
                <a:latin typeface="Arial"/>
              </a:rPr>
              <a:t>Key facts are buried in PDFs and scans. Lawyers must read and reconcile them.</a:t>
            </a:r>
          </a:p>
        </p:txBody>
      </p:sp>
      <p:sp>
        <p:nvSpPr>
          <p:cNvPr id="17" name="Rectangle 16"/>
          <p:cNvSpPr/>
          <p:nvPr/>
        </p:nvSpPr>
        <p:spPr>
          <a:xfrm>
            <a:off x="566928" y="5495544"/>
            <a:ext cx="11045952" cy="493776"/>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522976"/>
            <a:ext cx="10863072" cy="438912"/>
          </a:xfrm>
          <a:prstGeom prst="rect">
            <a:avLst/>
          </a:prstGeom>
          <a:noFill/>
        </p:spPr>
        <p:txBody>
          <a:bodyPr wrap="square" lIns="0" rIns="0" tIns="0" bIns="0" anchor="ctr">
            <a:normAutofit/>
          </a:bodyPr>
          <a:lstStyle/>
          <a:p>
            <a:pPr algn="l">
              <a:spcBef>
                <a:spcPts val="0"/>
              </a:spcBef>
              <a:spcAft>
                <a:spcPts val="0"/>
              </a:spcAft>
            </a:pPr>
            <a:r>
              <a:rPr sz="1600" b="1">
                <a:solidFill>
                  <a:srgbClr val="FFFFFF"/>
                </a:solidFill>
                <a:latin typeface="Arial"/>
              </a:rPr>
              <a:t>DOCUMENT REVIEW  +  A MEASURED SEARCH FOR COMPLETE AUTHORITY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Practitioners shaped the corpus and the matter workflow</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03 / 22</a:t>
            </a:r>
          </a:p>
        </p:txBody>
      </p:sp>
      <p:pic>
        <p:nvPicPr>
          <p:cNvPr id="9" name="Picture 8" descr="anura-dhanaratna.jpeg"/>
          <p:cNvPicPr>
            <a:picLocks noChangeAspect="1"/>
          </p:cNvPicPr>
          <p:nvPr/>
        </p:nvPicPr>
        <p:blipFill>
          <a:blip r:embed="rId4"/>
          <a:srcRect l="5465" r="5465"/>
          <a:stretch>
            <a:fillRect/>
          </a:stretch>
        </p:blipFill>
        <p:spPr>
          <a:xfrm>
            <a:off x="566928" y="1645920"/>
            <a:ext cx="2148840" cy="3429000"/>
          </a:xfrm>
          <a:prstGeom prst="rect">
            <a:avLst/>
          </a:prstGeom>
        </p:spPr>
      </p:pic>
      <p:sp>
        <p:nvSpPr>
          <p:cNvPr id="10" name="TextBox 9"/>
          <p:cNvSpPr txBox="1"/>
          <p:nvPr/>
        </p:nvSpPr>
        <p:spPr>
          <a:xfrm>
            <a:off x="566928" y="5166360"/>
            <a:ext cx="2286000" cy="274320"/>
          </a:xfrm>
          <a:prstGeom prst="rect">
            <a:avLst/>
          </a:prstGeom>
          <a:noFill/>
        </p:spPr>
        <p:txBody>
          <a:bodyPr wrap="square" lIns="0" rIns="0" tIns="0" bIns="0" anchor="ctr">
            <a:normAutofit/>
          </a:bodyPr>
          <a:lstStyle/>
          <a:p>
            <a:pPr algn="l">
              <a:spcBef>
                <a:spcPts val="0"/>
              </a:spcBef>
              <a:spcAft>
                <a:spcPts val="0"/>
              </a:spcAft>
            </a:pPr>
            <a:r>
              <a:rPr sz="1300" b="1">
                <a:solidFill>
                  <a:srgbClr val="002FA7"/>
                </a:solidFill>
                <a:latin typeface="Arial"/>
              </a:rPr>
              <a:t>ANURA DHANARATNA</a:t>
            </a:r>
          </a:p>
        </p:txBody>
      </p:sp>
      <p:sp>
        <p:nvSpPr>
          <p:cNvPr id="11" name="TextBox 10"/>
          <p:cNvSpPr txBox="1"/>
          <p:nvPr/>
        </p:nvSpPr>
        <p:spPr>
          <a:xfrm>
            <a:off x="566928" y="5486400"/>
            <a:ext cx="2834640" cy="338328"/>
          </a:xfrm>
          <a:prstGeom prst="rect">
            <a:avLst/>
          </a:prstGeom>
          <a:noFill/>
        </p:spPr>
        <p:txBody>
          <a:bodyPr wrap="square" lIns="0" rIns="0" tIns="0" bIns="0" anchor="ctr">
            <a:normAutofit/>
          </a:bodyPr>
          <a:lstStyle/>
          <a:p>
            <a:pPr algn="l">
              <a:spcBef>
                <a:spcPts val="0"/>
              </a:spcBef>
              <a:spcAft>
                <a:spcPts val="0"/>
              </a:spcAft>
            </a:pPr>
            <a:r>
              <a:rPr sz="1150" b="0">
                <a:solidFill>
                  <a:srgbClr val="0A0A0A"/>
                </a:solidFill>
                <a:latin typeface="Arial"/>
              </a:rPr>
              <a:t>Lawyer · Notary · Law College lecturer</a:t>
            </a:r>
          </a:p>
        </p:txBody>
      </p:sp>
      <p:sp>
        <p:nvSpPr>
          <p:cNvPr id="12" name="Rectangle 11"/>
          <p:cNvSpPr/>
          <p:nvPr/>
        </p:nvSpPr>
        <p:spPr>
          <a:xfrm>
            <a:off x="3063240" y="1673352"/>
            <a:ext cx="4160520" cy="39319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1700784"/>
            <a:ext cx="3977639" cy="338328"/>
          </a:xfrm>
          <a:prstGeom prst="rect">
            <a:avLst/>
          </a:prstGeom>
          <a:noFill/>
        </p:spPr>
        <p:txBody>
          <a:bodyPr wrap="square" lIns="0" rIns="0" tIns="0" bIns="0" anchor="ctr">
            <a:normAutofit/>
          </a:bodyPr>
          <a:lstStyle/>
          <a:p>
            <a:pPr algn="l">
              <a:spcBef>
                <a:spcPts val="0"/>
              </a:spcBef>
              <a:spcAft>
                <a:spcPts val="0"/>
              </a:spcAft>
            </a:pPr>
            <a:r>
              <a:rPr sz="1400" b="1">
                <a:solidFill>
                  <a:srgbClr val="FFFFFF"/>
                </a:solidFill>
                <a:latin typeface="Arial"/>
              </a:rPr>
              <a:t>3 IN-PERSON CONSULTATIONS</a:t>
            </a:r>
          </a:p>
        </p:txBody>
      </p:sp>
      <p:sp>
        <p:nvSpPr>
          <p:cNvPr id="14" name="Rectangle 13"/>
          <p:cNvSpPr/>
          <p:nvPr/>
        </p:nvSpPr>
        <p:spPr>
          <a:xfrm>
            <a:off x="3063240" y="2286000"/>
            <a:ext cx="8485632" cy="8229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73552" y="2395728"/>
            <a:ext cx="3154680" cy="585216"/>
          </a:xfrm>
          <a:prstGeom prst="rect">
            <a:avLst/>
          </a:prstGeom>
          <a:noFill/>
        </p:spPr>
        <p:txBody>
          <a:bodyPr wrap="square" lIns="0" rIns="0" tIns="0" bIns="0" anchor="ctr">
            <a:normAutofit/>
          </a:bodyPr>
          <a:lstStyle/>
          <a:p>
            <a:pPr algn="l">
              <a:spcBef>
                <a:spcPts val="0"/>
              </a:spcBef>
              <a:spcAft>
                <a:spcPts val="0"/>
              </a:spcAft>
            </a:pPr>
            <a:r>
              <a:rPr sz="1700" b="1">
                <a:solidFill>
                  <a:srgbClr val="002FA7"/>
                </a:solidFill>
                <a:latin typeface="Arial"/>
              </a:rPr>
              <a:t>Notarial curriculum</a:t>
            </a:r>
          </a:p>
        </p:txBody>
      </p:sp>
      <p:sp>
        <p:nvSpPr>
          <p:cNvPr id="16" name="TextBox 15"/>
          <p:cNvSpPr txBox="1"/>
          <p:nvPr/>
        </p:nvSpPr>
        <p:spPr>
          <a:xfrm>
            <a:off x="6400800" y="2432304"/>
            <a:ext cx="310896" cy="457200"/>
          </a:xfrm>
          <a:prstGeom prst="rect">
            <a:avLst/>
          </a:prstGeom>
          <a:noFill/>
        </p:spPr>
        <p:txBody>
          <a:bodyPr wrap="square" lIns="0" rIns="0" tIns="0" bIns="0" anchor="ctr">
            <a:normAutofit/>
          </a:bodyPr>
          <a:lstStyle/>
          <a:p>
            <a:pPr algn="l">
              <a:spcBef>
                <a:spcPts val="0"/>
              </a:spcBef>
              <a:spcAft>
                <a:spcPts val="0"/>
              </a:spcAft>
            </a:pPr>
            <a:r>
              <a:rPr sz="2100" b="0">
                <a:solidFill>
                  <a:srgbClr val="002FA7"/>
                </a:solidFill>
                <a:latin typeface="Arial"/>
              </a:rPr>
              <a:t>→</a:t>
            </a:r>
          </a:p>
        </p:txBody>
      </p:sp>
      <p:sp>
        <p:nvSpPr>
          <p:cNvPr id="17" name="TextBox 16"/>
          <p:cNvSpPr txBox="1"/>
          <p:nvPr/>
        </p:nvSpPr>
        <p:spPr>
          <a:xfrm>
            <a:off x="6720840" y="2395728"/>
            <a:ext cx="4544568" cy="585216"/>
          </a:xfrm>
          <a:prstGeom prst="rect">
            <a:avLst/>
          </a:prstGeom>
          <a:noFill/>
        </p:spPr>
        <p:txBody>
          <a:bodyPr wrap="square" lIns="0" rIns="0" tIns="0" bIns="0" anchor="ctr">
            <a:normAutofit/>
          </a:bodyPr>
          <a:lstStyle/>
          <a:p>
            <a:pPr algn="l">
              <a:spcBef>
                <a:spcPts val="0"/>
              </a:spcBef>
              <a:spcAft>
                <a:spcPts val="0"/>
              </a:spcAft>
            </a:pPr>
            <a:r>
              <a:rPr sz="1700" b="0">
                <a:solidFill>
                  <a:srgbClr val="0A0A0A"/>
                </a:solidFill>
                <a:latin typeface="Arial"/>
              </a:rPr>
              <a:t>Topic map and statutory coverage</a:t>
            </a:r>
          </a:p>
        </p:txBody>
      </p:sp>
      <p:sp>
        <p:nvSpPr>
          <p:cNvPr id="18" name="Rectangle 17"/>
          <p:cNvSpPr/>
          <p:nvPr/>
        </p:nvSpPr>
        <p:spPr>
          <a:xfrm>
            <a:off x="3063240" y="3246120"/>
            <a:ext cx="8485632" cy="8229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3552" y="3355848"/>
            <a:ext cx="3154680" cy="585216"/>
          </a:xfrm>
          <a:prstGeom prst="rect">
            <a:avLst/>
          </a:prstGeom>
          <a:noFill/>
        </p:spPr>
        <p:txBody>
          <a:bodyPr wrap="square" lIns="0" rIns="0" tIns="0" bIns="0" anchor="ctr">
            <a:normAutofit/>
          </a:bodyPr>
          <a:lstStyle/>
          <a:p>
            <a:pPr algn="l">
              <a:spcBef>
                <a:spcPts val="0"/>
              </a:spcBef>
              <a:spcAft>
                <a:spcPts val="0"/>
              </a:spcAft>
            </a:pPr>
            <a:r>
              <a:rPr sz="1700" b="1">
                <a:solidFill>
                  <a:srgbClr val="002FA7"/>
                </a:solidFill>
                <a:latin typeface="Arial"/>
              </a:rPr>
              <a:t>Sample matter documents</a:t>
            </a:r>
          </a:p>
        </p:txBody>
      </p:sp>
      <p:sp>
        <p:nvSpPr>
          <p:cNvPr id="20" name="TextBox 19"/>
          <p:cNvSpPr txBox="1"/>
          <p:nvPr/>
        </p:nvSpPr>
        <p:spPr>
          <a:xfrm>
            <a:off x="6400800" y="3392424"/>
            <a:ext cx="310896" cy="457200"/>
          </a:xfrm>
          <a:prstGeom prst="rect">
            <a:avLst/>
          </a:prstGeom>
          <a:noFill/>
        </p:spPr>
        <p:txBody>
          <a:bodyPr wrap="square" lIns="0" rIns="0" tIns="0" bIns="0" anchor="ctr">
            <a:normAutofit/>
          </a:bodyPr>
          <a:lstStyle/>
          <a:p>
            <a:pPr algn="l">
              <a:spcBef>
                <a:spcPts val="0"/>
              </a:spcBef>
              <a:spcAft>
                <a:spcPts val="0"/>
              </a:spcAft>
            </a:pPr>
            <a:r>
              <a:rPr sz="2100" b="0">
                <a:solidFill>
                  <a:srgbClr val="002FA7"/>
                </a:solidFill>
                <a:latin typeface="Arial"/>
              </a:rPr>
              <a:t>→</a:t>
            </a:r>
          </a:p>
        </p:txBody>
      </p:sp>
      <p:sp>
        <p:nvSpPr>
          <p:cNvPr id="21" name="TextBox 20"/>
          <p:cNvSpPr txBox="1"/>
          <p:nvPr/>
        </p:nvSpPr>
        <p:spPr>
          <a:xfrm>
            <a:off x="6720840" y="3355848"/>
            <a:ext cx="4544568" cy="585216"/>
          </a:xfrm>
          <a:prstGeom prst="rect">
            <a:avLst/>
          </a:prstGeom>
          <a:noFill/>
        </p:spPr>
        <p:txBody>
          <a:bodyPr wrap="square" lIns="0" rIns="0" tIns="0" bIns="0" anchor="ctr">
            <a:normAutofit/>
          </a:bodyPr>
          <a:lstStyle/>
          <a:p>
            <a:pPr algn="l">
              <a:spcBef>
                <a:spcPts val="0"/>
              </a:spcBef>
              <a:spcAft>
                <a:spcPts val="0"/>
              </a:spcAft>
            </a:pPr>
            <a:r>
              <a:rPr sz="1700" b="0">
                <a:solidFill>
                  <a:srgbClr val="0A0A0A"/>
                </a:solidFill>
                <a:latin typeface="Arial"/>
              </a:rPr>
              <a:t>Document-reading trials</a:t>
            </a:r>
          </a:p>
        </p:txBody>
      </p:sp>
      <p:sp>
        <p:nvSpPr>
          <p:cNvPr id="22" name="Rectangle 21"/>
          <p:cNvSpPr/>
          <p:nvPr/>
        </p:nvSpPr>
        <p:spPr>
          <a:xfrm>
            <a:off x="3063240" y="4206240"/>
            <a:ext cx="8485632" cy="8229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73552" y="4315968"/>
            <a:ext cx="3154680" cy="585216"/>
          </a:xfrm>
          <a:prstGeom prst="rect">
            <a:avLst/>
          </a:prstGeom>
          <a:noFill/>
        </p:spPr>
        <p:txBody>
          <a:bodyPr wrap="square" lIns="0" rIns="0" tIns="0" bIns="0" anchor="ctr">
            <a:normAutofit/>
          </a:bodyPr>
          <a:lstStyle/>
          <a:p>
            <a:pPr algn="l">
              <a:spcBef>
                <a:spcPts val="0"/>
              </a:spcBef>
              <a:spcAft>
                <a:spcPts val="0"/>
              </a:spcAft>
            </a:pPr>
            <a:r>
              <a:rPr sz="1700" b="1">
                <a:solidFill>
                  <a:srgbClr val="002FA7"/>
                </a:solidFill>
                <a:latin typeface="Arial"/>
              </a:rPr>
              <a:t>Practitioner feedback</a:t>
            </a:r>
          </a:p>
        </p:txBody>
      </p:sp>
      <p:sp>
        <p:nvSpPr>
          <p:cNvPr id="24" name="TextBox 23"/>
          <p:cNvSpPr txBox="1"/>
          <p:nvPr/>
        </p:nvSpPr>
        <p:spPr>
          <a:xfrm>
            <a:off x="6400800" y="4352544"/>
            <a:ext cx="310896" cy="457200"/>
          </a:xfrm>
          <a:prstGeom prst="rect">
            <a:avLst/>
          </a:prstGeom>
          <a:noFill/>
        </p:spPr>
        <p:txBody>
          <a:bodyPr wrap="square" lIns="0" rIns="0" tIns="0" bIns="0" anchor="ctr">
            <a:normAutofit/>
          </a:bodyPr>
          <a:lstStyle/>
          <a:p>
            <a:pPr algn="l">
              <a:spcBef>
                <a:spcPts val="0"/>
              </a:spcBef>
              <a:spcAft>
                <a:spcPts val="0"/>
              </a:spcAft>
            </a:pPr>
            <a:r>
              <a:rPr sz="2100" b="0">
                <a:solidFill>
                  <a:srgbClr val="002FA7"/>
                </a:solidFill>
                <a:latin typeface="Arial"/>
              </a:rPr>
              <a:t>→</a:t>
            </a:r>
          </a:p>
        </p:txBody>
      </p:sp>
      <p:sp>
        <p:nvSpPr>
          <p:cNvPr id="25" name="TextBox 24"/>
          <p:cNvSpPr txBox="1"/>
          <p:nvPr/>
        </p:nvSpPr>
        <p:spPr>
          <a:xfrm>
            <a:off x="6720840" y="4315968"/>
            <a:ext cx="4544568" cy="585216"/>
          </a:xfrm>
          <a:prstGeom prst="rect">
            <a:avLst/>
          </a:prstGeom>
          <a:noFill/>
        </p:spPr>
        <p:txBody>
          <a:bodyPr wrap="square" lIns="0" rIns="0" tIns="0" bIns="0" anchor="ctr">
            <a:normAutofit/>
          </a:bodyPr>
          <a:lstStyle/>
          <a:p>
            <a:pPr algn="l">
              <a:spcBef>
                <a:spcPts val="0"/>
              </a:spcBef>
              <a:spcAft>
                <a:spcPts val="0"/>
              </a:spcAft>
            </a:pPr>
            <a:r>
              <a:rPr sz="1700" b="0">
                <a:solidFill>
                  <a:srgbClr val="0A0A0A"/>
                </a:solidFill>
                <a:latin typeface="Arial"/>
              </a:rPr>
              <a:t>Evidence review and lawyer decision gates</a:t>
            </a:r>
          </a:p>
        </p:txBody>
      </p:sp>
      <p:sp>
        <p:nvSpPr>
          <p:cNvPr id="26" name="TextBox 25"/>
          <p:cNvSpPr txBox="1"/>
          <p:nvPr/>
        </p:nvSpPr>
        <p:spPr>
          <a:xfrm>
            <a:off x="7598664" y="5394960"/>
            <a:ext cx="2743200" cy="228600"/>
          </a:xfrm>
          <a:prstGeom prst="rect">
            <a:avLst/>
          </a:prstGeom>
          <a:noFill/>
        </p:spPr>
        <p:txBody>
          <a:bodyPr wrap="square" lIns="0" rIns="0" tIns="0" bIns="0" anchor="ctr">
            <a:normAutofit/>
          </a:bodyPr>
          <a:lstStyle/>
          <a:p>
            <a:pPr algn="l">
              <a:spcBef>
                <a:spcPts val="0"/>
              </a:spcBef>
              <a:spcAft>
                <a:spcPts val="0"/>
              </a:spcAft>
            </a:pPr>
            <a:r>
              <a:rPr sz="1000" b="1">
                <a:solidFill>
                  <a:srgbClr val="737373"/>
                </a:solidFill>
                <a:latin typeface="Arial"/>
              </a:rPr>
              <a:t>ADDITIONAL STAKEHOLDER CONVERSATIONS</a:t>
            </a:r>
          </a:p>
        </p:txBody>
      </p:sp>
      <p:pic>
        <p:nvPicPr>
          <p:cNvPr id="27" name="Picture 26" descr="ishan-rathnapala.jpeg"/>
          <p:cNvPicPr>
            <a:picLocks noChangeAspect="1"/>
          </p:cNvPicPr>
          <p:nvPr/>
        </p:nvPicPr>
        <p:blipFill>
          <a:blip r:embed="rId5"/>
          <a:srcRect l="6923" r="6923"/>
          <a:stretch>
            <a:fillRect/>
          </a:stretch>
        </p:blipFill>
        <p:spPr>
          <a:xfrm>
            <a:off x="10497312" y="5367528"/>
            <a:ext cx="512064" cy="594360"/>
          </a:xfrm>
          <a:prstGeom prst="rect">
            <a:avLst/>
          </a:prstGeom>
        </p:spPr>
      </p:pic>
      <p:pic>
        <p:nvPicPr>
          <p:cNvPr id="28" name="Picture 27" descr="priyal-wijayaweera.jpeg"/>
          <p:cNvPicPr>
            <a:picLocks noChangeAspect="1"/>
          </p:cNvPicPr>
          <p:nvPr/>
        </p:nvPicPr>
        <p:blipFill>
          <a:blip r:embed="rId6"/>
          <a:srcRect l="6923" r="6923"/>
          <a:stretch>
            <a:fillRect/>
          </a:stretch>
        </p:blipFill>
        <p:spPr>
          <a:xfrm>
            <a:off x="9838944" y="5367528"/>
            <a:ext cx="512064" cy="594360"/>
          </a:xfrm>
          <a:prstGeom prst="rect">
            <a:avLst/>
          </a:prstGeom>
        </p:spPr>
      </p:pic>
      <p:pic>
        <p:nvPicPr>
          <p:cNvPr id="29" name="Picture 28" descr="stakeholder-portrait-04.jpeg"/>
          <p:cNvPicPr>
            <a:picLocks noChangeAspect="1"/>
          </p:cNvPicPr>
          <p:nvPr/>
        </p:nvPicPr>
        <p:blipFill>
          <a:blip r:embed="rId7"/>
          <a:srcRect l="2242" r="2242"/>
          <a:stretch>
            <a:fillRect/>
          </a:stretch>
        </p:blipFill>
        <p:spPr>
          <a:xfrm>
            <a:off x="9180576" y="5367528"/>
            <a:ext cx="512064" cy="594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The notarial syllabus became a structured statutory search corpus</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04 / 22</a:t>
            </a:r>
          </a:p>
        </p:txBody>
      </p:sp>
      <p:pic>
        <p:nvPicPr>
          <p:cNvPr id="9" name="Picture 8" descr="research-statutory-corpus-crop.png"/>
          <p:cNvPicPr>
            <a:picLocks noChangeAspect="1"/>
          </p:cNvPicPr>
          <p:nvPr/>
        </p:nvPicPr>
        <p:blipFill>
          <a:blip r:embed="rId4"/>
          <a:stretch>
            <a:fillRect/>
          </a:stretch>
        </p:blipFill>
        <p:spPr>
          <a:xfrm>
            <a:off x="1002830" y="1627632"/>
            <a:ext cx="4139106" cy="4389120"/>
          </a:xfrm>
          <a:prstGeom prst="rect">
            <a:avLst/>
          </a:prstGeom>
        </p:spPr>
      </p:pic>
      <p:sp>
        <p:nvSpPr>
          <p:cNvPr id="10" name="TextBox 9"/>
          <p:cNvSpPr txBox="1"/>
          <p:nvPr/>
        </p:nvSpPr>
        <p:spPr>
          <a:xfrm>
            <a:off x="612648" y="5998464"/>
            <a:ext cx="4754880" cy="228600"/>
          </a:xfrm>
          <a:prstGeom prst="rect">
            <a:avLst/>
          </a:prstGeom>
          <a:noFill/>
        </p:spPr>
        <p:txBody>
          <a:bodyPr wrap="square" lIns="0" rIns="0" tIns="0" bIns="0" anchor="ctr">
            <a:normAutofit/>
          </a:bodyPr>
          <a:lstStyle/>
          <a:p>
            <a:pPr algn="l">
              <a:spcBef>
                <a:spcPts val="0"/>
              </a:spcBef>
              <a:spcAft>
                <a:spcPts val="0"/>
              </a:spcAft>
            </a:pPr>
            <a:r>
              <a:rPr sz="1000" b="1">
                <a:solidFill>
                  <a:srgbClr val="737373"/>
                </a:solidFill>
                <a:latin typeface="Arial"/>
              </a:rPr>
              <a:t>INTERNAL PARSED RESEARCH CORPUS</a:t>
            </a:r>
          </a:p>
        </p:txBody>
      </p:sp>
      <p:sp>
        <p:nvSpPr>
          <p:cNvPr id="11" name="Rectangle 10"/>
          <p:cNvSpPr/>
          <p:nvPr/>
        </p:nvSpPr>
        <p:spPr>
          <a:xfrm>
            <a:off x="5888736" y="1719072"/>
            <a:ext cx="5394960" cy="118872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71616" y="1828800"/>
            <a:ext cx="5029200"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52 + 60</a:t>
            </a:r>
          </a:p>
        </p:txBody>
      </p:sp>
      <p:sp>
        <p:nvSpPr>
          <p:cNvPr id="13" name="TextBox 12"/>
          <p:cNvSpPr txBox="1"/>
          <p:nvPr/>
        </p:nvSpPr>
        <p:spPr>
          <a:xfrm>
            <a:off x="6071616" y="2432304"/>
            <a:ext cx="5029200" cy="393192"/>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principal enactments + amending Acts</a:t>
            </a:r>
          </a:p>
        </p:txBody>
      </p:sp>
      <p:sp>
        <p:nvSpPr>
          <p:cNvPr id="14" name="Rectangle 13"/>
          <p:cNvSpPr/>
          <p:nvPr/>
        </p:nvSpPr>
        <p:spPr>
          <a:xfrm>
            <a:off x="5888736" y="3017520"/>
            <a:ext cx="5394960" cy="118872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71616" y="3127248"/>
            <a:ext cx="5029200"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4,557</a:t>
            </a:r>
          </a:p>
        </p:txBody>
      </p:sp>
      <p:sp>
        <p:nvSpPr>
          <p:cNvPr id="16" name="TextBox 15"/>
          <p:cNvSpPr txBox="1"/>
          <p:nvPr/>
        </p:nvSpPr>
        <p:spPr>
          <a:xfrm>
            <a:off x="6071616" y="3730752"/>
            <a:ext cx="5029200" cy="393192"/>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sections · 17,854 provisions</a:t>
            </a:r>
          </a:p>
        </p:txBody>
      </p:sp>
      <p:sp>
        <p:nvSpPr>
          <p:cNvPr id="17" name="Rectangle 16"/>
          <p:cNvSpPr/>
          <p:nvPr/>
        </p:nvSpPr>
        <p:spPr>
          <a:xfrm>
            <a:off x="5888736" y="4315968"/>
            <a:ext cx="5394960" cy="118872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71616" y="4425696"/>
            <a:ext cx="5029200"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6,346</a:t>
            </a:r>
          </a:p>
        </p:txBody>
      </p:sp>
      <p:sp>
        <p:nvSpPr>
          <p:cNvPr id="19" name="TextBox 18"/>
          <p:cNvSpPr txBox="1"/>
          <p:nvPr/>
        </p:nvSpPr>
        <p:spPr>
          <a:xfrm>
            <a:off x="6071616" y="5029200"/>
            <a:ext cx="5029200" cy="393192"/>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typed statutory edges</a:t>
            </a:r>
          </a:p>
        </p:txBody>
      </p:sp>
      <p:pic>
        <p:nvPicPr>
          <p:cNvPr id="20" name="Picture 19" descr="hugging-face-logo.png">
            <a:hlinkClick r:id="rId6"/>
          </p:cNvPr>
          <p:cNvPicPr>
            <a:picLocks noChangeAspect="1"/>
          </p:cNvPicPr>
          <p:nvPr/>
        </p:nvPicPr>
        <p:blipFill>
          <a:blip r:embed="rId5"/>
          <a:stretch>
            <a:fillRect/>
          </a:stretch>
        </p:blipFill>
        <p:spPr>
          <a:xfrm>
            <a:off x="5907024" y="5715000"/>
            <a:ext cx="329184" cy="329184"/>
          </a:xfrm>
          <a:prstGeom prst="rect">
            <a:avLst/>
          </a:prstGeom>
        </p:spPr>
      </p:pic>
      <p:sp>
        <p:nvSpPr>
          <p:cNvPr id="21" name="TextBox 20"/>
          <p:cNvSpPr txBox="1"/>
          <p:nvPr/>
        </p:nvSpPr>
        <p:spPr>
          <a:xfrm>
            <a:off x="6300216" y="5733288"/>
            <a:ext cx="5212080" cy="256032"/>
          </a:xfrm>
          <a:prstGeom prst="rect">
            <a:avLst/>
          </a:prstGeom>
          <a:noFill/>
        </p:spPr>
        <p:txBody>
          <a:bodyPr wrap="square" lIns="0" rIns="0" tIns="0" bIns="0" anchor="ctr">
            <a:normAutofit/>
          </a:bodyPr>
          <a:lstStyle/>
          <a:p>
            <a:pPr algn="l">
              <a:spcBef>
                <a:spcPts val="0"/>
              </a:spcBef>
              <a:spcAft>
                <a:spcPts val="0"/>
              </a:spcAft>
            </a:pPr>
            <a:r>
              <a:rPr sz="1200" b="0">
                <a:solidFill>
                  <a:srgbClr val="737373"/>
                </a:solidFill>
                <a:latin typeface="Arial"/>
              </a:rPr>
              <a:t>Public Act source-link index · parsed text stays internal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The case-law collection adds judgments, with provisional rule extraction</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05 / 22</a:t>
            </a:r>
          </a:p>
        </p:txBody>
      </p:sp>
      <p:sp>
        <p:nvSpPr>
          <p:cNvPr id="9" name="Rectangle 8"/>
          <p:cNvSpPr/>
          <p:nvPr/>
        </p:nvSpPr>
        <p:spPr>
          <a:xfrm>
            <a:off x="566928" y="1691640"/>
            <a:ext cx="5376672" cy="212140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801368"/>
            <a:ext cx="5010912"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3,703</a:t>
            </a:r>
          </a:p>
        </p:txBody>
      </p:sp>
      <p:sp>
        <p:nvSpPr>
          <p:cNvPr id="11" name="TextBox 10"/>
          <p:cNvSpPr txBox="1"/>
          <p:nvPr/>
        </p:nvSpPr>
        <p:spPr>
          <a:xfrm>
            <a:off x="749808" y="2404872"/>
            <a:ext cx="5010912" cy="1325879"/>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reported NLR / SLR conveyancing judgments</a:t>
            </a:r>
          </a:p>
        </p:txBody>
      </p:sp>
      <p:sp>
        <p:nvSpPr>
          <p:cNvPr id="12" name="Rectangle 11"/>
          <p:cNvSpPr/>
          <p:nvPr/>
        </p:nvSpPr>
        <p:spPr>
          <a:xfrm>
            <a:off x="6245352" y="1691640"/>
            <a:ext cx="5376672" cy="212140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01368"/>
            <a:ext cx="5010912"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5,474</a:t>
            </a:r>
          </a:p>
        </p:txBody>
      </p:sp>
      <p:sp>
        <p:nvSpPr>
          <p:cNvPr id="14" name="TextBox 13"/>
          <p:cNvSpPr txBox="1"/>
          <p:nvPr/>
        </p:nvSpPr>
        <p:spPr>
          <a:xfrm>
            <a:off x="6428232" y="2404872"/>
            <a:ext cx="5010912" cy="1325879"/>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official Supreme Court / Court of Appeal judgment documents</a:t>
            </a:r>
          </a:p>
        </p:txBody>
      </p:sp>
      <p:cxnSp>
        <p:nvCxnSpPr>
          <p:cNvPr id="15" name="Connector 14"/>
          <p:cNvCxnSpPr/>
          <p:nvPr/>
        </p:nvCxnSpPr>
        <p:spPr>
          <a:xfrm>
            <a:off x="566928" y="4096512"/>
            <a:ext cx="11055096" cy="0"/>
          </a:xfrm>
          <a:prstGeom prst="line">
            <a:avLst/>
          </a:prstGeom>
          <a:ln w="12700">
            <a:solidFill>
              <a:srgbClr val="D4D4D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5216" y="4325112"/>
            <a:ext cx="5303520" cy="731520"/>
          </a:xfrm>
          <a:prstGeom prst="rect">
            <a:avLst/>
          </a:prstGeom>
          <a:noFill/>
        </p:spPr>
        <p:txBody>
          <a:bodyPr wrap="square" lIns="0" rIns="0" tIns="0" bIns="0" anchor="ctr">
            <a:normAutofit/>
          </a:bodyPr>
          <a:lstStyle/>
          <a:p>
            <a:pPr algn="l">
              <a:spcBef>
                <a:spcPts val="0"/>
              </a:spcBef>
              <a:spcAft>
                <a:spcPts val="0"/>
              </a:spcAft>
            </a:pPr>
            <a:r>
              <a:rPr sz="4300" b="0">
                <a:solidFill>
                  <a:srgbClr val="002FA7"/>
                </a:solidFill>
                <a:latin typeface="Arial"/>
              </a:rPr>
              <a:t>3,521 / 3,703</a:t>
            </a:r>
          </a:p>
        </p:txBody>
      </p:sp>
      <p:sp>
        <p:nvSpPr>
          <p:cNvPr id="17" name="TextBox 16"/>
          <p:cNvSpPr txBox="1"/>
          <p:nvPr/>
        </p:nvSpPr>
        <p:spPr>
          <a:xfrm>
            <a:off x="585216" y="5111496"/>
            <a:ext cx="8138160" cy="475488"/>
          </a:xfrm>
          <a:prstGeom prst="rect">
            <a:avLst/>
          </a:prstGeom>
          <a:noFill/>
        </p:spPr>
        <p:txBody>
          <a:bodyPr wrap="square" lIns="0" rIns="0" tIns="0" bIns="0" anchor="ctr">
            <a:normAutofit/>
          </a:bodyPr>
          <a:lstStyle/>
          <a:p>
            <a:pPr algn="l">
              <a:spcBef>
                <a:spcPts val="0"/>
              </a:spcBef>
              <a:spcAft>
                <a:spcPts val="0"/>
              </a:spcAft>
            </a:pPr>
            <a:r>
              <a:rPr sz="2100" b="0">
                <a:solidFill>
                  <a:srgbClr val="0A0A0A"/>
                </a:solidFill>
                <a:latin typeface="Arial"/>
              </a:rPr>
              <a:t>reported cases yielded verbatim headnote rules</a:t>
            </a:r>
          </a:p>
        </p:txBody>
      </p:sp>
      <p:sp>
        <p:nvSpPr>
          <p:cNvPr id="18" name="Rectangle 17"/>
          <p:cNvSpPr/>
          <p:nvPr/>
        </p:nvSpPr>
        <p:spPr>
          <a:xfrm>
            <a:off x="585216" y="5824728"/>
            <a:ext cx="7132320" cy="374904"/>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5852160"/>
            <a:ext cx="6949440" cy="320040"/>
          </a:xfrm>
          <a:prstGeom prst="rect">
            <a:avLst/>
          </a:prstGeom>
          <a:noFill/>
        </p:spPr>
        <p:txBody>
          <a:bodyPr wrap="square" lIns="0" rIns="0" tIns="0" bIns="0" anchor="ctr">
            <a:normAutofit/>
          </a:bodyPr>
          <a:lstStyle/>
          <a:p>
            <a:pPr algn="l">
              <a:spcBef>
                <a:spcPts val="0"/>
              </a:spcBef>
              <a:spcAft>
                <a:spcPts val="0"/>
              </a:spcAft>
            </a:pPr>
            <a:r>
              <a:rPr sz="1200" b="1">
                <a:solidFill>
                  <a:srgbClr val="002FA7"/>
                </a:solidFill>
                <a:latin typeface="Arial"/>
              </a:rPr>
              <a:t>PROVISIONAL RULES  ·  LAWYER VALIDATION PENDING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A separate retriever finds analogous conveyancing cases</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06 / 22</a:t>
            </a:r>
          </a:p>
        </p:txBody>
      </p:sp>
      <p:sp>
        <p:nvSpPr>
          <p:cNvPr id="9" name="Rectangle 8"/>
          <p:cNvSpPr/>
          <p:nvPr/>
        </p:nvSpPr>
        <p:spPr>
          <a:xfrm>
            <a:off x="566928" y="1618488"/>
            <a:ext cx="8458200" cy="402336"/>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645920"/>
            <a:ext cx="8275320" cy="347472"/>
          </a:xfrm>
          <a:prstGeom prst="rect">
            <a:avLst/>
          </a:prstGeom>
          <a:noFill/>
        </p:spPr>
        <p:txBody>
          <a:bodyPr wrap="square" lIns="0" rIns="0" tIns="0" bIns="0" anchor="ctr">
            <a:normAutofit/>
          </a:bodyPr>
          <a:lstStyle/>
          <a:p>
            <a:pPr algn="l">
              <a:spcBef>
                <a:spcPts val="0"/>
              </a:spcBef>
              <a:spcAft>
                <a:spcPts val="0"/>
              </a:spcAft>
            </a:pPr>
            <a:r>
              <a:rPr sz="1600" b="1">
                <a:solidFill>
                  <a:srgbClr val="FFFFFF"/>
                </a:solidFill>
                <a:latin typeface="Arial"/>
              </a:rPr>
              <a:t>5,121 CONVEYANCING-FLAGGED CASES  /  9,177 COLLECTED</a:t>
            </a:r>
          </a:p>
        </p:txBody>
      </p:sp>
      <p:sp>
        <p:nvSpPr>
          <p:cNvPr id="11" name="Rectangle 10"/>
          <p:cNvSpPr/>
          <p:nvPr/>
        </p:nvSpPr>
        <p:spPr>
          <a:xfrm>
            <a:off x="566928" y="2404872"/>
            <a:ext cx="1668780" cy="105156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96312"/>
            <a:ext cx="1485900" cy="868680"/>
          </a:xfrm>
          <a:prstGeom prst="rect">
            <a:avLst/>
          </a:prstGeom>
          <a:noFill/>
        </p:spPr>
        <p:txBody>
          <a:bodyPr wrap="square" lIns="0" rIns="0" tIns="0" bIns="0" anchor="ctr">
            <a:normAutofit/>
          </a:bodyPr>
          <a:lstStyle/>
          <a:p>
            <a:pPr algn="ctr">
              <a:spcBef>
                <a:spcPts val="0"/>
              </a:spcBef>
              <a:spcAft>
                <a:spcPts val="0"/>
              </a:spcAft>
            </a:pPr>
            <a:r>
              <a:rPr sz="1400" b="1">
                <a:solidFill>
                  <a:srgbClr val="FFFFFF"/>
                </a:solidFill>
                <a:latin typeface="Arial"/>
              </a:rPr>
              <a:t>Fact pattern</a:t>
            </a:r>
          </a:p>
        </p:txBody>
      </p:sp>
      <p:sp>
        <p:nvSpPr>
          <p:cNvPr id="13" name="TextBox 12"/>
          <p:cNvSpPr txBox="1"/>
          <p:nvPr/>
        </p:nvSpPr>
        <p:spPr>
          <a:xfrm>
            <a:off x="2235708" y="279349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4" name="Rectangle 13"/>
          <p:cNvSpPr/>
          <p:nvPr/>
        </p:nvSpPr>
        <p:spPr>
          <a:xfrm>
            <a:off x="2446020" y="2404872"/>
            <a:ext cx="1668780" cy="10515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37460" y="2496312"/>
            <a:ext cx="1485900" cy="868680"/>
          </a:xfrm>
          <a:prstGeom prst="rect">
            <a:avLst/>
          </a:prstGeom>
          <a:noFill/>
        </p:spPr>
        <p:txBody>
          <a:bodyPr wrap="square" lIns="0" rIns="0" tIns="0" bIns="0" anchor="ctr">
            <a:normAutofit/>
          </a:bodyPr>
          <a:lstStyle/>
          <a:p>
            <a:pPr algn="ctr">
              <a:spcBef>
                <a:spcPts val="0"/>
              </a:spcBef>
              <a:spcAft>
                <a:spcPts val="0"/>
              </a:spcAft>
            </a:pPr>
            <a:r>
              <a:rPr sz="1400" b="0">
                <a:solidFill>
                  <a:srgbClr val="0A0A0A"/>
                </a:solidFill>
                <a:latin typeface="Arial"/>
              </a:rPr>
              <a:t>Case index</a:t>
            </a:r>
          </a:p>
        </p:txBody>
      </p:sp>
      <p:sp>
        <p:nvSpPr>
          <p:cNvPr id="16" name="TextBox 15"/>
          <p:cNvSpPr txBox="1"/>
          <p:nvPr/>
        </p:nvSpPr>
        <p:spPr>
          <a:xfrm>
            <a:off x="4114800" y="279349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7" name="Rectangle 16"/>
          <p:cNvSpPr/>
          <p:nvPr/>
        </p:nvSpPr>
        <p:spPr>
          <a:xfrm>
            <a:off x="4325112" y="2404872"/>
            <a:ext cx="1668780" cy="10515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6552" y="2496312"/>
            <a:ext cx="1485900" cy="868680"/>
          </a:xfrm>
          <a:prstGeom prst="rect">
            <a:avLst/>
          </a:prstGeom>
          <a:noFill/>
        </p:spPr>
        <p:txBody>
          <a:bodyPr wrap="square" lIns="0" rIns="0" tIns="0" bIns="0" anchor="ctr">
            <a:normAutofit/>
          </a:bodyPr>
          <a:lstStyle/>
          <a:p>
            <a:pPr algn="ctr">
              <a:spcBef>
                <a:spcPts val="0"/>
              </a:spcBef>
              <a:spcAft>
                <a:spcPts val="0"/>
              </a:spcAft>
            </a:pPr>
            <a:r>
              <a:rPr sz="1400" b="0">
                <a:solidFill>
                  <a:srgbClr val="0A0A0A"/>
                </a:solidFill>
                <a:latin typeface="Arial"/>
              </a:rPr>
              <a:t>BM25 text</a:t>
            </a:r>
          </a:p>
        </p:txBody>
      </p:sp>
      <p:sp>
        <p:nvSpPr>
          <p:cNvPr id="19" name="TextBox 18"/>
          <p:cNvSpPr txBox="1"/>
          <p:nvPr/>
        </p:nvSpPr>
        <p:spPr>
          <a:xfrm>
            <a:off x="5993892" y="279349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0" name="Rectangle 19"/>
          <p:cNvSpPr/>
          <p:nvPr/>
        </p:nvSpPr>
        <p:spPr>
          <a:xfrm>
            <a:off x="6204204" y="2404872"/>
            <a:ext cx="1668780" cy="10515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5644" y="2496312"/>
            <a:ext cx="1485900" cy="868680"/>
          </a:xfrm>
          <a:prstGeom prst="rect">
            <a:avLst/>
          </a:prstGeom>
          <a:noFill/>
        </p:spPr>
        <p:txBody>
          <a:bodyPr wrap="square" lIns="0" rIns="0" tIns="0" bIns="0" anchor="ctr">
            <a:normAutofit/>
          </a:bodyPr>
          <a:lstStyle/>
          <a:p>
            <a:pPr algn="ctr">
              <a:spcBef>
                <a:spcPts val="0"/>
              </a:spcBef>
              <a:spcAft>
                <a:spcPts val="0"/>
              </a:spcAft>
            </a:pPr>
            <a:r>
              <a:rPr sz="1400" b="0">
                <a:solidFill>
                  <a:srgbClr val="0A0A0A"/>
                </a:solidFill>
                <a:latin typeface="Arial"/>
              </a:rPr>
              <a:t>Case graph</a:t>
            </a:r>
          </a:p>
        </p:txBody>
      </p:sp>
      <p:sp>
        <p:nvSpPr>
          <p:cNvPr id="22" name="TextBox 21"/>
          <p:cNvSpPr txBox="1"/>
          <p:nvPr/>
        </p:nvSpPr>
        <p:spPr>
          <a:xfrm>
            <a:off x="7872984" y="279349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3" name="Rectangle 22"/>
          <p:cNvSpPr/>
          <p:nvPr/>
        </p:nvSpPr>
        <p:spPr>
          <a:xfrm>
            <a:off x="8083296" y="2404872"/>
            <a:ext cx="1668780" cy="10515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74736" y="2496312"/>
            <a:ext cx="1485900" cy="868680"/>
          </a:xfrm>
          <a:prstGeom prst="rect">
            <a:avLst/>
          </a:prstGeom>
          <a:noFill/>
        </p:spPr>
        <p:txBody>
          <a:bodyPr wrap="square" lIns="0" rIns="0" tIns="0" bIns="0" anchor="ctr">
            <a:normAutofit/>
          </a:bodyPr>
          <a:lstStyle/>
          <a:p>
            <a:pPr algn="ctr">
              <a:spcBef>
                <a:spcPts val="0"/>
              </a:spcBef>
              <a:spcAft>
                <a:spcPts val="0"/>
              </a:spcAft>
            </a:pPr>
            <a:r>
              <a:rPr sz="1400" b="0">
                <a:solidFill>
                  <a:srgbClr val="0A0A0A"/>
                </a:solidFill>
                <a:latin typeface="Arial"/>
              </a:rPr>
              <a:t>Rank fusion</a:t>
            </a:r>
          </a:p>
        </p:txBody>
      </p:sp>
      <p:sp>
        <p:nvSpPr>
          <p:cNvPr id="25" name="TextBox 24"/>
          <p:cNvSpPr txBox="1"/>
          <p:nvPr/>
        </p:nvSpPr>
        <p:spPr>
          <a:xfrm>
            <a:off x="9752076" y="279349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6" name="Rectangle 25"/>
          <p:cNvSpPr/>
          <p:nvPr/>
        </p:nvSpPr>
        <p:spPr>
          <a:xfrm>
            <a:off x="9962388" y="2404872"/>
            <a:ext cx="1668780" cy="105156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3828" y="2496312"/>
            <a:ext cx="1485900" cy="868680"/>
          </a:xfrm>
          <a:prstGeom prst="rect">
            <a:avLst/>
          </a:prstGeom>
          <a:noFill/>
        </p:spPr>
        <p:txBody>
          <a:bodyPr wrap="square" lIns="0" rIns="0" tIns="0" bIns="0" anchor="ctr">
            <a:normAutofit/>
          </a:bodyPr>
          <a:lstStyle/>
          <a:p>
            <a:pPr algn="ctr">
              <a:spcBef>
                <a:spcPts val="0"/>
              </a:spcBef>
              <a:spcAft>
                <a:spcPts val="0"/>
              </a:spcAft>
            </a:pPr>
            <a:r>
              <a:rPr sz="1400" b="1">
                <a:solidFill>
                  <a:srgbClr val="FFFFFF"/>
                </a:solidFill>
                <a:latin typeface="Arial"/>
              </a:rPr>
              <a:t>Cited cases</a:t>
            </a:r>
          </a:p>
        </p:txBody>
      </p:sp>
      <p:sp>
        <p:nvSpPr>
          <p:cNvPr id="28" name="Rectangle 27"/>
          <p:cNvSpPr/>
          <p:nvPr/>
        </p:nvSpPr>
        <p:spPr>
          <a:xfrm>
            <a:off x="1271016" y="3858768"/>
            <a:ext cx="4352544" cy="93268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44752" y="4041648"/>
            <a:ext cx="4005072" cy="310896"/>
          </a:xfrm>
          <a:prstGeom prst="rect">
            <a:avLst/>
          </a:prstGeom>
          <a:noFill/>
        </p:spPr>
        <p:txBody>
          <a:bodyPr wrap="square" lIns="0" rIns="0" tIns="0" bIns="0" anchor="ctr">
            <a:normAutofit/>
          </a:bodyPr>
          <a:lstStyle/>
          <a:p>
            <a:pPr algn="l">
              <a:spcBef>
                <a:spcPts val="0"/>
              </a:spcBef>
              <a:spcAft>
                <a:spcPts val="0"/>
              </a:spcAft>
            </a:pPr>
            <a:r>
              <a:rPr sz="1700" b="0">
                <a:solidFill>
                  <a:srgbClr val="737373"/>
                </a:solidFill>
                <a:latin typeface="Arial"/>
              </a:rPr>
              <a:t>Optional dense embeddings</a:t>
            </a:r>
          </a:p>
        </p:txBody>
      </p:sp>
      <p:sp>
        <p:nvSpPr>
          <p:cNvPr id="30" name="TextBox 29"/>
          <p:cNvSpPr txBox="1"/>
          <p:nvPr/>
        </p:nvSpPr>
        <p:spPr>
          <a:xfrm>
            <a:off x="1444752" y="4370832"/>
            <a:ext cx="3977639" cy="228600"/>
          </a:xfrm>
          <a:prstGeom prst="rect">
            <a:avLst/>
          </a:prstGeom>
          <a:noFill/>
        </p:spPr>
        <p:txBody>
          <a:bodyPr wrap="square" lIns="0" rIns="0" tIns="0" bIns="0" anchor="ctr">
            <a:normAutofit/>
          </a:bodyPr>
          <a:lstStyle/>
          <a:p>
            <a:pPr algn="l">
              <a:spcBef>
                <a:spcPts val="0"/>
              </a:spcBef>
              <a:spcAft>
                <a:spcPts val="0"/>
              </a:spcAft>
            </a:pPr>
            <a:r>
              <a:rPr sz="1200" b="0">
                <a:solidFill>
                  <a:srgbClr val="737373"/>
                </a:solidFill>
                <a:latin typeface="Arial"/>
              </a:rPr>
              <a:t>inactive in the recorded pilot</a:t>
            </a:r>
          </a:p>
        </p:txBody>
      </p:sp>
      <p:sp>
        <p:nvSpPr>
          <p:cNvPr id="31" name="Rectangle 30"/>
          <p:cNvSpPr/>
          <p:nvPr/>
        </p:nvSpPr>
        <p:spPr>
          <a:xfrm>
            <a:off x="5897880" y="3858768"/>
            <a:ext cx="5093208" cy="932688"/>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08192" y="4023360"/>
            <a:ext cx="4626864" cy="310896"/>
          </a:xfrm>
          <a:prstGeom prst="rect">
            <a:avLst/>
          </a:prstGeom>
          <a:noFill/>
        </p:spPr>
        <p:txBody>
          <a:bodyPr wrap="square" lIns="0" rIns="0" tIns="0" bIns="0" anchor="ctr">
            <a:normAutofit/>
          </a:bodyPr>
          <a:lstStyle/>
          <a:p>
            <a:pPr algn="l">
              <a:spcBef>
                <a:spcPts val="0"/>
              </a:spcBef>
              <a:spcAft>
                <a:spcPts val="0"/>
              </a:spcAft>
            </a:pPr>
            <a:r>
              <a:rPr sz="1700" b="1">
                <a:solidFill>
                  <a:srgbClr val="002FA7"/>
                </a:solidFill>
                <a:latin typeface="Arial"/>
              </a:rPr>
              <a:t>Lexical / graph corroboration</a:t>
            </a:r>
          </a:p>
        </p:txBody>
      </p:sp>
      <p:sp>
        <p:nvSpPr>
          <p:cNvPr id="33" name="TextBox 32"/>
          <p:cNvSpPr txBox="1"/>
          <p:nvPr/>
        </p:nvSpPr>
        <p:spPr>
          <a:xfrm>
            <a:off x="6108192" y="4361688"/>
            <a:ext cx="4626864" cy="256032"/>
          </a:xfrm>
          <a:prstGeom prst="rect">
            <a:avLst/>
          </a:prstGeom>
          <a:noFill/>
        </p:spPr>
        <p:txBody>
          <a:bodyPr wrap="square" lIns="0" rIns="0" tIns="0" bIns="0" anchor="ctr">
            <a:normAutofit/>
          </a:bodyPr>
          <a:lstStyle/>
          <a:p>
            <a:pPr algn="l">
              <a:spcBef>
                <a:spcPts val="0"/>
              </a:spcBef>
              <a:spcAft>
                <a:spcPts val="0"/>
              </a:spcAft>
            </a:pPr>
            <a:r>
              <a:rPr sz="1200" b="0">
                <a:solidFill>
                  <a:srgbClr val="002FA7"/>
                </a:solidFill>
                <a:latin typeface="Arial"/>
              </a:rPr>
              <a:t>or explicit no-similar-case state</a:t>
            </a:r>
          </a:p>
        </p:txBody>
      </p:sp>
      <p:sp>
        <p:nvSpPr>
          <p:cNvPr id="34" name="Rectangle 33"/>
          <p:cNvSpPr/>
          <p:nvPr/>
        </p:nvSpPr>
        <p:spPr>
          <a:xfrm>
            <a:off x="566928" y="5102352"/>
            <a:ext cx="11064240" cy="91440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5212080"/>
            <a:ext cx="10698480"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14 / 20 → 10 / 20</a:t>
            </a:r>
          </a:p>
        </p:txBody>
      </p:sp>
      <p:sp>
        <p:nvSpPr>
          <p:cNvPr id="36" name="TextBox 35"/>
          <p:cNvSpPr txBox="1"/>
          <p:nvPr/>
        </p:nvSpPr>
        <p:spPr>
          <a:xfrm>
            <a:off x="749808" y="5815584"/>
            <a:ext cx="10698480" cy="118872"/>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proxy-correct initial → later corpus snapshot; no lawyer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Law College scenarios became a provisional statutory QA benchmark</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07 / 22</a:t>
            </a:r>
          </a:p>
        </p:txBody>
      </p:sp>
      <p:pic>
        <p:nvPicPr>
          <p:cNvPr id="9" name="Picture 8" descr="research-benchmark-construction-preview.png"/>
          <p:cNvPicPr>
            <a:picLocks noChangeAspect="1"/>
          </p:cNvPicPr>
          <p:nvPr/>
        </p:nvPicPr>
        <p:blipFill>
          <a:blip r:embed="rId4"/>
          <a:stretch>
            <a:fillRect/>
          </a:stretch>
        </p:blipFill>
        <p:spPr>
          <a:xfrm>
            <a:off x="1625206" y="1636776"/>
            <a:ext cx="8929395" cy="3977639"/>
          </a:xfrm>
          <a:prstGeom prst="rect">
            <a:avLst/>
          </a:prstGeom>
        </p:spPr>
      </p:pic>
      <p:sp>
        <p:nvSpPr>
          <p:cNvPr id="10" name="Rectangle 9"/>
          <p:cNvSpPr/>
          <p:nvPr/>
        </p:nvSpPr>
        <p:spPr>
          <a:xfrm>
            <a:off x="566928" y="5632704"/>
            <a:ext cx="8869680" cy="39319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660136"/>
            <a:ext cx="8686800" cy="338328"/>
          </a:xfrm>
          <a:prstGeom prst="rect">
            <a:avLst/>
          </a:prstGeom>
          <a:noFill/>
        </p:spPr>
        <p:txBody>
          <a:bodyPr wrap="square" lIns="0" rIns="0" tIns="0" bIns="0" anchor="ctr">
            <a:normAutofit/>
          </a:bodyPr>
          <a:lstStyle/>
          <a:p>
            <a:pPr algn="l">
              <a:spcBef>
                <a:spcPts val="0"/>
              </a:spcBef>
              <a:spcAft>
                <a:spcPts val="0"/>
              </a:spcAft>
            </a:pPr>
            <a:r>
              <a:rPr sz="1400" b="1">
                <a:solidFill>
                  <a:srgbClr val="FFFFFF"/>
                </a:solidFill>
                <a:latin typeface="Arial"/>
              </a:rPr>
              <a:t>16 EXAM PAPERS  →  667 ATOMIC QUESTIONS  →  50 SCORED / 40 MATTERS</a:t>
            </a:r>
          </a:p>
        </p:txBody>
      </p:sp>
      <p:pic>
        <p:nvPicPr>
          <p:cNvPr id="12" name="Picture 11" descr="hugging-face-logo.png">
            <a:hlinkClick r:id="rId6"/>
          </p:cNvPr>
          <p:cNvPicPr>
            <a:picLocks noChangeAspect="1"/>
          </p:cNvPicPr>
          <p:nvPr/>
        </p:nvPicPr>
        <p:blipFill>
          <a:blip r:embed="rId5"/>
          <a:stretch>
            <a:fillRect/>
          </a:stretch>
        </p:blipFill>
        <p:spPr>
          <a:xfrm>
            <a:off x="9628632" y="5614416"/>
            <a:ext cx="365760" cy="365760"/>
          </a:xfrm>
          <a:prstGeom prst="rect">
            <a:avLst/>
          </a:prstGeom>
        </p:spPr>
      </p:pic>
      <p:sp>
        <p:nvSpPr>
          <p:cNvPr id="13" name="TextBox 12"/>
          <p:cNvSpPr txBox="1"/>
          <p:nvPr/>
        </p:nvSpPr>
        <p:spPr>
          <a:xfrm>
            <a:off x="10049256" y="5650992"/>
            <a:ext cx="1600200" cy="246888"/>
          </a:xfrm>
          <a:prstGeom prst="rect">
            <a:avLst/>
          </a:prstGeom>
          <a:noFill/>
        </p:spPr>
        <p:txBody>
          <a:bodyPr wrap="square" lIns="0" rIns="0" tIns="0" bIns="0" anchor="ctr">
            <a:normAutofit/>
          </a:bodyPr>
          <a:lstStyle/>
          <a:p>
            <a:pPr algn="l">
              <a:spcBef>
                <a:spcPts val="0"/>
              </a:spcBef>
              <a:spcAft>
                <a:spcPts val="0"/>
              </a:spcAft>
            </a:pPr>
            <a:r>
              <a:rPr sz="1150" b="1">
                <a:solidFill>
                  <a:srgbClr val="002FA7"/>
                </a:solidFill>
                <a:latin typeface="Arial"/>
              </a:rPr>
              <a:t>Provisional release</a:t>
            </a:r>
          </a:p>
        </p:txBody>
      </p:sp>
      <p:sp>
        <p:nvSpPr>
          <p:cNvPr id="14" name="TextBox 13"/>
          <p:cNvSpPr txBox="1"/>
          <p:nvPr/>
        </p:nvSpPr>
        <p:spPr>
          <a:xfrm>
            <a:off x="566928" y="6071616"/>
            <a:ext cx="10515600" cy="246888"/>
          </a:xfrm>
          <a:prstGeom prst="rect">
            <a:avLst/>
          </a:prstGeom>
          <a:noFill/>
        </p:spPr>
        <p:txBody>
          <a:bodyPr wrap="square" lIns="0" rIns="0" tIns="0" bIns="0" anchor="ctr">
            <a:normAutofit/>
          </a:bodyPr>
          <a:lstStyle/>
          <a:p>
            <a:pPr algn="l">
              <a:spcBef>
                <a:spcPts val="0"/>
              </a:spcBef>
              <a:spcAft>
                <a:spcPts val="0"/>
              </a:spcAft>
            </a:pPr>
            <a:r>
              <a:rPr sz="1150" b="0">
                <a:solidFill>
                  <a:srgbClr val="737373"/>
                </a:solidFill>
                <a:latin typeface="Arial"/>
              </a:rPr>
              <a:t>40 test questions / 32 matters · attorney adjudication pending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Retrieval succeeds only when it finds every required section</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08 / 22</a:t>
            </a:r>
          </a:p>
        </p:txBody>
      </p:sp>
      <p:sp>
        <p:nvSpPr>
          <p:cNvPr id="9" name="TextBox 8"/>
          <p:cNvSpPr txBox="1"/>
          <p:nvPr/>
        </p:nvSpPr>
        <p:spPr>
          <a:xfrm>
            <a:off x="585216" y="1618488"/>
            <a:ext cx="8778240" cy="228600"/>
          </a:xfrm>
          <a:prstGeom prst="rect">
            <a:avLst/>
          </a:prstGeom>
          <a:noFill/>
        </p:spPr>
        <p:txBody>
          <a:bodyPr wrap="square" lIns="0" rIns="0" tIns="0" bIns="0" anchor="ctr">
            <a:normAutofit/>
          </a:bodyPr>
          <a:lstStyle/>
          <a:p>
            <a:pPr algn="l">
              <a:spcBef>
                <a:spcPts val="0"/>
              </a:spcBef>
              <a:spcAft>
                <a:spcPts val="0"/>
              </a:spcAft>
            </a:pPr>
            <a:r>
              <a:rPr sz="1000" b="1">
                <a:solidFill>
                  <a:srgbClr val="737373"/>
                </a:solidFill>
                <a:latin typeface="Arial"/>
              </a:rPr>
              <a:t>ILLUSTRATIVE QUESTION: AGENT-PROPOSED REFERENCE BUNDLE</a:t>
            </a:r>
          </a:p>
        </p:txBody>
      </p:sp>
      <p:sp>
        <p:nvSpPr>
          <p:cNvPr id="10" name="Rectangle 9"/>
          <p:cNvSpPr/>
          <p:nvPr/>
        </p:nvSpPr>
        <p:spPr>
          <a:xfrm>
            <a:off x="585216" y="2075688"/>
            <a:ext cx="1600200" cy="102412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2395728"/>
            <a:ext cx="1417320" cy="274320"/>
          </a:xfrm>
          <a:prstGeom prst="rect">
            <a:avLst/>
          </a:prstGeom>
          <a:noFill/>
        </p:spPr>
        <p:txBody>
          <a:bodyPr wrap="square" lIns="0" rIns="0" tIns="0" bIns="0" anchor="ctr">
            <a:normAutofit/>
          </a:bodyPr>
          <a:lstStyle/>
          <a:p>
            <a:pPr algn="ctr">
              <a:spcBef>
                <a:spcPts val="0"/>
              </a:spcBef>
              <a:spcAft>
                <a:spcPts val="0"/>
              </a:spcAft>
            </a:pPr>
            <a:r>
              <a:rPr sz="1800" b="0">
                <a:solidFill>
                  <a:srgbClr val="FFFFFF"/>
                </a:solidFill>
                <a:latin typeface="Arial"/>
              </a:rPr>
              <a:t>Section A</a:t>
            </a:r>
          </a:p>
        </p:txBody>
      </p:sp>
      <p:sp>
        <p:nvSpPr>
          <p:cNvPr id="12" name="Rectangle 11"/>
          <p:cNvSpPr/>
          <p:nvPr/>
        </p:nvSpPr>
        <p:spPr>
          <a:xfrm>
            <a:off x="2459736" y="2075688"/>
            <a:ext cx="1600200" cy="102412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51176" y="2395728"/>
            <a:ext cx="1417320" cy="274320"/>
          </a:xfrm>
          <a:prstGeom prst="rect">
            <a:avLst/>
          </a:prstGeom>
          <a:noFill/>
        </p:spPr>
        <p:txBody>
          <a:bodyPr wrap="square" lIns="0" rIns="0" tIns="0" bIns="0" anchor="ctr">
            <a:normAutofit/>
          </a:bodyPr>
          <a:lstStyle/>
          <a:p>
            <a:pPr algn="ctr">
              <a:spcBef>
                <a:spcPts val="0"/>
              </a:spcBef>
              <a:spcAft>
                <a:spcPts val="0"/>
              </a:spcAft>
            </a:pPr>
            <a:r>
              <a:rPr sz="1800" b="0">
                <a:solidFill>
                  <a:srgbClr val="FFFFFF"/>
                </a:solidFill>
                <a:latin typeface="Arial"/>
              </a:rPr>
              <a:t>Section B</a:t>
            </a:r>
          </a:p>
        </p:txBody>
      </p:sp>
      <p:sp>
        <p:nvSpPr>
          <p:cNvPr id="14" name="Rectangle 13"/>
          <p:cNvSpPr/>
          <p:nvPr/>
        </p:nvSpPr>
        <p:spPr>
          <a:xfrm>
            <a:off x="4334255" y="2075688"/>
            <a:ext cx="1600200" cy="1024128"/>
          </a:xfrm>
          <a:prstGeom prst="rect">
            <a:avLst/>
          </a:prstGeom>
          <a:solidFill>
            <a:srgbClr val="FFFFFF"/>
          </a:solidFill>
          <a:ln w="10160">
            <a:solidFill>
              <a:srgbClr val="002F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5" y="2395728"/>
            <a:ext cx="1417320" cy="274320"/>
          </a:xfrm>
          <a:prstGeom prst="rect">
            <a:avLst/>
          </a:prstGeom>
          <a:noFill/>
        </p:spPr>
        <p:txBody>
          <a:bodyPr wrap="square" lIns="0" rIns="0" tIns="0" bIns="0" anchor="ctr">
            <a:normAutofit/>
          </a:bodyPr>
          <a:lstStyle/>
          <a:p>
            <a:pPr algn="ctr">
              <a:spcBef>
                <a:spcPts val="0"/>
              </a:spcBef>
              <a:spcAft>
                <a:spcPts val="0"/>
              </a:spcAft>
            </a:pPr>
            <a:r>
              <a:rPr sz="1800" b="0">
                <a:solidFill>
                  <a:srgbClr val="002FA7"/>
                </a:solidFill>
                <a:latin typeface="Arial"/>
              </a:rPr>
              <a:t>Section C</a:t>
            </a:r>
          </a:p>
        </p:txBody>
      </p:sp>
      <p:sp>
        <p:nvSpPr>
          <p:cNvPr id="16" name="TextBox 15"/>
          <p:cNvSpPr txBox="1"/>
          <p:nvPr/>
        </p:nvSpPr>
        <p:spPr>
          <a:xfrm>
            <a:off x="6199632" y="2359152"/>
            <a:ext cx="822960" cy="402336"/>
          </a:xfrm>
          <a:prstGeom prst="rect">
            <a:avLst/>
          </a:prstGeom>
          <a:noFill/>
        </p:spPr>
        <p:txBody>
          <a:bodyPr wrap="square" lIns="0" rIns="0" tIns="0" bIns="0" anchor="ctr">
            <a:normAutofit/>
          </a:bodyPr>
          <a:lstStyle/>
          <a:p>
            <a:pPr algn="ctr">
              <a:spcBef>
                <a:spcPts val="0"/>
              </a:spcBef>
              <a:spcAft>
                <a:spcPts val="0"/>
              </a:spcAft>
            </a:pPr>
            <a:r>
              <a:rPr sz="3500" b="0">
                <a:solidFill>
                  <a:srgbClr val="002FA7"/>
                </a:solidFill>
                <a:latin typeface="Arial"/>
              </a:rPr>
              <a:t>→</a:t>
            </a:r>
          </a:p>
        </p:txBody>
      </p:sp>
      <p:sp>
        <p:nvSpPr>
          <p:cNvPr id="17" name="Rectangle 16"/>
          <p:cNvSpPr/>
          <p:nvPr/>
        </p:nvSpPr>
        <p:spPr>
          <a:xfrm>
            <a:off x="7388352" y="1956816"/>
            <a:ext cx="3877056" cy="1408176"/>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44383" y="2176272"/>
            <a:ext cx="3337560" cy="228600"/>
          </a:xfrm>
          <a:prstGeom prst="rect">
            <a:avLst/>
          </a:prstGeom>
          <a:noFill/>
        </p:spPr>
        <p:txBody>
          <a:bodyPr wrap="square" lIns="0" rIns="0" tIns="0" bIns="0" anchor="ctr">
            <a:normAutofit/>
          </a:bodyPr>
          <a:lstStyle/>
          <a:p>
            <a:pPr algn="l">
              <a:spcBef>
                <a:spcPts val="0"/>
              </a:spcBef>
              <a:spcAft>
                <a:spcPts val="0"/>
              </a:spcAft>
            </a:pPr>
            <a:r>
              <a:rPr sz="1100" b="1">
                <a:solidFill>
                  <a:srgbClr val="737373"/>
                </a:solidFill>
                <a:latin typeface="Arial"/>
              </a:rPr>
              <a:t>TOP 20</a:t>
            </a:r>
          </a:p>
        </p:txBody>
      </p:sp>
      <p:sp>
        <p:nvSpPr>
          <p:cNvPr id="19" name="TextBox 18"/>
          <p:cNvSpPr txBox="1"/>
          <p:nvPr/>
        </p:nvSpPr>
        <p:spPr>
          <a:xfrm>
            <a:off x="7644383" y="2523744"/>
            <a:ext cx="3337560" cy="429768"/>
          </a:xfrm>
          <a:prstGeom prst="rect">
            <a:avLst/>
          </a:prstGeom>
          <a:noFill/>
        </p:spPr>
        <p:txBody>
          <a:bodyPr wrap="square" lIns="0" rIns="0" tIns="0" bIns="0" anchor="ctr">
            <a:normAutofit/>
          </a:bodyPr>
          <a:lstStyle/>
          <a:p>
            <a:pPr algn="l">
              <a:spcBef>
                <a:spcPts val="0"/>
              </a:spcBef>
              <a:spcAft>
                <a:spcPts val="0"/>
              </a:spcAft>
            </a:pPr>
            <a:r>
              <a:rPr sz="2900" b="0">
                <a:solidFill>
                  <a:srgbClr val="0A0A0A"/>
                </a:solidFill>
                <a:latin typeface="Arial"/>
              </a:rPr>
              <a:t>A  +  B</a:t>
            </a:r>
          </a:p>
        </p:txBody>
      </p:sp>
      <p:sp>
        <p:nvSpPr>
          <p:cNvPr id="20" name="Rectangle 19"/>
          <p:cNvSpPr/>
          <p:nvPr/>
        </p:nvSpPr>
        <p:spPr>
          <a:xfrm>
            <a:off x="7388352" y="3840480"/>
            <a:ext cx="3877056" cy="448056"/>
          </a:xfrm>
          <a:prstGeom prst="rect">
            <a:avLst/>
          </a:prstGeom>
          <a:solidFill>
            <a:srgbClr val="F7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79792" y="3867912"/>
            <a:ext cx="3694176" cy="393192"/>
          </a:xfrm>
          <a:prstGeom prst="rect">
            <a:avLst/>
          </a:prstGeom>
          <a:noFill/>
        </p:spPr>
        <p:txBody>
          <a:bodyPr wrap="square" lIns="0" rIns="0" tIns="0" bIns="0" anchor="ctr">
            <a:normAutofit/>
          </a:bodyPr>
          <a:lstStyle/>
          <a:p>
            <a:pPr algn="l">
              <a:spcBef>
                <a:spcPts val="0"/>
              </a:spcBef>
              <a:spcAft>
                <a:spcPts val="0"/>
              </a:spcAft>
            </a:pPr>
            <a:r>
              <a:rPr sz="1700" b="1">
                <a:solidFill>
                  <a:srgbClr val="A3292A"/>
                </a:solidFill>
                <a:latin typeface="Arial"/>
              </a:rPr>
              <a:t>SECTION C MISSING</a:t>
            </a:r>
          </a:p>
        </p:txBody>
      </p:sp>
      <p:sp>
        <p:nvSpPr>
          <p:cNvPr id="22" name="TextBox 21"/>
          <p:cNvSpPr txBox="1"/>
          <p:nvPr/>
        </p:nvSpPr>
        <p:spPr>
          <a:xfrm>
            <a:off x="585216" y="3995928"/>
            <a:ext cx="6035040" cy="932688"/>
          </a:xfrm>
          <a:prstGeom prst="rect">
            <a:avLst/>
          </a:prstGeom>
          <a:noFill/>
        </p:spPr>
        <p:txBody>
          <a:bodyPr wrap="square" lIns="0" rIns="0" tIns="0" bIns="0" anchor="ctr">
            <a:normAutofit/>
          </a:bodyPr>
          <a:lstStyle/>
          <a:p>
            <a:pPr algn="l">
              <a:spcBef>
                <a:spcPts val="0"/>
              </a:spcBef>
              <a:spcAft>
                <a:spcPts val="0"/>
              </a:spcAft>
            </a:pPr>
            <a:r>
              <a:rPr sz="5200" b="0">
                <a:solidFill>
                  <a:srgbClr val="002FA7"/>
                </a:solidFill>
                <a:latin typeface="Arial"/>
              </a:rPr>
              <a:t>C@20 = 0</a:t>
            </a:r>
          </a:p>
        </p:txBody>
      </p:sp>
      <p:sp>
        <p:nvSpPr>
          <p:cNvPr id="23" name="TextBox 22"/>
          <p:cNvSpPr txBox="1"/>
          <p:nvPr/>
        </p:nvSpPr>
        <p:spPr>
          <a:xfrm>
            <a:off x="585216" y="5065776"/>
            <a:ext cx="10707624" cy="676656"/>
          </a:xfrm>
          <a:prstGeom prst="rect">
            <a:avLst/>
          </a:prstGeom>
          <a:noFill/>
        </p:spPr>
        <p:txBody>
          <a:bodyPr wrap="square" lIns="0" rIns="0" tIns="0" bIns="0" anchor="ctr">
            <a:normAutofit/>
          </a:bodyPr>
          <a:lstStyle/>
          <a:p>
            <a:pPr algn="l">
              <a:spcBef>
                <a:spcPts val="0"/>
              </a:spcBef>
              <a:spcAft>
                <a:spcPts val="0"/>
              </a:spcAft>
            </a:pPr>
            <a:r>
              <a:rPr sz="2300" b="0">
                <a:solidFill>
                  <a:srgbClr val="0A0A0A"/>
                </a:solidFill>
                <a:latin typeface="Arial"/>
              </a:rPr>
              <a:t>Full credit only when every proposed section appears in the first 20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Seven offline retrieval systems used the same benchmark</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09 / 22</a:t>
            </a:r>
          </a:p>
        </p:txBody>
      </p:sp>
      <p:pic>
        <p:nvPicPr>
          <p:cNvPr id="9" name="Picture 8" descr="research-retrieval-system-crop.png"/>
          <p:cNvPicPr>
            <a:picLocks noChangeAspect="1"/>
          </p:cNvPicPr>
          <p:nvPr/>
        </p:nvPicPr>
        <p:blipFill>
          <a:blip r:embed="rId4"/>
          <a:stretch>
            <a:fillRect/>
          </a:stretch>
        </p:blipFill>
        <p:spPr>
          <a:xfrm>
            <a:off x="1423628" y="1636776"/>
            <a:ext cx="5620087" cy="4279392"/>
          </a:xfrm>
          <a:prstGeom prst="rect">
            <a:avLst/>
          </a:prstGeom>
        </p:spPr>
      </p:pic>
      <p:sp>
        <p:nvSpPr>
          <p:cNvPr id="10" name="Rectangle 9"/>
          <p:cNvSpPr/>
          <p:nvPr/>
        </p:nvSpPr>
        <p:spPr>
          <a:xfrm>
            <a:off x="8092440" y="1709928"/>
            <a:ext cx="3520440" cy="1042415"/>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837944"/>
            <a:ext cx="3108960" cy="228600"/>
          </a:xfrm>
          <a:prstGeom prst="rect">
            <a:avLst/>
          </a:prstGeom>
          <a:noFill/>
        </p:spPr>
        <p:txBody>
          <a:bodyPr wrap="square" lIns="0" rIns="0" tIns="0" bIns="0" anchor="ctr">
            <a:normAutofit/>
          </a:bodyPr>
          <a:lstStyle/>
          <a:p>
            <a:pPr algn="l">
              <a:spcBef>
                <a:spcPts val="0"/>
              </a:spcBef>
              <a:spcAft>
                <a:spcPts val="0"/>
              </a:spcAft>
            </a:pPr>
            <a:r>
              <a:rPr sz="1000" b="1">
                <a:solidFill>
                  <a:srgbClr val="002FA7"/>
                </a:solidFill>
                <a:latin typeface="Arial"/>
              </a:rPr>
              <a:t>LEXICAL</a:t>
            </a:r>
          </a:p>
        </p:txBody>
      </p:sp>
      <p:sp>
        <p:nvSpPr>
          <p:cNvPr id="12" name="TextBox 11"/>
          <p:cNvSpPr txBox="1"/>
          <p:nvPr/>
        </p:nvSpPr>
        <p:spPr>
          <a:xfrm>
            <a:off x="8284464" y="2148840"/>
            <a:ext cx="3154680" cy="40233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BM25 · field-weighted BM25</a:t>
            </a:r>
          </a:p>
        </p:txBody>
      </p:sp>
      <p:sp>
        <p:nvSpPr>
          <p:cNvPr id="13" name="Rectangle 12"/>
          <p:cNvSpPr/>
          <p:nvPr/>
        </p:nvSpPr>
        <p:spPr>
          <a:xfrm>
            <a:off x="8092440" y="2935224"/>
            <a:ext cx="3520440" cy="1042415"/>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4" y="3063240"/>
            <a:ext cx="3108960" cy="228600"/>
          </a:xfrm>
          <a:prstGeom prst="rect">
            <a:avLst/>
          </a:prstGeom>
          <a:noFill/>
        </p:spPr>
        <p:txBody>
          <a:bodyPr wrap="square" lIns="0" rIns="0" tIns="0" bIns="0" anchor="ctr">
            <a:normAutofit/>
          </a:bodyPr>
          <a:lstStyle/>
          <a:p>
            <a:pPr algn="l">
              <a:spcBef>
                <a:spcPts val="0"/>
              </a:spcBef>
              <a:spcAft>
                <a:spcPts val="0"/>
              </a:spcAft>
            </a:pPr>
            <a:r>
              <a:rPr sz="1000" b="1">
                <a:solidFill>
                  <a:srgbClr val="002FA7"/>
                </a:solidFill>
                <a:latin typeface="Arial"/>
              </a:rPr>
              <a:t>SEMANTIC / FUSION</a:t>
            </a:r>
          </a:p>
        </p:txBody>
      </p:sp>
      <p:sp>
        <p:nvSpPr>
          <p:cNvPr id="15" name="TextBox 14"/>
          <p:cNvSpPr txBox="1"/>
          <p:nvPr/>
        </p:nvSpPr>
        <p:spPr>
          <a:xfrm>
            <a:off x="8284464" y="3374136"/>
            <a:ext cx="3154680" cy="40233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Dense · hybrid · reranker</a:t>
            </a:r>
          </a:p>
        </p:txBody>
      </p:sp>
      <p:sp>
        <p:nvSpPr>
          <p:cNvPr id="16" name="Rectangle 15"/>
          <p:cNvSpPr/>
          <p:nvPr/>
        </p:nvSpPr>
        <p:spPr>
          <a:xfrm>
            <a:off x="8092440" y="4160520"/>
            <a:ext cx="3520440" cy="1042415"/>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4464" y="4288536"/>
            <a:ext cx="3108960" cy="228600"/>
          </a:xfrm>
          <a:prstGeom prst="rect">
            <a:avLst/>
          </a:prstGeom>
          <a:noFill/>
        </p:spPr>
        <p:txBody>
          <a:bodyPr wrap="square" lIns="0" rIns="0" tIns="0" bIns="0" anchor="ctr">
            <a:normAutofit/>
          </a:bodyPr>
          <a:lstStyle/>
          <a:p>
            <a:pPr algn="l">
              <a:spcBef>
                <a:spcPts val="0"/>
              </a:spcBef>
              <a:spcAft>
                <a:spcPts val="0"/>
              </a:spcAft>
            </a:pPr>
            <a:r>
              <a:rPr sz="1000" b="1">
                <a:solidFill>
                  <a:srgbClr val="002FA7"/>
                </a:solidFill>
                <a:latin typeface="Arial"/>
              </a:rPr>
              <a:t>STRUCTURE</a:t>
            </a:r>
          </a:p>
        </p:txBody>
      </p:sp>
      <p:sp>
        <p:nvSpPr>
          <p:cNvPr id="18" name="TextBox 17"/>
          <p:cNvSpPr txBox="1"/>
          <p:nvPr/>
        </p:nvSpPr>
        <p:spPr>
          <a:xfrm>
            <a:off x="8284464" y="4599432"/>
            <a:ext cx="3154680" cy="40233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Hierarchical · typed expansion</a:t>
            </a:r>
          </a:p>
        </p:txBody>
      </p:sp>
      <p:sp>
        <p:nvSpPr>
          <p:cNvPr id="19" name="Rectangle 18"/>
          <p:cNvSpPr/>
          <p:nvPr/>
        </p:nvSpPr>
        <p:spPr>
          <a:xfrm>
            <a:off x="8092440" y="5513832"/>
            <a:ext cx="3520440" cy="38404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5541264"/>
            <a:ext cx="3337560" cy="329184"/>
          </a:xfrm>
          <a:prstGeom prst="rect">
            <a:avLst/>
          </a:prstGeom>
          <a:noFill/>
        </p:spPr>
        <p:txBody>
          <a:bodyPr wrap="square" lIns="0" rIns="0" tIns="0" bIns="0" anchor="ctr">
            <a:normAutofit/>
          </a:bodyPr>
          <a:lstStyle/>
          <a:p>
            <a:pPr algn="l">
              <a:spcBef>
                <a:spcPts val="0"/>
              </a:spcBef>
              <a:spcAft>
                <a:spcPts val="0"/>
              </a:spcAft>
            </a:pPr>
            <a:r>
              <a:rPr sz="1150" b="1">
                <a:solidFill>
                  <a:srgbClr val="FFFFFF"/>
                </a:solidFill>
                <a:latin typeface="Arial"/>
              </a:rPr>
              <a:t>OFFLINE RESEARCH · PROVISIONAL LABELS</a:t>
            </a:r>
          </a:p>
        </p:txBody>
      </p:sp>
      <p:sp>
        <p:nvSpPr>
          <p:cNvPr id="21" name="TextBox 20"/>
          <p:cNvSpPr txBox="1"/>
          <p:nvPr/>
        </p:nvSpPr>
        <p:spPr>
          <a:xfrm>
            <a:off x="585216" y="6080760"/>
            <a:ext cx="9966960" cy="228600"/>
          </a:xfrm>
          <a:prstGeom prst="rect">
            <a:avLst/>
          </a:prstGeom>
          <a:noFill/>
        </p:spPr>
        <p:txBody>
          <a:bodyPr wrap="square" lIns="0" rIns="0" tIns="0" bIns="0" anchor="ctr">
            <a:normAutofit/>
          </a:bodyPr>
          <a:lstStyle/>
          <a:p>
            <a:pPr algn="l">
              <a:spcBef>
                <a:spcPts val="0"/>
              </a:spcBef>
              <a:spcAft>
                <a:spcPts val="0"/>
              </a:spcAft>
            </a:pPr>
            <a:r>
              <a:rPr sz="1200" b="0">
                <a:solidFill>
                  <a:srgbClr val="737373"/>
                </a:solidFill>
                <a:latin typeface="Arial"/>
              </a:rPr>
              <a:t>Seven matched configurations · one frozen test split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Complete recall peaked at 0.375, while hard bundles remained unsolved</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10 / 22</a:t>
            </a:r>
          </a:p>
        </p:txBody>
      </p:sp>
      <p:pic>
        <p:nvPicPr>
          <p:cNvPr id="9" name="Picture 8" descr="retrieval-c20-results-slide.png"/>
          <p:cNvPicPr>
            <a:picLocks noChangeAspect="1"/>
          </p:cNvPicPr>
          <p:nvPr/>
        </p:nvPicPr>
        <p:blipFill>
          <a:blip r:embed="rId4"/>
          <a:stretch>
            <a:fillRect/>
          </a:stretch>
        </p:blipFill>
        <p:spPr>
          <a:xfrm>
            <a:off x="502920" y="1762791"/>
            <a:ext cx="7452360" cy="4191952"/>
          </a:xfrm>
          <a:prstGeom prst="rect">
            <a:avLst/>
          </a:prstGeom>
        </p:spPr>
      </p:pic>
      <p:sp>
        <p:nvSpPr>
          <p:cNvPr id="10" name="Rectangle 9"/>
          <p:cNvSpPr/>
          <p:nvPr/>
        </p:nvSpPr>
        <p:spPr>
          <a:xfrm>
            <a:off x="8147304" y="1700784"/>
            <a:ext cx="3429000" cy="139903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0183" y="1810512"/>
            <a:ext cx="3063240"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0 / 20</a:t>
            </a:r>
          </a:p>
        </p:txBody>
      </p:sp>
      <p:sp>
        <p:nvSpPr>
          <p:cNvPr id="12" name="TextBox 11"/>
          <p:cNvSpPr txBox="1"/>
          <p:nvPr/>
        </p:nvSpPr>
        <p:spPr>
          <a:xfrm>
            <a:off x="8330183" y="2414016"/>
            <a:ext cx="3063240" cy="603504"/>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questions needing ≥4 provisions completed</a:t>
            </a:r>
          </a:p>
        </p:txBody>
      </p:sp>
      <p:sp>
        <p:nvSpPr>
          <p:cNvPr id="13" name="Rectangle 12"/>
          <p:cNvSpPr/>
          <p:nvPr/>
        </p:nvSpPr>
        <p:spPr>
          <a:xfrm>
            <a:off x="8147304" y="3282696"/>
            <a:ext cx="3429000" cy="139903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3" y="3392424"/>
            <a:ext cx="3063240"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2 / 114</a:t>
            </a:r>
          </a:p>
        </p:txBody>
      </p:sp>
      <p:sp>
        <p:nvSpPr>
          <p:cNvPr id="15" name="TextBox 14"/>
          <p:cNvSpPr txBox="1"/>
          <p:nvPr/>
        </p:nvSpPr>
        <p:spPr>
          <a:xfrm>
            <a:off x="8330183" y="3995928"/>
            <a:ext cx="3063240" cy="603504"/>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missed provisions one explicit edge away</a:t>
            </a:r>
          </a:p>
        </p:txBody>
      </p:sp>
      <p:sp>
        <p:nvSpPr>
          <p:cNvPr id="16" name="Rectangle 15"/>
          <p:cNvSpPr/>
          <p:nvPr/>
        </p:nvSpPr>
        <p:spPr>
          <a:xfrm>
            <a:off x="8147304" y="4901184"/>
            <a:ext cx="3429000" cy="978408"/>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5056632"/>
            <a:ext cx="3090672" cy="667512"/>
          </a:xfrm>
          <a:prstGeom prst="rect">
            <a:avLst/>
          </a:prstGeom>
          <a:noFill/>
        </p:spPr>
        <p:txBody>
          <a:bodyPr wrap="square" lIns="0" rIns="0" tIns="0" bIns="0" anchor="ctr">
            <a:normAutofit/>
          </a:bodyPr>
          <a:lstStyle/>
          <a:p>
            <a:pPr algn="l">
              <a:spcBef>
                <a:spcPts val="0"/>
              </a:spcBef>
              <a:spcAft>
                <a:spcPts val="0"/>
              </a:spcAft>
            </a:pPr>
            <a:r>
              <a:rPr sz="1500" b="0">
                <a:solidFill>
                  <a:srgbClr val="002FA7"/>
                </a:solidFill>
                <a:latin typeface="Arial"/>
              </a:rPr>
              <a:t>Leading paired uncertainty intervals include zero</a:t>
            </a:r>
          </a:p>
        </p:txBody>
      </p:sp>
      <p:sp>
        <p:nvSpPr>
          <p:cNvPr id="18" name="TextBox 17"/>
          <p:cNvSpPr txBox="1"/>
          <p:nvPr/>
        </p:nvSpPr>
        <p:spPr>
          <a:xfrm>
            <a:off x="566928" y="6126480"/>
            <a:ext cx="10881360" cy="219456"/>
          </a:xfrm>
          <a:prstGeom prst="rect">
            <a:avLst/>
          </a:prstGeom>
          <a:noFill/>
        </p:spPr>
        <p:txBody>
          <a:bodyPr wrap="square" lIns="0" rIns="0" tIns="0" bIns="0" anchor="ctr">
            <a:normAutofit/>
          </a:bodyPr>
          <a:lstStyle/>
          <a:p>
            <a:pPr algn="l">
              <a:spcBef>
                <a:spcPts val="0"/>
              </a:spcBef>
              <a:spcAft>
                <a:spcPts val="0"/>
              </a:spcAft>
            </a:pPr>
            <a:r>
              <a:rPr sz="1050" b="1">
                <a:solidFill>
                  <a:srgbClr val="737373"/>
                </a:solidFill>
                <a:latin typeface="Arial"/>
              </a:rPr>
              <a:t>OFFLINE · PROVISIONAL LABELS · 40 TEST QUESTIONS / 32 MATTERS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The accepted paper reports the complete-bundle retrieval result</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11 / 22</a:t>
            </a:r>
          </a:p>
        </p:txBody>
      </p:sp>
      <p:pic>
        <p:nvPicPr>
          <p:cNvPr id="9" name="Picture 8" descr="accepted-paper-title-authors.png"/>
          <p:cNvPicPr>
            <a:picLocks noChangeAspect="1"/>
          </p:cNvPicPr>
          <p:nvPr/>
        </p:nvPicPr>
        <p:blipFill>
          <a:blip r:embed="rId4"/>
          <a:stretch>
            <a:fillRect/>
          </a:stretch>
        </p:blipFill>
        <p:spPr>
          <a:xfrm>
            <a:off x="612648" y="1753348"/>
            <a:ext cx="6464808" cy="2802662"/>
          </a:xfrm>
          <a:prstGeom prst="rect">
            <a:avLst/>
          </a:prstGeom>
        </p:spPr>
      </p:pic>
      <p:sp>
        <p:nvSpPr>
          <p:cNvPr id="10" name="Rectangle 9"/>
          <p:cNvSpPr/>
          <p:nvPr/>
        </p:nvSpPr>
        <p:spPr>
          <a:xfrm>
            <a:off x="612648" y="4800600"/>
            <a:ext cx="6464808" cy="420624"/>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4828032"/>
            <a:ext cx="6281928" cy="365760"/>
          </a:xfrm>
          <a:prstGeom prst="rect">
            <a:avLst/>
          </a:prstGeom>
          <a:noFill/>
        </p:spPr>
        <p:txBody>
          <a:bodyPr wrap="square" lIns="0" rIns="0" tIns="0" bIns="0" anchor="ctr">
            <a:normAutofit/>
          </a:bodyPr>
          <a:lstStyle/>
          <a:p>
            <a:pPr algn="l">
              <a:spcBef>
                <a:spcPts val="0"/>
              </a:spcBef>
              <a:spcAft>
                <a:spcPts val="0"/>
              </a:spcAft>
            </a:pPr>
            <a:r>
              <a:rPr sz="1700" b="1">
                <a:solidFill>
                  <a:srgbClr val="FFFFFF"/>
                </a:solidFill>
                <a:latin typeface="Arial"/>
              </a:rPr>
              <a:t>ACCEPTED FOR PRESENTATION</a:t>
            </a:r>
          </a:p>
        </p:txBody>
      </p:sp>
      <p:sp>
        <p:nvSpPr>
          <p:cNvPr id="12" name="TextBox 11"/>
          <p:cNvSpPr txBox="1"/>
          <p:nvPr/>
        </p:nvSpPr>
        <p:spPr>
          <a:xfrm>
            <a:off x="612648" y="5330952"/>
            <a:ext cx="6473952" cy="384048"/>
          </a:xfrm>
          <a:prstGeom prst="rect">
            <a:avLst/>
          </a:prstGeom>
          <a:noFill/>
        </p:spPr>
        <p:txBody>
          <a:bodyPr wrap="square" lIns="0" rIns="0" tIns="0" bIns="0" anchor="ctr">
            <a:normAutofit/>
          </a:bodyPr>
          <a:lstStyle/>
          <a:p>
            <a:pPr algn="l">
              <a:spcBef>
                <a:spcPts val="0"/>
              </a:spcBef>
              <a:spcAft>
                <a:spcPts val="0"/>
              </a:spcAft>
            </a:pPr>
            <a:r>
              <a:rPr sz="1600" b="0">
                <a:solidFill>
                  <a:srgbClr val="002FA7"/>
                </a:solidFill>
                <a:latin typeface="Arial"/>
              </a:rPr>
              <a:t>NeurIPS 2026 GlobalSouthAI workshop</a:t>
            </a:r>
          </a:p>
        </p:txBody>
      </p:sp>
      <p:sp>
        <p:nvSpPr>
          <p:cNvPr id="13" name="Rectangle 12"/>
          <p:cNvSpPr/>
          <p:nvPr/>
        </p:nvSpPr>
        <p:spPr>
          <a:xfrm>
            <a:off x="7406640" y="1746504"/>
            <a:ext cx="4087368" cy="86868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1920240"/>
            <a:ext cx="448056" cy="365760"/>
          </a:xfrm>
          <a:prstGeom prst="rect">
            <a:avLst/>
          </a:prstGeom>
          <a:noFill/>
        </p:spPr>
        <p:txBody>
          <a:bodyPr wrap="square" lIns="0" rIns="0" tIns="0" bIns="0" anchor="ctr">
            <a:normAutofit/>
          </a:bodyPr>
          <a:lstStyle/>
          <a:p>
            <a:pPr algn="l">
              <a:spcBef>
                <a:spcPts val="0"/>
              </a:spcBef>
              <a:spcAft>
                <a:spcPts val="0"/>
              </a:spcAft>
            </a:pPr>
            <a:r>
              <a:rPr sz="2300" b="0">
                <a:solidFill>
                  <a:srgbClr val="002FA7"/>
                </a:solidFill>
                <a:latin typeface="Arial"/>
              </a:rPr>
              <a:t>01</a:t>
            </a:r>
          </a:p>
        </p:txBody>
      </p:sp>
      <p:sp>
        <p:nvSpPr>
          <p:cNvPr id="15" name="TextBox 14"/>
          <p:cNvSpPr txBox="1"/>
          <p:nvPr/>
        </p:nvSpPr>
        <p:spPr>
          <a:xfrm>
            <a:off x="8129016" y="1901952"/>
            <a:ext cx="3108960" cy="457200"/>
          </a:xfrm>
          <a:prstGeom prst="rect">
            <a:avLst/>
          </a:prstGeom>
          <a:noFill/>
        </p:spPr>
        <p:txBody>
          <a:bodyPr wrap="square" lIns="0" rIns="0" tIns="0" bIns="0" anchor="ctr">
            <a:normAutofit/>
          </a:bodyPr>
          <a:lstStyle/>
          <a:p>
            <a:pPr algn="l">
              <a:spcBef>
                <a:spcPts val="0"/>
              </a:spcBef>
              <a:spcAft>
                <a:spcPts val="0"/>
              </a:spcAft>
            </a:pPr>
            <a:r>
              <a:rPr sz="1600" b="0">
                <a:solidFill>
                  <a:srgbClr val="0A0A0A"/>
                </a:solidFill>
                <a:latin typeface="Arial"/>
              </a:rPr>
              <a:t>Structured Sri Lankan statutory corpus</a:t>
            </a:r>
          </a:p>
        </p:txBody>
      </p:sp>
      <p:sp>
        <p:nvSpPr>
          <p:cNvPr id="16" name="Rectangle 15"/>
          <p:cNvSpPr/>
          <p:nvPr/>
        </p:nvSpPr>
        <p:spPr>
          <a:xfrm>
            <a:off x="7406640" y="2807208"/>
            <a:ext cx="4087368" cy="86868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6096" y="2980944"/>
            <a:ext cx="448056" cy="365760"/>
          </a:xfrm>
          <a:prstGeom prst="rect">
            <a:avLst/>
          </a:prstGeom>
          <a:noFill/>
        </p:spPr>
        <p:txBody>
          <a:bodyPr wrap="square" lIns="0" rIns="0" tIns="0" bIns="0" anchor="ctr">
            <a:normAutofit/>
          </a:bodyPr>
          <a:lstStyle/>
          <a:p>
            <a:pPr algn="l">
              <a:spcBef>
                <a:spcPts val="0"/>
              </a:spcBef>
              <a:spcAft>
                <a:spcPts val="0"/>
              </a:spcAft>
            </a:pPr>
            <a:r>
              <a:rPr sz="2300" b="0">
                <a:solidFill>
                  <a:srgbClr val="002FA7"/>
                </a:solidFill>
                <a:latin typeface="Arial"/>
              </a:rPr>
              <a:t>02</a:t>
            </a:r>
          </a:p>
        </p:txBody>
      </p:sp>
      <p:sp>
        <p:nvSpPr>
          <p:cNvPr id="18" name="TextBox 17"/>
          <p:cNvSpPr txBox="1"/>
          <p:nvPr/>
        </p:nvSpPr>
        <p:spPr>
          <a:xfrm>
            <a:off x="8129016" y="2962656"/>
            <a:ext cx="3108960" cy="457200"/>
          </a:xfrm>
          <a:prstGeom prst="rect">
            <a:avLst/>
          </a:prstGeom>
          <a:noFill/>
        </p:spPr>
        <p:txBody>
          <a:bodyPr wrap="square" lIns="0" rIns="0" tIns="0" bIns="0" anchor="ctr">
            <a:normAutofit/>
          </a:bodyPr>
          <a:lstStyle/>
          <a:p>
            <a:pPr algn="l">
              <a:spcBef>
                <a:spcPts val="0"/>
              </a:spcBef>
              <a:spcAft>
                <a:spcPts val="0"/>
              </a:spcAft>
            </a:pPr>
            <a:r>
              <a:rPr sz="1600" b="0">
                <a:solidFill>
                  <a:srgbClr val="0A0A0A"/>
                </a:solidFill>
                <a:latin typeface="Arial"/>
              </a:rPr>
              <a:t>Provisional scenario QA benchmark</a:t>
            </a:r>
          </a:p>
        </p:txBody>
      </p:sp>
      <p:sp>
        <p:nvSpPr>
          <p:cNvPr id="19" name="Rectangle 18"/>
          <p:cNvSpPr/>
          <p:nvPr/>
        </p:nvSpPr>
        <p:spPr>
          <a:xfrm>
            <a:off x="7406640" y="3867911"/>
            <a:ext cx="4087368" cy="86868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6096" y="4041648"/>
            <a:ext cx="448056" cy="365760"/>
          </a:xfrm>
          <a:prstGeom prst="rect">
            <a:avLst/>
          </a:prstGeom>
          <a:noFill/>
        </p:spPr>
        <p:txBody>
          <a:bodyPr wrap="square" lIns="0" rIns="0" tIns="0" bIns="0" anchor="ctr">
            <a:normAutofit/>
          </a:bodyPr>
          <a:lstStyle/>
          <a:p>
            <a:pPr algn="l">
              <a:spcBef>
                <a:spcPts val="0"/>
              </a:spcBef>
              <a:spcAft>
                <a:spcPts val="0"/>
              </a:spcAft>
            </a:pPr>
            <a:r>
              <a:rPr sz="2300" b="0">
                <a:solidFill>
                  <a:srgbClr val="002FA7"/>
                </a:solidFill>
                <a:latin typeface="Arial"/>
              </a:rPr>
              <a:t>03</a:t>
            </a:r>
          </a:p>
        </p:txBody>
      </p:sp>
      <p:sp>
        <p:nvSpPr>
          <p:cNvPr id="21" name="TextBox 20"/>
          <p:cNvSpPr txBox="1"/>
          <p:nvPr/>
        </p:nvSpPr>
        <p:spPr>
          <a:xfrm>
            <a:off x="8129016" y="4023360"/>
            <a:ext cx="3108960" cy="457200"/>
          </a:xfrm>
          <a:prstGeom prst="rect">
            <a:avLst/>
          </a:prstGeom>
          <a:noFill/>
        </p:spPr>
        <p:txBody>
          <a:bodyPr wrap="square" lIns="0" rIns="0" tIns="0" bIns="0" anchor="ctr">
            <a:normAutofit/>
          </a:bodyPr>
          <a:lstStyle/>
          <a:p>
            <a:pPr algn="l">
              <a:spcBef>
                <a:spcPts val="0"/>
              </a:spcBef>
              <a:spcAft>
                <a:spcPts val="0"/>
              </a:spcAft>
            </a:pPr>
            <a:r>
              <a:rPr sz="1600" b="0">
                <a:solidFill>
                  <a:srgbClr val="0A0A0A"/>
                </a:solidFill>
                <a:latin typeface="Arial"/>
              </a:rPr>
              <a:t>Seven-system retrieval evaluation</a:t>
            </a:r>
          </a:p>
        </p:txBody>
      </p:sp>
      <p:sp>
        <p:nvSpPr>
          <p:cNvPr id="22" name="TextBox 21"/>
          <p:cNvSpPr txBox="1"/>
          <p:nvPr/>
        </p:nvSpPr>
        <p:spPr>
          <a:xfrm>
            <a:off x="7406640" y="5029200"/>
            <a:ext cx="4087368" cy="676656"/>
          </a:xfrm>
          <a:prstGeom prst="rect">
            <a:avLst/>
          </a:prstGeom>
          <a:noFill/>
        </p:spPr>
        <p:txBody>
          <a:bodyPr wrap="square" lIns="0" rIns="0" tIns="0" bIns="0" anchor="ctr">
            <a:normAutofit/>
          </a:bodyPr>
          <a:lstStyle/>
          <a:p>
            <a:pPr algn="l">
              <a:spcBef>
                <a:spcPts val="0"/>
              </a:spcBef>
              <a:spcAft>
                <a:spcPts val="0"/>
              </a:spcAft>
            </a:pPr>
            <a:r>
              <a:rPr sz="1600" b="0">
                <a:solidFill>
                  <a:srgbClr val="0A0A0A"/>
                </a:solidFill>
                <a:latin typeface="Arial"/>
              </a:rPr>
              <a:t>Typed-edge expansion did not demonstrate a complete-recall gain over hybrid retrieval.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Post-certificate RTA made the first document workflow tractable</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12 / 22</a:t>
            </a:r>
          </a:p>
        </p:txBody>
      </p:sp>
      <p:sp>
        <p:nvSpPr>
          <p:cNvPr id="9" name="Rectangle 8"/>
          <p:cNvSpPr/>
          <p:nvPr/>
        </p:nvSpPr>
        <p:spPr>
          <a:xfrm>
            <a:off x="576072" y="1645920"/>
            <a:ext cx="8028431" cy="448056"/>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673352"/>
            <a:ext cx="7845552" cy="393192"/>
          </a:xfrm>
          <a:prstGeom prst="rect">
            <a:avLst/>
          </a:prstGeom>
          <a:noFill/>
        </p:spPr>
        <p:txBody>
          <a:bodyPr wrap="square" lIns="0" rIns="0" tIns="0" bIns="0" anchor="ctr">
            <a:normAutofit/>
          </a:bodyPr>
          <a:lstStyle/>
          <a:p>
            <a:pPr algn="l">
              <a:spcBef>
                <a:spcPts val="0"/>
              </a:spcBef>
              <a:spcAft>
                <a:spcPts val="0"/>
              </a:spcAft>
            </a:pPr>
            <a:r>
              <a:rPr sz="1700" b="1">
                <a:solidFill>
                  <a:srgbClr val="FFFFFF"/>
                </a:solidFill>
                <a:latin typeface="Arial"/>
              </a:rPr>
              <a:t>FIRST SCOPE · POST-CERTIFICATE RTA TRANSACTIONS</a:t>
            </a:r>
          </a:p>
        </p:txBody>
      </p:sp>
      <p:sp>
        <p:nvSpPr>
          <p:cNvPr id="11" name="Rectangle 10"/>
          <p:cNvSpPr/>
          <p:nvPr/>
        </p:nvSpPr>
        <p:spPr>
          <a:xfrm>
            <a:off x="576072" y="2304288"/>
            <a:ext cx="8019288" cy="3355848"/>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2734056"/>
            <a:ext cx="2334768" cy="1060704"/>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825496"/>
            <a:ext cx="2151887" cy="877824"/>
          </a:xfrm>
          <a:prstGeom prst="rect">
            <a:avLst/>
          </a:prstGeom>
          <a:noFill/>
        </p:spPr>
        <p:txBody>
          <a:bodyPr wrap="square" lIns="0" rIns="0" tIns="0" bIns="0" anchor="ctr">
            <a:normAutofit/>
          </a:bodyPr>
          <a:lstStyle/>
          <a:p>
            <a:pPr algn="ctr">
              <a:spcBef>
                <a:spcPts val="0"/>
              </a:spcBef>
              <a:spcAft>
                <a:spcPts val="0"/>
              </a:spcAft>
            </a:pPr>
            <a:r>
              <a:rPr sz="1500" b="1">
                <a:solidFill>
                  <a:srgbClr val="FFFFFF"/>
                </a:solidFill>
                <a:latin typeface="Arial"/>
              </a:rPr>
              <a:t>Title certificate</a:t>
            </a:r>
          </a:p>
        </p:txBody>
      </p:sp>
      <p:sp>
        <p:nvSpPr>
          <p:cNvPr id="14" name="TextBox 13"/>
          <p:cNvSpPr txBox="1"/>
          <p:nvPr/>
        </p:nvSpPr>
        <p:spPr>
          <a:xfrm>
            <a:off x="3203447" y="3127248"/>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5" name="Rectangle 14"/>
          <p:cNvSpPr/>
          <p:nvPr/>
        </p:nvSpPr>
        <p:spPr>
          <a:xfrm>
            <a:off x="3413760" y="2734056"/>
            <a:ext cx="2334768" cy="1060704"/>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5200" y="2825496"/>
            <a:ext cx="2151887" cy="877824"/>
          </a:xfrm>
          <a:prstGeom prst="rect">
            <a:avLst/>
          </a:prstGeom>
          <a:noFill/>
        </p:spPr>
        <p:txBody>
          <a:bodyPr wrap="square" lIns="0" rIns="0" tIns="0" bIns="0" anchor="ctr">
            <a:normAutofit/>
          </a:bodyPr>
          <a:lstStyle/>
          <a:p>
            <a:pPr algn="ctr">
              <a:spcBef>
                <a:spcPts val="0"/>
              </a:spcBef>
              <a:spcAft>
                <a:spcPts val="0"/>
              </a:spcAft>
            </a:pPr>
            <a:r>
              <a:rPr sz="1500" b="0">
                <a:solidFill>
                  <a:srgbClr val="0A0A0A"/>
                </a:solidFill>
                <a:latin typeface="Arial"/>
              </a:rPr>
              <a:t>Cadastral / survey plan</a:t>
            </a:r>
          </a:p>
        </p:txBody>
      </p:sp>
      <p:sp>
        <p:nvSpPr>
          <p:cNvPr id="17" name="TextBox 16"/>
          <p:cNvSpPr txBox="1"/>
          <p:nvPr/>
        </p:nvSpPr>
        <p:spPr>
          <a:xfrm>
            <a:off x="5748528" y="3127248"/>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8" name="Rectangle 17"/>
          <p:cNvSpPr/>
          <p:nvPr/>
        </p:nvSpPr>
        <p:spPr>
          <a:xfrm>
            <a:off x="5958840" y="2734056"/>
            <a:ext cx="2334768" cy="1060704"/>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50280" y="2825496"/>
            <a:ext cx="2151887" cy="877824"/>
          </a:xfrm>
          <a:prstGeom prst="rect">
            <a:avLst/>
          </a:prstGeom>
          <a:noFill/>
        </p:spPr>
        <p:txBody>
          <a:bodyPr wrap="square" lIns="0" rIns="0" tIns="0" bIns="0" anchor="ctr">
            <a:normAutofit/>
          </a:bodyPr>
          <a:lstStyle/>
          <a:p>
            <a:pPr algn="ctr">
              <a:spcBef>
                <a:spcPts val="0"/>
              </a:spcBef>
              <a:spcAft>
                <a:spcPts val="0"/>
              </a:spcAft>
            </a:pPr>
            <a:r>
              <a:rPr sz="1500" b="1">
                <a:solidFill>
                  <a:srgbClr val="FFFFFF"/>
                </a:solidFill>
                <a:latin typeface="Arial"/>
              </a:rPr>
              <a:t>Transaction evidence</a:t>
            </a:r>
          </a:p>
        </p:txBody>
      </p:sp>
      <p:sp>
        <p:nvSpPr>
          <p:cNvPr id="20" name="TextBox 19"/>
          <p:cNvSpPr txBox="1"/>
          <p:nvPr/>
        </p:nvSpPr>
        <p:spPr>
          <a:xfrm>
            <a:off x="877824" y="4297680"/>
            <a:ext cx="7388352" cy="502920"/>
          </a:xfrm>
          <a:prstGeom prst="rect">
            <a:avLst/>
          </a:prstGeom>
          <a:noFill/>
        </p:spPr>
        <p:txBody>
          <a:bodyPr wrap="square" lIns="0" rIns="0" tIns="0" bIns="0" anchor="ctr">
            <a:normAutofit/>
          </a:bodyPr>
          <a:lstStyle/>
          <a:p>
            <a:pPr algn="l">
              <a:spcBef>
                <a:spcPts val="0"/>
              </a:spcBef>
              <a:spcAft>
                <a:spcPts val="0"/>
              </a:spcAft>
            </a:pPr>
            <a:r>
              <a:rPr sz="2300" b="0">
                <a:solidFill>
                  <a:srgbClr val="002FA7"/>
                </a:solidFill>
                <a:latin typeface="Arial"/>
              </a:rPr>
              <a:t>Defined requirements + prescribed forms</a:t>
            </a:r>
          </a:p>
        </p:txBody>
      </p:sp>
      <p:sp>
        <p:nvSpPr>
          <p:cNvPr id="21" name="TextBox 20"/>
          <p:cNvSpPr txBox="1"/>
          <p:nvPr/>
        </p:nvSpPr>
        <p:spPr>
          <a:xfrm>
            <a:off x="877824" y="4892040"/>
            <a:ext cx="7242048" cy="420624"/>
          </a:xfrm>
          <a:prstGeom prst="rect">
            <a:avLst/>
          </a:prstGeom>
          <a:noFill/>
        </p:spPr>
        <p:txBody>
          <a:bodyPr wrap="square" lIns="0" rIns="0" tIns="0" bIns="0" anchor="ctr">
            <a:normAutofit/>
          </a:bodyPr>
          <a:lstStyle/>
          <a:p>
            <a:pPr algn="l">
              <a:spcBef>
                <a:spcPts val="0"/>
              </a:spcBef>
              <a:spcAft>
                <a:spcPts val="0"/>
              </a:spcAft>
            </a:pPr>
            <a:r>
              <a:rPr sz="1700" b="0">
                <a:solidFill>
                  <a:srgbClr val="002FA7"/>
                </a:solidFill>
                <a:latin typeface="Arial"/>
              </a:rPr>
              <a:t>support reviewable checks</a:t>
            </a:r>
          </a:p>
        </p:txBody>
      </p:sp>
      <p:sp>
        <p:nvSpPr>
          <p:cNvPr id="22" name="TextBox 21"/>
          <p:cNvSpPr txBox="1"/>
          <p:nvPr/>
        </p:nvSpPr>
        <p:spPr>
          <a:xfrm>
            <a:off x="8869680" y="1709928"/>
            <a:ext cx="2651760" cy="228600"/>
          </a:xfrm>
          <a:prstGeom prst="rect">
            <a:avLst/>
          </a:prstGeom>
          <a:noFill/>
        </p:spPr>
        <p:txBody>
          <a:bodyPr wrap="square" lIns="0" rIns="0" tIns="0" bIns="0" anchor="ctr">
            <a:normAutofit/>
          </a:bodyPr>
          <a:lstStyle/>
          <a:p>
            <a:pPr algn="l">
              <a:spcBef>
                <a:spcPts val="0"/>
              </a:spcBef>
              <a:spcAft>
                <a:spcPts val="0"/>
              </a:spcAft>
            </a:pPr>
            <a:r>
              <a:rPr sz="1000" b="1">
                <a:solidFill>
                  <a:srgbClr val="737373"/>
                </a:solidFill>
                <a:latin typeface="Arial"/>
              </a:rPr>
              <a:t>DEFERRED</a:t>
            </a:r>
          </a:p>
        </p:txBody>
      </p:sp>
      <p:sp>
        <p:nvSpPr>
          <p:cNvPr id="23" name="TextBox 22"/>
          <p:cNvSpPr txBox="1"/>
          <p:nvPr/>
        </p:nvSpPr>
        <p:spPr>
          <a:xfrm>
            <a:off x="8869680" y="2313432"/>
            <a:ext cx="2404872" cy="3438144"/>
          </a:xfrm>
          <a:prstGeom prst="rect">
            <a:avLst/>
          </a:prstGeom>
          <a:noFill/>
        </p:spPr>
        <p:txBody>
          <a:bodyPr wrap="square" lIns="0" rIns="0" tIns="0" bIns="0" anchor="t">
            <a:normAutofit/>
          </a:bodyPr>
          <a:lstStyle/>
          <a:p>
            <a:pPr algn="l">
              <a:spcBef>
                <a:spcPts val="0"/>
              </a:spcBef>
              <a:spcAft>
                <a:spcPts val="0"/>
              </a:spcAft>
            </a:pPr>
            <a:r>
              <a:rPr sz="1600" b="0">
                <a:solidFill>
                  <a:srgbClr val="737373"/>
                </a:solidFill>
                <a:latin typeface="Arial"/>
              </a:rPr>
              <a:t>Handwritten pattiru / folio OCR</a:t>
            </a:r>
          </a:p>
          <a:p>
            <a:pPr algn="l">
              <a:spcBef>
                <a:spcPts val="0"/>
              </a:spcBef>
              <a:spcAft>
                <a:spcPts val="0"/>
              </a:spcAft>
            </a:pPr>
          </a:p>
          <a:p>
            <a:pPr algn="l">
              <a:spcBef>
                <a:spcPts val="0"/>
              </a:spcBef>
              <a:spcAft>
                <a:spcPts val="0"/>
              </a:spcAft>
            </a:pPr>
            <a:r>
              <a:rPr sz="1600" b="0">
                <a:solidFill>
                  <a:srgbClr val="737373"/>
                </a:solidFill>
                <a:latin typeface="Arial"/>
              </a:rPr>
              <a:t>AT-form extraction</a:t>
            </a:r>
          </a:p>
          <a:p>
            <a:pPr algn="l">
              <a:spcBef>
                <a:spcPts val="0"/>
              </a:spcBef>
              <a:spcAft>
                <a:spcPts val="0"/>
              </a:spcAft>
            </a:pPr>
          </a:p>
          <a:p>
            <a:pPr algn="l">
              <a:spcBef>
                <a:spcPts val="0"/>
              </a:spcBef>
              <a:spcAft>
                <a:spcPts val="0"/>
              </a:spcAft>
            </a:pPr>
            <a:r>
              <a:rPr sz="1600" b="0">
                <a:solidFill>
                  <a:srgbClr val="737373"/>
                </a:solidFill>
                <a:latin typeface="Arial"/>
              </a:rPr>
              <a:t>Historical title reconstruction</a:t>
            </a:r>
          </a:p>
          <a:p>
            <a:pPr algn="l">
              <a:spcBef>
                <a:spcPts val="0"/>
              </a:spcBef>
              <a:spcAft>
                <a:spcPts val="0"/>
              </a:spcAft>
            </a:pPr>
          </a:p>
          <a:p>
            <a:pPr algn="l">
              <a:spcBef>
                <a:spcPts val="0"/>
              </a:spcBef>
              <a:spcAft>
                <a:spcPts val="0"/>
              </a:spcAft>
            </a:pPr>
            <a:r>
              <a:rPr sz="1600" b="0">
                <a:solidFill>
                  <a:srgbClr val="737373"/>
                </a:solidFill>
                <a:latin typeface="Arial"/>
              </a:rPr>
              <a:t>Initial title settlement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One matter connects intake, review, checks, and audit</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13 / 22</a:t>
            </a:r>
          </a:p>
        </p:txBody>
      </p:sp>
      <p:sp>
        <p:nvSpPr>
          <p:cNvPr id="9" name="Rectangle 8"/>
          <p:cNvSpPr/>
          <p:nvPr/>
        </p:nvSpPr>
        <p:spPr>
          <a:xfrm>
            <a:off x="566928"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755648"/>
            <a:ext cx="3502152" cy="56692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11095"/>
            <a:ext cx="3191256" cy="283464"/>
          </a:xfrm>
          <a:prstGeom prst="rect">
            <a:avLst/>
          </a:prstGeom>
          <a:noFill/>
        </p:spPr>
        <p:txBody>
          <a:bodyPr wrap="square" lIns="0" rIns="0" tIns="0" bIns="0" anchor="ctr">
            <a:normAutofit/>
          </a:bodyPr>
          <a:lstStyle/>
          <a:p>
            <a:pPr algn="l">
              <a:spcBef>
                <a:spcPts val="0"/>
              </a:spcBef>
              <a:spcAft>
                <a:spcPts val="0"/>
              </a:spcAft>
            </a:pPr>
            <a:r>
              <a:rPr sz="1350" b="1">
                <a:solidFill>
                  <a:srgbClr val="FFFFFF"/>
                </a:solidFill>
                <a:latin typeface="Arial"/>
              </a:rPr>
              <a:t>01 · MATTER AND EVIDENCE</a:t>
            </a:r>
          </a:p>
        </p:txBody>
      </p:sp>
      <p:sp>
        <p:nvSpPr>
          <p:cNvPr id="12" name="Rectangle 11"/>
          <p:cNvSpPr/>
          <p:nvPr/>
        </p:nvSpPr>
        <p:spPr>
          <a:xfrm>
            <a:off x="740664" y="2596896"/>
            <a:ext cx="3154680" cy="7772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2688336"/>
            <a:ext cx="2852928" cy="612647"/>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Create + classify matter</a:t>
            </a:r>
          </a:p>
        </p:txBody>
      </p:sp>
      <p:sp>
        <p:nvSpPr>
          <p:cNvPr id="14" name="TextBox 13"/>
          <p:cNvSpPr txBox="1"/>
          <p:nvPr/>
        </p:nvSpPr>
        <p:spPr>
          <a:xfrm>
            <a:off x="2185416" y="3383279"/>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15" name="Rectangle 14"/>
          <p:cNvSpPr/>
          <p:nvPr/>
        </p:nvSpPr>
        <p:spPr>
          <a:xfrm>
            <a:off x="740664" y="3584448"/>
            <a:ext cx="3154680" cy="7772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675887"/>
            <a:ext cx="2852928" cy="612647"/>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Upload source documents</a:t>
            </a:r>
          </a:p>
        </p:txBody>
      </p:sp>
      <p:sp>
        <p:nvSpPr>
          <p:cNvPr id="17" name="TextBox 16"/>
          <p:cNvSpPr txBox="1"/>
          <p:nvPr/>
        </p:nvSpPr>
        <p:spPr>
          <a:xfrm>
            <a:off x="2185416" y="4370831"/>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18" name="Rectangle 17"/>
          <p:cNvSpPr/>
          <p:nvPr/>
        </p:nvSpPr>
        <p:spPr>
          <a:xfrm>
            <a:off x="740664" y="4572000"/>
            <a:ext cx="3154680" cy="7772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4663440"/>
            <a:ext cx="2852928" cy="612647"/>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Record candidate facts + evidence</a:t>
            </a:r>
          </a:p>
        </p:txBody>
      </p:sp>
      <p:sp>
        <p:nvSpPr>
          <p:cNvPr id="20" name="TextBox 19"/>
          <p:cNvSpPr txBox="1"/>
          <p:nvPr/>
        </p:nvSpPr>
        <p:spPr>
          <a:xfrm>
            <a:off x="4059935" y="3648456"/>
            <a:ext cx="256032" cy="320040"/>
          </a:xfrm>
          <a:prstGeom prst="rect">
            <a:avLst/>
          </a:prstGeom>
          <a:noFill/>
        </p:spPr>
        <p:txBody>
          <a:bodyPr wrap="square" lIns="0" rIns="0" tIns="0" bIns="0" anchor="ctr">
            <a:normAutofit/>
          </a:bodyPr>
          <a:lstStyle/>
          <a:p>
            <a:pPr algn="ctr">
              <a:spcBef>
                <a:spcPts val="0"/>
              </a:spcBef>
              <a:spcAft>
                <a:spcPts val="0"/>
              </a:spcAft>
            </a:pPr>
            <a:r>
              <a:rPr sz="2100" b="0">
                <a:solidFill>
                  <a:srgbClr val="002FA7"/>
                </a:solidFill>
                <a:latin typeface="Arial"/>
              </a:rPr>
              <a:t>→</a:t>
            </a:r>
          </a:p>
        </p:txBody>
      </p:sp>
      <p:sp>
        <p:nvSpPr>
          <p:cNvPr id="21" name="Rectangle 20"/>
          <p:cNvSpPr/>
          <p:nvPr/>
        </p:nvSpPr>
        <p:spPr>
          <a:xfrm>
            <a:off x="4315968"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1755648"/>
            <a:ext cx="3502152" cy="56692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59" y="1911095"/>
            <a:ext cx="3191256" cy="283464"/>
          </a:xfrm>
          <a:prstGeom prst="rect">
            <a:avLst/>
          </a:prstGeom>
          <a:noFill/>
        </p:spPr>
        <p:txBody>
          <a:bodyPr wrap="square" lIns="0" rIns="0" tIns="0" bIns="0" anchor="ctr">
            <a:normAutofit/>
          </a:bodyPr>
          <a:lstStyle/>
          <a:p>
            <a:pPr algn="l">
              <a:spcBef>
                <a:spcPts val="0"/>
              </a:spcBef>
              <a:spcAft>
                <a:spcPts val="0"/>
              </a:spcAft>
            </a:pPr>
            <a:r>
              <a:rPr sz="1350" b="1">
                <a:solidFill>
                  <a:srgbClr val="FFFFFF"/>
                </a:solidFill>
                <a:latin typeface="Arial"/>
              </a:rPr>
              <a:t>02 · LAWYER REVIEW</a:t>
            </a:r>
          </a:p>
        </p:txBody>
      </p:sp>
      <p:sp>
        <p:nvSpPr>
          <p:cNvPr id="24" name="Rectangle 23"/>
          <p:cNvSpPr/>
          <p:nvPr/>
        </p:nvSpPr>
        <p:spPr>
          <a:xfrm>
            <a:off x="4489704" y="2596896"/>
            <a:ext cx="3154680" cy="658368"/>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36007" y="2688336"/>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02FA7"/>
                </a:solidFill>
                <a:latin typeface="Arial"/>
              </a:rPr>
              <a:t>Verify or correct facts</a:t>
            </a:r>
          </a:p>
        </p:txBody>
      </p:sp>
      <p:sp>
        <p:nvSpPr>
          <p:cNvPr id="26" name="TextBox 25"/>
          <p:cNvSpPr txBox="1"/>
          <p:nvPr/>
        </p:nvSpPr>
        <p:spPr>
          <a:xfrm>
            <a:off x="5934456" y="3264407"/>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27" name="Rectangle 26"/>
          <p:cNvSpPr/>
          <p:nvPr/>
        </p:nvSpPr>
        <p:spPr>
          <a:xfrm>
            <a:off x="4489704" y="3465576"/>
            <a:ext cx="31546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7" y="3557016"/>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Run checklist + checks</a:t>
            </a:r>
          </a:p>
        </p:txBody>
      </p:sp>
      <p:sp>
        <p:nvSpPr>
          <p:cNvPr id="29" name="TextBox 28"/>
          <p:cNvSpPr txBox="1"/>
          <p:nvPr/>
        </p:nvSpPr>
        <p:spPr>
          <a:xfrm>
            <a:off x="5934456" y="4133087"/>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30" name="Rectangle 29"/>
          <p:cNvSpPr/>
          <p:nvPr/>
        </p:nvSpPr>
        <p:spPr>
          <a:xfrm>
            <a:off x="4489704" y="4334256"/>
            <a:ext cx="3154680" cy="658368"/>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36007" y="4425696"/>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02FA7"/>
                </a:solidFill>
                <a:latin typeface="Arial"/>
              </a:rPr>
              <a:t>Resolve finding / request evidence</a:t>
            </a:r>
          </a:p>
        </p:txBody>
      </p:sp>
      <p:sp>
        <p:nvSpPr>
          <p:cNvPr id="32" name="TextBox 31"/>
          <p:cNvSpPr txBox="1"/>
          <p:nvPr/>
        </p:nvSpPr>
        <p:spPr>
          <a:xfrm>
            <a:off x="5934456" y="5001768"/>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33" name="Rectangle 32"/>
          <p:cNvSpPr/>
          <p:nvPr/>
        </p:nvSpPr>
        <p:spPr>
          <a:xfrm>
            <a:off x="4489704" y="5202936"/>
            <a:ext cx="31546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36007" y="5294375"/>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Review cited research</a:t>
            </a:r>
          </a:p>
        </p:txBody>
      </p:sp>
      <p:sp>
        <p:nvSpPr>
          <p:cNvPr id="35" name="TextBox 34"/>
          <p:cNvSpPr txBox="1"/>
          <p:nvPr/>
        </p:nvSpPr>
        <p:spPr>
          <a:xfrm>
            <a:off x="7808975" y="3648456"/>
            <a:ext cx="256032" cy="320040"/>
          </a:xfrm>
          <a:prstGeom prst="rect">
            <a:avLst/>
          </a:prstGeom>
          <a:noFill/>
        </p:spPr>
        <p:txBody>
          <a:bodyPr wrap="square" lIns="0" rIns="0" tIns="0" bIns="0" anchor="ctr">
            <a:normAutofit/>
          </a:bodyPr>
          <a:lstStyle/>
          <a:p>
            <a:pPr algn="ctr">
              <a:spcBef>
                <a:spcPts val="0"/>
              </a:spcBef>
              <a:spcAft>
                <a:spcPts val="0"/>
              </a:spcAft>
            </a:pPr>
            <a:r>
              <a:rPr sz="2100" b="0">
                <a:solidFill>
                  <a:srgbClr val="002FA7"/>
                </a:solidFill>
                <a:latin typeface="Arial"/>
              </a:rPr>
              <a:t>→</a:t>
            </a:r>
          </a:p>
        </p:txBody>
      </p:sp>
      <p:sp>
        <p:nvSpPr>
          <p:cNvPr id="36" name="Rectangle 35"/>
          <p:cNvSpPr/>
          <p:nvPr/>
        </p:nvSpPr>
        <p:spPr>
          <a:xfrm>
            <a:off x="8065007"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65007" y="1755648"/>
            <a:ext cx="3502152" cy="56692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599" y="1911095"/>
            <a:ext cx="3191256" cy="283464"/>
          </a:xfrm>
          <a:prstGeom prst="rect">
            <a:avLst/>
          </a:prstGeom>
          <a:noFill/>
        </p:spPr>
        <p:txBody>
          <a:bodyPr wrap="square" lIns="0" rIns="0" tIns="0" bIns="0" anchor="ctr">
            <a:normAutofit/>
          </a:bodyPr>
          <a:lstStyle/>
          <a:p>
            <a:pPr algn="l">
              <a:spcBef>
                <a:spcPts val="0"/>
              </a:spcBef>
              <a:spcAft>
                <a:spcPts val="0"/>
              </a:spcAft>
            </a:pPr>
            <a:r>
              <a:rPr sz="1350" b="1">
                <a:solidFill>
                  <a:srgbClr val="FFFFFF"/>
                </a:solidFill>
                <a:latin typeface="Arial"/>
              </a:rPr>
              <a:t>03 · DRAFT AND RECORD</a:t>
            </a:r>
          </a:p>
        </p:txBody>
      </p:sp>
      <p:sp>
        <p:nvSpPr>
          <p:cNvPr id="39" name="Rectangle 38"/>
          <p:cNvSpPr/>
          <p:nvPr/>
        </p:nvSpPr>
        <p:spPr>
          <a:xfrm>
            <a:off x="8238743" y="2596896"/>
            <a:ext cx="31546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85047" y="2688336"/>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Prepare form draft</a:t>
            </a:r>
          </a:p>
        </p:txBody>
      </p:sp>
      <p:sp>
        <p:nvSpPr>
          <p:cNvPr id="41" name="TextBox 40"/>
          <p:cNvSpPr txBox="1"/>
          <p:nvPr/>
        </p:nvSpPr>
        <p:spPr>
          <a:xfrm>
            <a:off x="9683495" y="3264407"/>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42" name="Rectangle 41"/>
          <p:cNvSpPr/>
          <p:nvPr/>
        </p:nvSpPr>
        <p:spPr>
          <a:xfrm>
            <a:off x="8238743" y="3465576"/>
            <a:ext cx="31546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85047" y="3557016"/>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Check prerequisites</a:t>
            </a:r>
          </a:p>
        </p:txBody>
      </p:sp>
      <p:sp>
        <p:nvSpPr>
          <p:cNvPr id="44" name="TextBox 43"/>
          <p:cNvSpPr txBox="1"/>
          <p:nvPr/>
        </p:nvSpPr>
        <p:spPr>
          <a:xfrm>
            <a:off x="9683495" y="4133087"/>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45" name="Rectangle 44"/>
          <p:cNvSpPr/>
          <p:nvPr/>
        </p:nvSpPr>
        <p:spPr>
          <a:xfrm>
            <a:off x="8238743" y="4334256"/>
            <a:ext cx="3154680" cy="658368"/>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85047" y="4425696"/>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02FA7"/>
                </a:solidFill>
                <a:latin typeface="Arial"/>
              </a:rPr>
              <a:t>Lawyer reviews + decides</a:t>
            </a:r>
          </a:p>
        </p:txBody>
      </p:sp>
      <p:sp>
        <p:nvSpPr>
          <p:cNvPr id="47" name="TextBox 46"/>
          <p:cNvSpPr txBox="1"/>
          <p:nvPr/>
        </p:nvSpPr>
        <p:spPr>
          <a:xfrm>
            <a:off x="9683495" y="5001768"/>
            <a:ext cx="274320" cy="182880"/>
          </a:xfrm>
          <a:prstGeom prst="rect">
            <a:avLst/>
          </a:prstGeom>
          <a:noFill/>
        </p:spPr>
        <p:txBody>
          <a:bodyPr wrap="square" lIns="0" rIns="0" tIns="0" bIns="0" anchor="ctr">
            <a:normAutofit/>
          </a:bodyPr>
          <a:lstStyle/>
          <a:p>
            <a:pPr algn="ctr">
              <a:spcBef>
                <a:spcPts val="0"/>
              </a:spcBef>
              <a:spcAft>
                <a:spcPts val="0"/>
              </a:spcAft>
            </a:pPr>
            <a:r>
              <a:rPr sz="1300" b="0">
                <a:solidFill>
                  <a:srgbClr val="002FA7"/>
                </a:solidFill>
                <a:latin typeface="Arial"/>
              </a:rPr>
              <a:t>↓</a:t>
            </a:r>
          </a:p>
        </p:txBody>
      </p:sp>
      <p:sp>
        <p:nvSpPr>
          <p:cNvPr id="48" name="Rectangle 47"/>
          <p:cNvSpPr/>
          <p:nvPr/>
        </p:nvSpPr>
        <p:spPr>
          <a:xfrm>
            <a:off x="8238743" y="5202936"/>
            <a:ext cx="3154680" cy="658368"/>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85047" y="5294375"/>
            <a:ext cx="2852928" cy="493776"/>
          </a:xfrm>
          <a:prstGeom prst="rect">
            <a:avLst/>
          </a:prstGeom>
          <a:noFill/>
        </p:spPr>
        <p:txBody>
          <a:bodyPr wrap="square" lIns="0" rIns="0" tIns="0" bIns="0" anchor="ctr">
            <a:normAutofit/>
          </a:bodyPr>
          <a:lstStyle/>
          <a:p>
            <a:pPr algn="l">
              <a:spcBef>
                <a:spcPts val="0"/>
              </a:spcBef>
              <a:spcAft>
                <a:spcPts val="0"/>
              </a:spcAft>
            </a:pPr>
            <a:r>
              <a:rPr sz="1420" b="0">
                <a:solidFill>
                  <a:srgbClr val="0A0A0A"/>
                </a:solidFill>
                <a:latin typeface="Arial"/>
              </a:rPr>
              <a:t>Record approval / export + audit</a:t>
            </a:r>
          </a:p>
        </p:txBody>
      </p:sp>
      <p:sp>
        <p:nvSpPr>
          <p:cNvPr id="50" name="TextBox 49"/>
          <p:cNvSpPr txBox="1"/>
          <p:nvPr/>
        </p:nvSpPr>
        <p:spPr>
          <a:xfrm>
            <a:off x="576072" y="6089904"/>
            <a:ext cx="10561320" cy="237744"/>
          </a:xfrm>
          <a:prstGeom prst="rect">
            <a:avLst/>
          </a:prstGeom>
          <a:noFill/>
        </p:spPr>
        <p:txBody>
          <a:bodyPr wrap="square" lIns="0" rIns="0" tIns="0" bIns="0" anchor="ctr">
            <a:normAutofit/>
          </a:bodyPr>
          <a:lstStyle/>
          <a:p>
            <a:pPr algn="l">
              <a:spcBef>
                <a:spcPts val="0"/>
              </a:spcBef>
              <a:spcAft>
                <a:spcPts val="0"/>
              </a:spcAft>
            </a:pPr>
            <a:r>
              <a:rPr sz="1200" b="0">
                <a:solidFill>
                  <a:srgbClr val="737373"/>
                </a:solidFill>
                <a:latin typeface="Arial"/>
              </a:rPr>
              <a:t>Findings return to review; a rejected draft returns to verified facts.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OCR detects text regions, but field accuracy remains unscored</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14 / 22</a:t>
            </a:r>
          </a:p>
        </p:txBody>
      </p:sp>
      <p:pic>
        <p:nvPicPr>
          <p:cNvPr id="9" name="Picture 8" descr="redacted-real-ocr-boxed-page.png"/>
          <p:cNvPicPr>
            <a:picLocks noChangeAspect="1"/>
          </p:cNvPicPr>
          <p:nvPr/>
        </p:nvPicPr>
        <p:blipFill>
          <a:blip r:embed="rId4"/>
          <a:stretch>
            <a:fillRect/>
          </a:stretch>
        </p:blipFill>
        <p:spPr>
          <a:xfrm>
            <a:off x="983843" y="1627632"/>
            <a:ext cx="2933497" cy="4434840"/>
          </a:xfrm>
          <a:prstGeom prst="rect">
            <a:avLst/>
          </a:prstGeom>
        </p:spPr>
      </p:pic>
      <p:sp>
        <p:nvSpPr>
          <p:cNvPr id="10" name="TextBox 9"/>
          <p:cNvSpPr txBox="1"/>
          <p:nvPr/>
        </p:nvSpPr>
        <p:spPr>
          <a:xfrm>
            <a:off x="603504" y="6099048"/>
            <a:ext cx="4663440" cy="219456"/>
          </a:xfrm>
          <a:prstGeom prst="rect">
            <a:avLst/>
          </a:prstGeom>
          <a:noFill/>
        </p:spPr>
        <p:txBody>
          <a:bodyPr wrap="square" lIns="0" rIns="0" tIns="0" bIns="0" anchor="ctr">
            <a:normAutofit/>
          </a:bodyPr>
          <a:lstStyle/>
          <a:p>
            <a:pPr algn="l">
              <a:spcBef>
                <a:spcPts val="0"/>
              </a:spcBef>
              <a:spcAft>
                <a:spcPts val="0"/>
              </a:spcAft>
            </a:pPr>
            <a:r>
              <a:rPr sz="1050" b="0">
                <a:solidFill>
                  <a:srgbClr val="737373"/>
                </a:solidFill>
                <a:latin typeface="Arial"/>
              </a:rPr>
              <a:t>Real benchmark page · text redacted · OCR regions shown</a:t>
            </a:r>
          </a:p>
        </p:txBody>
      </p:sp>
      <p:sp>
        <p:nvSpPr>
          <p:cNvPr id="11" name="Rectangle 10"/>
          <p:cNvSpPr/>
          <p:nvPr/>
        </p:nvSpPr>
        <p:spPr>
          <a:xfrm>
            <a:off x="4681728" y="1709928"/>
            <a:ext cx="6675120" cy="10515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64608" y="1819656"/>
            <a:ext cx="6309359"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4 / 38 / 282</a:t>
            </a:r>
          </a:p>
        </p:txBody>
      </p:sp>
      <p:sp>
        <p:nvSpPr>
          <p:cNvPr id="13" name="TextBox 12"/>
          <p:cNvSpPr txBox="1"/>
          <p:nvPr/>
        </p:nvSpPr>
        <p:spPr>
          <a:xfrm>
            <a:off x="4864608" y="2423160"/>
            <a:ext cx="6309359" cy="256031"/>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matters / documents / pages in inventory</a:t>
            </a:r>
          </a:p>
        </p:txBody>
      </p:sp>
      <p:sp>
        <p:nvSpPr>
          <p:cNvPr id="14" name="Rectangle 13"/>
          <p:cNvSpPr/>
          <p:nvPr/>
        </p:nvSpPr>
        <p:spPr>
          <a:xfrm>
            <a:off x="4681728" y="2871216"/>
            <a:ext cx="6675120" cy="10515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64608" y="2980944"/>
            <a:ext cx="6309359"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26 / 26</a:t>
            </a:r>
          </a:p>
        </p:txBody>
      </p:sp>
      <p:sp>
        <p:nvSpPr>
          <p:cNvPr id="16" name="TextBox 15"/>
          <p:cNvSpPr txBox="1"/>
          <p:nvPr/>
        </p:nvSpPr>
        <p:spPr>
          <a:xfrm>
            <a:off x="4864608" y="3584448"/>
            <a:ext cx="6309359" cy="256031"/>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pilot pages returned text</a:t>
            </a:r>
          </a:p>
        </p:txBody>
      </p:sp>
      <p:sp>
        <p:nvSpPr>
          <p:cNvPr id="17" name="Rectangle 16"/>
          <p:cNvSpPr/>
          <p:nvPr/>
        </p:nvSpPr>
        <p:spPr>
          <a:xfrm>
            <a:off x="4681728" y="4032504"/>
            <a:ext cx="6675120" cy="1051560"/>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4608" y="4142232"/>
            <a:ext cx="6309359" cy="585216"/>
          </a:xfrm>
          <a:prstGeom prst="rect">
            <a:avLst/>
          </a:prstGeom>
          <a:noFill/>
        </p:spPr>
        <p:txBody>
          <a:bodyPr wrap="square" lIns="0" rIns="0" tIns="0" bIns="0" anchor="ctr">
            <a:normAutofit/>
          </a:bodyPr>
          <a:lstStyle/>
          <a:p>
            <a:pPr algn="l">
              <a:spcBef>
                <a:spcPts val="0"/>
              </a:spcBef>
              <a:spcAft>
                <a:spcPts val="0"/>
              </a:spcAft>
            </a:pPr>
            <a:r>
              <a:rPr sz="3100" b="0">
                <a:solidFill>
                  <a:srgbClr val="002FA7"/>
                </a:solidFill>
                <a:latin typeface="Arial"/>
              </a:rPr>
              <a:t>37 / 4 / 1</a:t>
            </a:r>
          </a:p>
        </p:txBody>
      </p:sp>
      <p:sp>
        <p:nvSpPr>
          <p:cNvPr id="19" name="TextBox 18"/>
          <p:cNvSpPr txBox="1"/>
          <p:nvPr/>
        </p:nvSpPr>
        <p:spPr>
          <a:xfrm>
            <a:off x="4864608" y="4745736"/>
            <a:ext cx="6309359" cy="256031"/>
          </a:xfrm>
          <a:prstGeom prst="rect">
            <a:avLst/>
          </a:prstGeom>
          <a:noFill/>
        </p:spPr>
        <p:txBody>
          <a:bodyPr wrap="square" lIns="0" rIns="0" tIns="0" bIns="0" anchor="t">
            <a:normAutofit/>
          </a:bodyPr>
          <a:lstStyle/>
          <a:p>
            <a:pPr algn="l">
              <a:spcBef>
                <a:spcPts val="0"/>
              </a:spcBef>
              <a:spcAft>
                <a:spcPts val="0"/>
              </a:spcAft>
            </a:pPr>
            <a:r>
              <a:rPr sz="1230" b="0">
                <a:solidFill>
                  <a:srgbClr val="0A0A0A"/>
                </a:solidFill>
                <a:latin typeface="Arial"/>
              </a:rPr>
              <a:t>labelled fields / documents / matter</a:t>
            </a:r>
          </a:p>
        </p:txBody>
      </p:sp>
      <p:sp>
        <p:nvSpPr>
          <p:cNvPr id="20" name="Rectangle 19"/>
          <p:cNvSpPr/>
          <p:nvPr/>
        </p:nvSpPr>
        <p:spPr>
          <a:xfrm>
            <a:off x="4681728" y="5349240"/>
            <a:ext cx="6675120" cy="521207"/>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5376672"/>
            <a:ext cx="6492240" cy="466344"/>
          </a:xfrm>
          <a:prstGeom prst="rect">
            <a:avLst/>
          </a:prstGeom>
          <a:noFill/>
        </p:spPr>
        <p:txBody>
          <a:bodyPr wrap="square" lIns="0" rIns="0" tIns="0" bIns="0" anchor="ctr">
            <a:normAutofit/>
          </a:bodyPr>
          <a:lstStyle/>
          <a:p>
            <a:pPr algn="l">
              <a:spcBef>
                <a:spcPts val="0"/>
              </a:spcBef>
              <a:spcAft>
                <a:spcPts val="0"/>
              </a:spcAft>
            </a:pPr>
            <a:r>
              <a:rPr sz="1700" b="1">
                <a:solidFill>
                  <a:srgbClr val="FFFFFF"/>
                </a:solidFill>
                <a:latin typeface="Arial"/>
              </a:rPr>
              <a:t>FIELD-LEVEL ACCURACY NOT YET SCORED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The full processing design ends at lawyer review</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15 / 22</a:t>
            </a:r>
          </a:p>
        </p:txBody>
      </p:sp>
      <p:pic>
        <p:nvPicPr>
          <p:cNvPr id="9" name="Picture 8" descr="document-processing-research-pipeline-crop.png"/>
          <p:cNvPicPr>
            <a:picLocks noChangeAspect="1"/>
          </p:cNvPicPr>
          <p:nvPr/>
        </p:nvPicPr>
        <p:blipFill>
          <a:blip r:embed="rId4"/>
          <a:stretch>
            <a:fillRect/>
          </a:stretch>
        </p:blipFill>
        <p:spPr>
          <a:xfrm>
            <a:off x="729325" y="1719072"/>
            <a:ext cx="10721157" cy="4187952"/>
          </a:xfrm>
          <a:prstGeom prst="rect">
            <a:avLst/>
          </a:prstGeom>
        </p:spPr>
      </p:pic>
      <p:sp>
        <p:nvSpPr>
          <p:cNvPr id="10" name="Rectangle 9"/>
          <p:cNvSpPr/>
          <p:nvPr/>
        </p:nvSpPr>
        <p:spPr>
          <a:xfrm>
            <a:off x="566928" y="5788152"/>
            <a:ext cx="8394192" cy="365760"/>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15584"/>
            <a:ext cx="8211312" cy="310896"/>
          </a:xfrm>
          <a:prstGeom prst="rect">
            <a:avLst/>
          </a:prstGeom>
          <a:noFill/>
        </p:spPr>
        <p:txBody>
          <a:bodyPr wrap="square" lIns="0" rIns="0" tIns="0" bIns="0" anchor="ctr">
            <a:normAutofit/>
          </a:bodyPr>
          <a:lstStyle/>
          <a:p>
            <a:pPr algn="l">
              <a:spcBef>
                <a:spcPts val="0"/>
              </a:spcBef>
              <a:spcAft>
                <a:spcPts val="0"/>
              </a:spcAft>
            </a:pPr>
            <a:r>
              <a:rPr sz="1250" b="1">
                <a:solidFill>
                  <a:srgbClr val="002FA7"/>
                </a:solidFill>
                <a:latin typeface="Arial"/>
              </a:rPr>
              <a:t>RESEARCH PIPELINE DESIGN  ·  LATER EXTRACTION STAGES NOT HOSTED</a:t>
            </a:r>
          </a:p>
        </p:txBody>
      </p:sp>
      <p:sp>
        <p:nvSpPr>
          <p:cNvPr id="12" name="TextBox 11"/>
          <p:cNvSpPr txBox="1"/>
          <p:nvPr/>
        </p:nvSpPr>
        <p:spPr>
          <a:xfrm>
            <a:off x="566928" y="6181344"/>
            <a:ext cx="10716768" cy="201168"/>
          </a:xfrm>
          <a:prstGeom prst="rect">
            <a:avLst/>
          </a:prstGeom>
          <a:noFill/>
        </p:spPr>
        <p:txBody>
          <a:bodyPr wrap="square" lIns="0" rIns="0" tIns="0" bIns="0" anchor="ctr">
            <a:normAutofit/>
          </a:bodyPr>
          <a:lstStyle/>
          <a:p>
            <a:pPr algn="l">
              <a:spcBef>
                <a:spcPts val="0"/>
              </a:spcBef>
              <a:spcAft>
                <a:spcPts val="0"/>
              </a:spcAft>
            </a:pPr>
            <a:r>
              <a:rPr sz="1050" b="0">
                <a:solidFill>
                  <a:srgbClr val="737373"/>
                </a:solidFill>
                <a:latin typeface="Arial"/>
              </a:rPr>
              <a:t>Hosted: upload → run / stub candidates → lawyer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The shipped research service returns cited statutory passages</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16 / 22</a:t>
            </a:r>
          </a:p>
        </p:txBody>
      </p:sp>
      <p:sp>
        <p:nvSpPr>
          <p:cNvPr id="9" name="Rectangle 8"/>
          <p:cNvSpPr/>
          <p:nvPr/>
        </p:nvSpPr>
        <p:spPr>
          <a:xfrm>
            <a:off x="566928" y="1645920"/>
            <a:ext cx="5641848" cy="420624"/>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673352"/>
            <a:ext cx="5458968" cy="365760"/>
          </a:xfrm>
          <a:prstGeom prst="rect">
            <a:avLst/>
          </a:prstGeom>
          <a:noFill/>
        </p:spPr>
        <p:txBody>
          <a:bodyPr wrap="square" lIns="0" rIns="0" tIns="0" bIns="0" anchor="ctr">
            <a:normAutofit/>
          </a:bodyPr>
          <a:lstStyle/>
          <a:p>
            <a:pPr algn="l">
              <a:spcBef>
                <a:spcPts val="0"/>
              </a:spcBef>
              <a:spcAft>
                <a:spcPts val="0"/>
              </a:spcAft>
            </a:pPr>
            <a:r>
              <a:rPr sz="1700" b="1">
                <a:solidFill>
                  <a:srgbClr val="FFFFFF"/>
                </a:solidFill>
                <a:latin typeface="Arial"/>
              </a:rPr>
              <a:t>HOSTED RESEARCH PATH · BM25</a:t>
            </a:r>
          </a:p>
        </p:txBody>
      </p:sp>
      <p:sp>
        <p:nvSpPr>
          <p:cNvPr id="11" name="Rectangle 10"/>
          <p:cNvSpPr/>
          <p:nvPr/>
        </p:nvSpPr>
        <p:spPr>
          <a:xfrm>
            <a:off x="566928" y="2542032"/>
            <a:ext cx="2031796" cy="126187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33472"/>
            <a:ext cx="1848916" cy="1078992"/>
          </a:xfrm>
          <a:prstGeom prst="rect">
            <a:avLst/>
          </a:prstGeom>
          <a:noFill/>
        </p:spPr>
        <p:txBody>
          <a:bodyPr wrap="square" lIns="0" rIns="0" tIns="0" bIns="0" anchor="ctr">
            <a:normAutofit/>
          </a:bodyPr>
          <a:lstStyle/>
          <a:p>
            <a:pPr algn="ctr">
              <a:spcBef>
                <a:spcPts val="0"/>
              </a:spcBef>
              <a:spcAft>
                <a:spcPts val="0"/>
              </a:spcAft>
            </a:pPr>
            <a:r>
              <a:rPr sz="1500" b="1">
                <a:solidFill>
                  <a:srgbClr val="FFFFFF"/>
                </a:solidFill>
                <a:latin typeface="Arial"/>
              </a:rPr>
              <a:t>Lawyer question</a:t>
            </a:r>
          </a:p>
        </p:txBody>
      </p:sp>
      <p:sp>
        <p:nvSpPr>
          <p:cNvPr id="13" name="TextBox 12"/>
          <p:cNvSpPr txBox="1"/>
          <p:nvPr/>
        </p:nvSpPr>
        <p:spPr>
          <a:xfrm>
            <a:off x="2598724" y="3035808"/>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4" name="Rectangle 13"/>
          <p:cNvSpPr/>
          <p:nvPr/>
        </p:nvSpPr>
        <p:spPr>
          <a:xfrm>
            <a:off x="2809036"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00476" y="2633472"/>
            <a:ext cx="1848916" cy="1078992"/>
          </a:xfrm>
          <a:prstGeom prst="rect">
            <a:avLst/>
          </a:prstGeom>
          <a:noFill/>
        </p:spPr>
        <p:txBody>
          <a:bodyPr wrap="square" lIns="0" rIns="0" tIns="0" bIns="0" anchor="ctr">
            <a:normAutofit/>
          </a:bodyPr>
          <a:lstStyle/>
          <a:p>
            <a:pPr algn="ctr">
              <a:spcBef>
                <a:spcPts val="0"/>
              </a:spcBef>
              <a:spcAft>
                <a:spcPts val="0"/>
              </a:spcAft>
            </a:pPr>
            <a:r>
              <a:rPr sz="1500" b="0">
                <a:solidFill>
                  <a:srgbClr val="0A0A0A"/>
                </a:solidFill>
                <a:latin typeface="Arial"/>
              </a:rPr>
              <a:t>Research view</a:t>
            </a:r>
          </a:p>
        </p:txBody>
      </p:sp>
      <p:sp>
        <p:nvSpPr>
          <p:cNvPr id="16" name="TextBox 15"/>
          <p:cNvSpPr txBox="1"/>
          <p:nvPr/>
        </p:nvSpPr>
        <p:spPr>
          <a:xfrm>
            <a:off x="4840833" y="3035808"/>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7" name="Rectangle 16"/>
          <p:cNvSpPr/>
          <p:nvPr/>
        </p:nvSpPr>
        <p:spPr>
          <a:xfrm>
            <a:off x="5051145"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42585" y="2633472"/>
            <a:ext cx="1848916" cy="1078992"/>
          </a:xfrm>
          <a:prstGeom prst="rect">
            <a:avLst/>
          </a:prstGeom>
          <a:noFill/>
        </p:spPr>
        <p:txBody>
          <a:bodyPr wrap="square" lIns="0" rIns="0" tIns="0" bIns="0" anchor="ctr">
            <a:normAutofit/>
          </a:bodyPr>
          <a:lstStyle/>
          <a:p>
            <a:pPr algn="ctr">
              <a:spcBef>
                <a:spcPts val="0"/>
              </a:spcBef>
              <a:spcAft>
                <a:spcPts val="0"/>
              </a:spcAft>
            </a:pPr>
            <a:r>
              <a:rPr sz="1500" b="0">
                <a:solidFill>
                  <a:srgbClr val="0A0A0A"/>
                </a:solidFill>
                <a:latin typeface="Arial"/>
              </a:rPr>
              <a:t>FastAPI</a:t>
            </a:r>
          </a:p>
        </p:txBody>
      </p:sp>
      <p:sp>
        <p:nvSpPr>
          <p:cNvPr id="19" name="TextBox 18"/>
          <p:cNvSpPr txBox="1"/>
          <p:nvPr/>
        </p:nvSpPr>
        <p:spPr>
          <a:xfrm>
            <a:off x="7082942" y="3035808"/>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0" name="Rectangle 19"/>
          <p:cNvSpPr/>
          <p:nvPr/>
        </p:nvSpPr>
        <p:spPr>
          <a:xfrm>
            <a:off x="7293254" y="2542032"/>
            <a:ext cx="2031796" cy="126187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4694" y="2633472"/>
            <a:ext cx="1848916" cy="1078992"/>
          </a:xfrm>
          <a:prstGeom prst="rect">
            <a:avLst/>
          </a:prstGeom>
          <a:noFill/>
        </p:spPr>
        <p:txBody>
          <a:bodyPr wrap="square" lIns="0" rIns="0" tIns="0" bIns="0" anchor="ctr">
            <a:normAutofit/>
          </a:bodyPr>
          <a:lstStyle/>
          <a:p>
            <a:pPr algn="ctr">
              <a:spcBef>
                <a:spcPts val="0"/>
              </a:spcBef>
              <a:spcAft>
                <a:spcPts val="0"/>
              </a:spcAft>
            </a:pPr>
            <a:r>
              <a:rPr sz="1500" b="1">
                <a:solidFill>
                  <a:srgbClr val="FFFFFF"/>
                </a:solidFill>
                <a:latin typeface="Arial"/>
              </a:rPr>
              <a:t>BM25 index</a:t>
            </a:r>
          </a:p>
        </p:txBody>
      </p:sp>
      <p:sp>
        <p:nvSpPr>
          <p:cNvPr id="22" name="TextBox 21"/>
          <p:cNvSpPr txBox="1"/>
          <p:nvPr/>
        </p:nvSpPr>
        <p:spPr>
          <a:xfrm>
            <a:off x="9325051" y="3035808"/>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3" name="Rectangle 22"/>
          <p:cNvSpPr/>
          <p:nvPr/>
        </p:nvSpPr>
        <p:spPr>
          <a:xfrm>
            <a:off x="9535363"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6803" y="2633472"/>
            <a:ext cx="1848916" cy="1078992"/>
          </a:xfrm>
          <a:prstGeom prst="rect">
            <a:avLst/>
          </a:prstGeom>
          <a:noFill/>
        </p:spPr>
        <p:txBody>
          <a:bodyPr wrap="square" lIns="0" rIns="0" tIns="0" bIns="0" anchor="ctr">
            <a:normAutofit/>
          </a:bodyPr>
          <a:lstStyle/>
          <a:p>
            <a:pPr algn="ctr">
              <a:spcBef>
                <a:spcPts val="0"/>
              </a:spcBef>
              <a:spcAft>
                <a:spcPts val="0"/>
              </a:spcAft>
            </a:pPr>
            <a:r>
              <a:rPr sz="1500" b="0">
                <a:solidFill>
                  <a:srgbClr val="0A0A0A"/>
                </a:solidFill>
                <a:latin typeface="Arial"/>
              </a:rPr>
              <a:t>Cited passages</a:t>
            </a:r>
          </a:p>
        </p:txBody>
      </p:sp>
      <p:sp>
        <p:nvSpPr>
          <p:cNvPr id="25" name="Rectangle 24"/>
          <p:cNvSpPr/>
          <p:nvPr/>
        </p:nvSpPr>
        <p:spPr>
          <a:xfrm>
            <a:off x="566928" y="4288536"/>
            <a:ext cx="6775704" cy="1216152"/>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4443984"/>
            <a:ext cx="6327648" cy="777240"/>
          </a:xfrm>
          <a:prstGeom prst="rect">
            <a:avLst/>
          </a:prstGeom>
          <a:noFill/>
        </p:spPr>
        <p:txBody>
          <a:bodyPr wrap="square" lIns="0" rIns="0" tIns="0" bIns="0" anchor="ctr">
            <a:normAutofit/>
          </a:bodyPr>
          <a:lstStyle/>
          <a:p>
            <a:pPr algn="l">
              <a:spcBef>
                <a:spcPts val="0"/>
              </a:spcBef>
              <a:spcAft>
                <a:spcPts val="0"/>
              </a:spcAft>
            </a:pPr>
            <a:r>
              <a:rPr sz="2200" b="0">
                <a:solidFill>
                  <a:srgbClr val="002FA7"/>
                </a:solidFill>
                <a:latin typeface="Arial"/>
              </a:rPr>
              <a:t>Grounded response</a:t>
            </a:r>
          </a:p>
          <a:p>
            <a:pPr algn="l">
              <a:spcBef>
                <a:spcPts val="0"/>
              </a:spcBef>
              <a:spcAft>
                <a:spcPts val="0"/>
              </a:spcAft>
            </a:pPr>
            <a:r>
              <a:rPr sz="2200" b="0">
                <a:solidFill>
                  <a:srgbClr val="002FA7"/>
                </a:solidFill>
                <a:latin typeface="Arial"/>
              </a:rPr>
              <a:t>or insufficient authority</a:t>
            </a:r>
          </a:p>
        </p:txBody>
      </p:sp>
      <p:pic>
        <p:nvPicPr>
          <p:cNvPr id="27" name="Picture 26" descr="deployment-demo.png"/>
          <p:cNvPicPr>
            <a:picLocks noChangeAspect="1"/>
          </p:cNvPicPr>
          <p:nvPr/>
        </p:nvPicPr>
        <p:blipFill>
          <a:blip r:embed="rId4"/>
          <a:stretch>
            <a:fillRect/>
          </a:stretch>
        </p:blipFill>
        <p:spPr>
          <a:xfrm>
            <a:off x="7941991" y="4142232"/>
            <a:ext cx="3263552" cy="1609344"/>
          </a:xfrm>
          <a:prstGeom prst="rect">
            <a:avLst/>
          </a:prstGeom>
        </p:spPr>
      </p:pic>
      <p:sp>
        <p:nvSpPr>
          <p:cNvPr id="28" name="TextBox 27"/>
          <p:cNvSpPr txBox="1"/>
          <p:nvPr/>
        </p:nvSpPr>
        <p:spPr>
          <a:xfrm>
            <a:off x="7626096" y="5797296"/>
            <a:ext cx="3895344" cy="201168"/>
          </a:xfrm>
          <a:prstGeom prst="rect">
            <a:avLst/>
          </a:prstGeom>
          <a:noFill/>
        </p:spPr>
        <p:txBody>
          <a:bodyPr wrap="square" lIns="0" rIns="0" tIns="0" bIns="0" anchor="ctr">
            <a:normAutofit/>
          </a:bodyPr>
          <a:lstStyle/>
          <a:p>
            <a:pPr algn="l">
              <a:spcBef>
                <a:spcPts val="0"/>
              </a:spcBef>
              <a:spcAft>
                <a:spcPts val="0"/>
              </a:spcAft>
            </a:pPr>
            <a:r>
              <a:rPr sz="1050" b="0">
                <a:solidFill>
                  <a:srgbClr val="737373"/>
                </a:solidFill>
                <a:latin typeface="Arial"/>
              </a:rPr>
              <a:t>Current VPS topology</a:t>
            </a:r>
          </a:p>
        </p:txBody>
      </p:sp>
      <p:sp>
        <p:nvSpPr>
          <p:cNvPr id="29" name="TextBox 28"/>
          <p:cNvSpPr txBox="1"/>
          <p:nvPr/>
        </p:nvSpPr>
        <p:spPr>
          <a:xfrm>
            <a:off x="566928" y="5998464"/>
            <a:ext cx="6885432" cy="246888"/>
          </a:xfrm>
          <a:prstGeom prst="rect">
            <a:avLst/>
          </a:prstGeom>
          <a:noFill/>
        </p:spPr>
        <p:txBody>
          <a:bodyPr wrap="square" lIns="0" rIns="0" tIns="0" bIns="0" anchor="ctr">
            <a:normAutofit/>
          </a:bodyPr>
          <a:lstStyle/>
          <a:p>
            <a:pPr algn="l">
              <a:spcBef>
                <a:spcPts val="0"/>
              </a:spcBef>
              <a:spcAft>
                <a:spcPts val="0"/>
              </a:spcAft>
            </a:pPr>
            <a:r>
              <a:rPr sz="1250" b="0">
                <a:solidFill>
                  <a:srgbClr val="737373"/>
                </a:solidFill>
                <a:latin typeface="Arial"/>
              </a:rPr>
              <a:t>Next version in progress: embeddings + query rewriting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The assistant can propose actions; the server and lawyer control them</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17 / 22</a:t>
            </a:r>
          </a:p>
        </p:txBody>
      </p:sp>
      <p:pic>
        <p:nvPicPr>
          <p:cNvPr id="9" name="Picture 8" descr="matter-agent-architecture-slide-crop.png"/>
          <p:cNvPicPr>
            <a:picLocks noChangeAspect="1"/>
          </p:cNvPicPr>
          <p:nvPr/>
        </p:nvPicPr>
        <p:blipFill>
          <a:blip r:embed="rId4"/>
          <a:stretch>
            <a:fillRect/>
          </a:stretch>
        </p:blipFill>
        <p:spPr>
          <a:xfrm>
            <a:off x="557784" y="1997118"/>
            <a:ext cx="7406640" cy="3769018"/>
          </a:xfrm>
          <a:prstGeom prst="rect">
            <a:avLst/>
          </a:prstGeom>
        </p:spPr>
      </p:pic>
      <p:sp>
        <p:nvSpPr>
          <p:cNvPr id="10" name="TextBox 9"/>
          <p:cNvSpPr txBox="1"/>
          <p:nvPr/>
        </p:nvSpPr>
        <p:spPr>
          <a:xfrm>
            <a:off x="576072" y="6071616"/>
            <a:ext cx="6903720" cy="228600"/>
          </a:xfrm>
          <a:prstGeom prst="rect">
            <a:avLst/>
          </a:prstGeom>
          <a:noFill/>
        </p:spPr>
        <p:txBody>
          <a:bodyPr wrap="square" lIns="0" rIns="0" tIns="0" bIns="0" anchor="ctr">
            <a:normAutofit/>
          </a:bodyPr>
          <a:lstStyle/>
          <a:p>
            <a:pPr algn="l">
              <a:spcBef>
                <a:spcPts val="0"/>
              </a:spcBef>
              <a:spcAft>
                <a:spcPts val="0"/>
              </a:spcAft>
            </a:pPr>
            <a:r>
              <a:rPr sz="1000" b="1">
                <a:solidFill>
                  <a:srgbClr val="737373"/>
                </a:solidFill>
                <a:latin typeface="Arial"/>
              </a:rPr>
              <a:t>EARLIER DESIGN REFERENCE</a:t>
            </a:r>
          </a:p>
        </p:txBody>
      </p:sp>
      <p:sp>
        <p:nvSpPr>
          <p:cNvPr id="11" name="Rectangle 10"/>
          <p:cNvSpPr/>
          <p:nvPr/>
        </p:nvSpPr>
        <p:spPr>
          <a:xfrm>
            <a:off x="8165592" y="1682496"/>
            <a:ext cx="3410712" cy="694944"/>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819656"/>
            <a:ext cx="3090672" cy="438912"/>
          </a:xfrm>
          <a:prstGeom prst="rect">
            <a:avLst/>
          </a:prstGeom>
          <a:noFill/>
        </p:spPr>
        <p:txBody>
          <a:bodyPr wrap="square" lIns="0" rIns="0" tIns="0" bIns="0" anchor="ctr">
            <a:normAutofit/>
          </a:bodyPr>
          <a:lstStyle/>
          <a:p>
            <a:pPr algn="l">
              <a:spcBef>
                <a:spcPts val="0"/>
              </a:spcBef>
              <a:spcAft>
                <a:spcPts val="0"/>
              </a:spcAft>
            </a:pPr>
            <a:r>
              <a:rPr sz="1440" b="0">
                <a:solidFill>
                  <a:srgbClr val="0A0A0A"/>
                </a:solidFill>
                <a:latin typeface="Arial"/>
              </a:rPr>
              <a:t>Matter-scoped session</a:t>
            </a:r>
          </a:p>
        </p:txBody>
      </p:sp>
      <p:sp>
        <p:nvSpPr>
          <p:cNvPr id="13" name="Rectangle 12"/>
          <p:cNvSpPr/>
          <p:nvPr/>
        </p:nvSpPr>
        <p:spPr>
          <a:xfrm>
            <a:off x="8165592" y="2542032"/>
            <a:ext cx="3410712" cy="694944"/>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679191"/>
            <a:ext cx="3090672" cy="438912"/>
          </a:xfrm>
          <a:prstGeom prst="rect">
            <a:avLst/>
          </a:prstGeom>
          <a:noFill/>
        </p:spPr>
        <p:txBody>
          <a:bodyPr wrap="square" lIns="0" rIns="0" tIns="0" bIns="0" anchor="ctr">
            <a:normAutofit/>
          </a:bodyPr>
          <a:lstStyle/>
          <a:p>
            <a:pPr algn="l">
              <a:spcBef>
                <a:spcPts val="0"/>
              </a:spcBef>
              <a:spcAft>
                <a:spcPts val="0"/>
              </a:spcAft>
            </a:pPr>
            <a:r>
              <a:rPr sz="1440" b="0">
                <a:solidFill>
                  <a:srgbClr val="0A0A0A"/>
                </a:solidFill>
                <a:latin typeface="Arial"/>
              </a:rPr>
              <a:t>Allowlisted server tools</a:t>
            </a:r>
          </a:p>
        </p:txBody>
      </p:sp>
      <p:sp>
        <p:nvSpPr>
          <p:cNvPr id="15" name="Rectangle 14"/>
          <p:cNvSpPr/>
          <p:nvPr/>
        </p:nvSpPr>
        <p:spPr>
          <a:xfrm>
            <a:off x="8165592" y="3401568"/>
            <a:ext cx="3410712" cy="694944"/>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538728"/>
            <a:ext cx="3090672" cy="438912"/>
          </a:xfrm>
          <a:prstGeom prst="rect">
            <a:avLst/>
          </a:prstGeom>
          <a:noFill/>
        </p:spPr>
        <p:txBody>
          <a:bodyPr wrap="square" lIns="0" rIns="0" tIns="0" bIns="0" anchor="ctr">
            <a:normAutofit/>
          </a:bodyPr>
          <a:lstStyle/>
          <a:p>
            <a:pPr algn="l">
              <a:spcBef>
                <a:spcPts val="0"/>
              </a:spcBef>
              <a:spcAft>
                <a:spcPts val="0"/>
              </a:spcAft>
            </a:pPr>
            <a:r>
              <a:rPr sz="1440" b="1">
                <a:solidFill>
                  <a:srgbClr val="002FA7"/>
                </a:solidFill>
                <a:latin typeface="Arial"/>
              </a:rPr>
              <a:t>Action → explicit confirmation</a:t>
            </a:r>
          </a:p>
        </p:txBody>
      </p:sp>
      <p:sp>
        <p:nvSpPr>
          <p:cNvPr id="17" name="Rectangle 16"/>
          <p:cNvSpPr/>
          <p:nvPr/>
        </p:nvSpPr>
        <p:spPr>
          <a:xfrm>
            <a:off x="8165592" y="4261104"/>
            <a:ext cx="3410712" cy="694944"/>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4398264"/>
            <a:ext cx="3090672" cy="438912"/>
          </a:xfrm>
          <a:prstGeom prst="rect">
            <a:avLst/>
          </a:prstGeom>
          <a:noFill/>
        </p:spPr>
        <p:txBody>
          <a:bodyPr wrap="square" lIns="0" rIns="0" tIns="0" bIns="0" anchor="ctr">
            <a:normAutofit/>
          </a:bodyPr>
          <a:lstStyle/>
          <a:p>
            <a:pPr algn="l">
              <a:spcBef>
                <a:spcPts val="0"/>
              </a:spcBef>
              <a:spcAft>
                <a:spcPts val="0"/>
              </a:spcAft>
            </a:pPr>
            <a:r>
              <a:rPr sz="1440" b="1">
                <a:solidFill>
                  <a:srgbClr val="002FA7"/>
                </a:solidFill>
                <a:latin typeface="Arial"/>
              </a:rPr>
              <a:t>Legal question → abstention</a:t>
            </a:r>
          </a:p>
        </p:txBody>
      </p:sp>
      <p:sp>
        <p:nvSpPr>
          <p:cNvPr id="19" name="Rectangle 18"/>
          <p:cNvSpPr/>
          <p:nvPr/>
        </p:nvSpPr>
        <p:spPr>
          <a:xfrm>
            <a:off x="8165592" y="5120640"/>
            <a:ext cx="3410712" cy="694944"/>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5257800"/>
            <a:ext cx="3090672" cy="438912"/>
          </a:xfrm>
          <a:prstGeom prst="rect">
            <a:avLst/>
          </a:prstGeom>
          <a:noFill/>
        </p:spPr>
        <p:txBody>
          <a:bodyPr wrap="square" lIns="0" rIns="0" tIns="0" bIns="0" anchor="ctr">
            <a:normAutofit/>
          </a:bodyPr>
          <a:lstStyle/>
          <a:p>
            <a:pPr algn="l">
              <a:spcBef>
                <a:spcPts val="0"/>
              </a:spcBef>
              <a:spcAft>
                <a:spcPts val="0"/>
              </a:spcAft>
            </a:pPr>
            <a:r>
              <a:rPr sz="1440" b="0">
                <a:solidFill>
                  <a:srgbClr val="0A0A0A"/>
                </a:solidFill>
                <a:latin typeface="Arial"/>
              </a:rPr>
              <a:t>Cited research → separate 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The rule pack can stop an unsafe drafting path</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18 / 22</a:t>
            </a:r>
          </a:p>
        </p:txBody>
      </p:sp>
      <p:sp>
        <p:nvSpPr>
          <p:cNvPr id="9" name="Rectangle 8"/>
          <p:cNvSpPr/>
          <p:nvPr/>
        </p:nvSpPr>
        <p:spPr>
          <a:xfrm>
            <a:off x="585216" y="1901952"/>
            <a:ext cx="2594610" cy="152704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993392"/>
            <a:ext cx="2411729" cy="1344168"/>
          </a:xfrm>
          <a:prstGeom prst="rect">
            <a:avLst/>
          </a:prstGeom>
          <a:noFill/>
        </p:spPr>
        <p:txBody>
          <a:bodyPr wrap="square" lIns="0" rIns="0" tIns="0" bIns="0" anchor="ctr">
            <a:normAutofit/>
          </a:bodyPr>
          <a:lstStyle/>
          <a:p>
            <a:pPr algn="ctr">
              <a:spcBef>
                <a:spcPts val="0"/>
              </a:spcBef>
              <a:spcAft>
                <a:spcPts val="0"/>
              </a:spcAft>
            </a:pPr>
            <a:r>
              <a:rPr sz="1600" b="1">
                <a:solidFill>
                  <a:srgbClr val="FFFFFF"/>
                </a:solidFill>
                <a:latin typeface="Arial"/>
              </a:rPr>
              <a:t>Versioned RTA</a:t>
            </a:r>
          </a:p>
          <a:p>
            <a:pPr algn="ctr">
              <a:spcBef>
                <a:spcPts val="0"/>
              </a:spcBef>
              <a:spcAft>
                <a:spcPts val="0"/>
              </a:spcAft>
            </a:pPr>
            <a:r>
              <a:rPr sz="1600" b="1">
                <a:solidFill>
                  <a:srgbClr val="FFFFFF"/>
                </a:solidFill>
                <a:latin typeface="Arial"/>
              </a:rPr>
              <a:t>rule pack</a:t>
            </a:r>
          </a:p>
        </p:txBody>
      </p:sp>
      <p:sp>
        <p:nvSpPr>
          <p:cNvPr id="11" name="TextBox 10"/>
          <p:cNvSpPr txBox="1"/>
          <p:nvPr/>
        </p:nvSpPr>
        <p:spPr>
          <a:xfrm>
            <a:off x="3179826" y="2528316"/>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2" name="Rectangle 11"/>
          <p:cNvSpPr/>
          <p:nvPr/>
        </p:nvSpPr>
        <p:spPr>
          <a:xfrm>
            <a:off x="3390138" y="1901952"/>
            <a:ext cx="2594610" cy="152704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1578" y="1993392"/>
            <a:ext cx="2411729" cy="1344168"/>
          </a:xfrm>
          <a:prstGeom prst="rect">
            <a:avLst/>
          </a:prstGeom>
          <a:noFill/>
        </p:spPr>
        <p:txBody>
          <a:bodyPr wrap="square" lIns="0" rIns="0" tIns="0" bIns="0" anchor="ctr">
            <a:normAutofit/>
          </a:bodyPr>
          <a:lstStyle/>
          <a:p>
            <a:pPr algn="ctr">
              <a:spcBef>
                <a:spcPts val="0"/>
              </a:spcBef>
              <a:spcAft>
                <a:spcPts val="0"/>
              </a:spcAft>
            </a:pPr>
            <a:r>
              <a:rPr sz="1600" b="0">
                <a:solidFill>
                  <a:srgbClr val="0A0A0A"/>
                </a:solidFill>
                <a:latin typeface="Arial"/>
              </a:rPr>
              <a:t>Checklist +</a:t>
            </a:r>
          </a:p>
          <a:p>
            <a:pPr algn="ctr">
              <a:spcBef>
                <a:spcPts val="0"/>
              </a:spcBef>
              <a:spcAft>
                <a:spcPts val="0"/>
              </a:spcAft>
            </a:pPr>
            <a:r>
              <a:rPr sz="1600" b="0">
                <a:solidFill>
                  <a:srgbClr val="0A0A0A"/>
                </a:solidFill>
                <a:latin typeface="Arial"/>
              </a:rPr>
              <a:t>findings</a:t>
            </a:r>
          </a:p>
        </p:txBody>
      </p:sp>
      <p:sp>
        <p:nvSpPr>
          <p:cNvPr id="14" name="TextBox 13"/>
          <p:cNvSpPr txBox="1"/>
          <p:nvPr/>
        </p:nvSpPr>
        <p:spPr>
          <a:xfrm>
            <a:off x="5984748" y="2528316"/>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5" name="Rectangle 14"/>
          <p:cNvSpPr/>
          <p:nvPr/>
        </p:nvSpPr>
        <p:spPr>
          <a:xfrm>
            <a:off x="6195059" y="1901952"/>
            <a:ext cx="2594610" cy="152704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6499" y="1993392"/>
            <a:ext cx="2411729" cy="1344168"/>
          </a:xfrm>
          <a:prstGeom prst="rect">
            <a:avLst/>
          </a:prstGeom>
          <a:noFill/>
        </p:spPr>
        <p:txBody>
          <a:bodyPr wrap="square" lIns="0" rIns="0" tIns="0" bIns="0" anchor="ctr">
            <a:normAutofit/>
          </a:bodyPr>
          <a:lstStyle/>
          <a:p>
            <a:pPr algn="ctr">
              <a:spcBef>
                <a:spcPts val="0"/>
              </a:spcBef>
              <a:spcAft>
                <a:spcPts val="0"/>
              </a:spcAft>
            </a:pPr>
            <a:r>
              <a:rPr sz="1600" b="0">
                <a:solidFill>
                  <a:srgbClr val="0A0A0A"/>
                </a:solidFill>
                <a:latin typeface="Arial"/>
              </a:rPr>
              <a:t>Verified facts +</a:t>
            </a:r>
          </a:p>
          <a:p>
            <a:pPr algn="ctr">
              <a:spcBef>
                <a:spcPts val="0"/>
              </a:spcBef>
              <a:spcAft>
                <a:spcPts val="0"/>
              </a:spcAft>
            </a:pPr>
            <a:r>
              <a:rPr sz="1600" b="0">
                <a:solidFill>
                  <a:srgbClr val="0A0A0A"/>
                </a:solidFill>
                <a:latin typeface="Arial"/>
              </a:rPr>
              <a:t>form bindings</a:t>
            </a:r>
          </a:p>
        </p:txBody>
      </p:sp>
      <p:sp>
        <p:nvSpPr>
          <p:cNvPr id="17" name="TextBox 16"/>
          <p:cNvSpPr txBox="1"/>
          <p:nvPr/>
        </p:nvSpPr>
        <p:spPr>
          <a:xfrm>
            <a:off x="8789669" y="2528316"/>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8" name="Rectangle 17"/>
          <p:cNvSpPr/>
          <p:nvPr/>
        </p:nvSpPr>
        <p:spPr>
          <a:xfrm>
            <a:off x="8999982" y="1901952"/>
            <a:ext cx="2594610" cy="152704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1422" y="1993392"/>
            <a:ext cx="2411729" cy="1344168"/>
          </a:xfrm>
          <a:prstGeom prst="rect">
            <a:avLst/>
          </a:prstGeom>
          <a:noFill/>
        </p:spPr>
        <p:txBody>
          <a:bodyPr wrap="square" lIns="0" rIns="0" tIns="0" bIns="0" anchor="ctr">
            <a:normAutofit/>
          </a:bodyPr>
          <a:lstStyle/>
          <a:p>
            <a:pPr algn="ctr">
              <a:spcBef>
                <a:spcPts val="0"/>
              </a:spcBef>
              <a:spcAft>
                <a:spcPts val="0"/>
              </a:spcAft>
            </a:pPr>
            <a:r>
              <a:rPr sz="1600" b="1">
                <a:solidFill>
                  <a:srgbClr val="FFFFFF"/>
                </a:solidFill>
                <a:latin typeface="Arial"/>
              </a:rPr>
              <a:t>Preflight +</a:t>
            </a:r>
          </a:p>
          <a:p>
            <a:pPr algn="ctr">
              <a:spcBef>
                <a:spcPts val="0"/>
              </a:spcBef>
              <a:spcAft>
                <a:spcPts val="0"/>
              </a:spcAft>
            </a:pPr>
            <a:r>
              <a:rPr sz="1600" b="1">
                <a:solidFill>
                  <a:srgbClr val="FFFFFF"/>
                </a:solidFill>
                <a:latin typeface="Arial"/>
              </a:rPr>
              <a:t>lawyer approval</a:t>
            </a:r>
          </a:p>
        </p:txBody>
      </p:sp>
      <p:sp>
        <p:nvSpPr>
          <p:cNvPr id="20" name="Rectangle 19"/>
          <p:cNvSpPr/>
          <p:nvPr/>
        </p:nvSpPr>
        <p:spPr>
          <a:xfrm>
            <a:off x="3291840" y="4041648"/>
            <a:ext cx="5614416" cy="1161288"/>
          </a:xfrm>
          <a:prstGeom prst="rect">
            <a:avLst/>
          </a:prstGeom>
          <a:solidFill>
            <a:srgbClr val="F7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9584" y="4379976"/>
            <a:ext cx="5129784" cy="521207"/>
          </a:xfrm>
          <a:prstGeom prst="rect">
            <a:avLst/>
          </a:prstGeom>
          <a:noFill/>
        </p:spPr>
        <p:txBody>
          <a:bodyPr wrap="square" lIns="0" rIns="0" tIns="0" bIns="0" anchor="ctr">
            <a:normAutofit/>
          </a:bodyPr>
          <a:lstStyle/>
          <a:p>
            <a:pPr algn="ctr">
              <a:spcBef>
                <a:spcPts val="0"/>
              </a:spcBef>
              <a:spcAft>
                <a:spcPts val="0"/>
              </a:spcAft>
            </a:pPr>
            <a:r>
              <a:rPr sz="2000" b="1">
                <a:solidFill>
                  <a:srgbClr val="A3292A"/>
                </a:solidFill>
                <a:latin typeface="Arial"/>
              </a:rPr>
              <a:t>UNRESOLVED STATUTORY BLOCKER  →  STOP</a:t>
            </a:r>
          </a:p>
        </p:txBody>
      </p:sp>
      <p:sp>
        <p:nvSpPr>
          <p:cNvPr id="22" name="TextBox 21"/>
          <p:cNvSpPr txBox="1"/>
          <p:nvPr/>
        </p:nvSpPr>
        <p:spPr>
          <a:xfrm>
            <a:off x="2066543" y="5596128"/>
            <a:ext cx="8065008" cy="356616"/>
          </a:xfrm>
          <a:prstGeom prst="rect">
            <a:avLst/>
          </a:prstGeom>
          <a:noFill/>
        </p:spPr>
        <p:txBody>
          <a:bodyPr wrap="square" lIns="0" rIns="0" tIns="0" bIns="0" anchor="ctr">
            <a:normAutofit/>
          </a:bodyPr>
          <a:lstStyle/>
          <a:p>
            <a:pPr algn="ctr">
              <a:spcBef>
                <a:spcPts val="0"/>
              </a:spcBef>
              <a:spcAft>
                <a:spcPts val="0"/>
              </a:spcAft>
            </a:pPr>
            <a:r>
              <a:rPr sz="1800" b="0">
                <a:solidFill>
                  <a:srgbClr val="0A0A0A"/>
                </a:solidFill>
                <a:latin typeface="Arial"/>
              </a:rPr>
              <a:t>An unapproved draft cannot be exported as approved.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Inspect a synthetic RTA matter from evidence to refusal gate</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19 / 22</a:t>
            </a:r>
          </a:p>
        </p:txBody>
      </p:sp>
      <p:sp>
        <p:nvSpPr>
          <p:cNvPr id="9" name="Rectangle 8"/>
          <p:cNvSpPr/>
          <p:nvPr/>
        </p:nvSpPr>
        <p:spPr>
          <a:xfrm>
            <a:off x="576072" y="1682496"/>
            <a:ext cx="9079992" cy="43891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709928"/>
            <a:ext cx="8897112" cy="384048"/>
          </a:xfrm>
          <a:prstGeom prst="rect">
            <a:avLst/>
          </a:prstGeom>
          <a:noFill/>
        </p:spPr>
        <p:txBody>
          <a:bodyPr wrap="square" lIns="0" rIns="0" tIns="0" bIns="0" anchor="ctr">
            <a:normAutofit/>
          </a:bodyPr>
          <a:lstStyle/>
          <a:p>
            <a:pPr algn="l">
              <a:spcBef>
                <a:spcPts val="0"/>
              </a:spcBef>
              <a:spcAft>
                <a:spcPts val="0"/>
              </a:spcAft>
            </a:pPr>
            <a:r>
              <a:rPr sz="1700" b="1">
                <a:solidFill>
                  <a:srgbClr val="FFFFFF"/>
                </a:solidFill>
                <a:latin typeface="Arial"/>
              </a:rPr>
              <a:t>LIVE PRODUCT DEMONSTRATION  ·  SYNTHETIC RTA MATTER</a:t>
            </a:r>
          </a:p>
        </p:txBody>
      </p:sp>
      <p:sp>
        <p:nvSpPr>
          <p:cNvPr id="11" name="Rectangle 10"/>
          <p:cNvSpPr/>
          <p:nvPr/>
        </p:nvSpPr>
        <p:spPr>
          <a:xfrm>
            <a:off x="576072" y="2670048"/>
            <a:ext cx="1395113" cy="134416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2761488"/>
            <a:ext cx="1212233" cy="1161288"/>
          </a:xfrm>
          <a:prstGeom prst="rect">
            <a:avLst/>
          </a:prstGeom>
          <a:noFill/>
        </p:spPr>
        <p:txBody>
          <a:bodyPr wrap="square" lIns="0" rIns="0" tIns="0" bIns="0" anchor="ctr">
            <a:normAutofit/>
          </a:bodyPr>
          <a:lstStyle/>
          <a:p>
            <a:pPr algn="ctr">
              <a:spcBef>
                <a:spcPts val="0"/>
              </a:spcBef>
              <a:spcAft>
                <a:spcPts val="0"/>
              </a:spcAft>
            </a:pPr>
            <a:r>
              <a:rPr sz="1240" b="1">
                <a:solidFill>
                  <a:srgbClr val="FFFFFF"/>
                </a:solidFill>
                <a:latin typeface="Arial"/>
              </a:rPr>
              <a:t>Matter</a:t>
            </a:r>
          </a:p>
        </p:txBody>
      </p:sp>
      <p:sp>
        <p:nvSpPr>
          <p:cNvPr id="13" name="TextBox 12"/>
          <p:cNvSpPr txBox="1"/>
          <p:nvPr/>
        </p:nvSpPr>
        <p:spPr>
          <a:xfrm>
            <a:off x="1971185" y="320497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4" name="Rectangle 13"/>
          <p:cNvSpPr/>
          <p:nvPr/>
        </p:nvSpPr>
        <p:spPr>
          <a:xfrm>
            <a:off x="218149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72937" y="2761488"/>
            <a:ext cx="1212233" cy="1161288"/>
          </a:xfrm>
          <a:prstGeom prst="rect">
            <a:avLst/>
          </a:prstGeom>
          <a:noFill/>
        </p:spPr>
        <p:txBody>
          <a:bodyPr wrap="square" lIns="0" rIns="0" tIns="0" bIns="0" anchor="ctr">
            <a:normAutofit/>
          </a:bodyPr>
          <a:lstStyle/>
          <a:p>
            <a:pPr algn="ctr">
              <a:spcBef>
                <a:spcPts val="0"/>
              </a:spcBef>
              <a:spcAft>
                <a:spcPts val="0"/>
              </a:spcAft>
            </a:pPr>
            <a:r>
              <a:rPr sz="1240" b="0">
                <a:solidFill>
                  <a:srgbClr val="0A0A0A"/>
                </a:solidFill>
                <a:latin typeface="Arial"/>
              </a:rPr>
              <a:t>Documents</a:t>
            </a:r>
          </a:p>
        </p:txBody>
      </p:sp>
      <p:sp>
        <p:nvSpPr>
          <p:cNvPr id="16" name="TextBox 15"/>
          <p:cNvSpPr txBox="1"/>
          <p:nvPr/>
        </p:nvSpPr>
        <p:spPr>
          <a:xfrm>
            <a:off x="3576610" y="320497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17" name="Rectangle 16"/>
          <p:cNvSpPr/>
          <p:nvPr/>
        </p:nvSpPr>
        <p:spPr>
          <a:xfrm>
            <a:off x="3786922" y="2670048"/>
            <a:ext cx="1395113" cy="134416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78362" y="2761488"/>
            <a:ext cx="1212233" cy="1161288"/>
          </a:xfrm>
          <a:prstGeom prst="rect">
            <a:avLst/>
          </a:prstGeom>
          <a:noFill/>
        </p:spPr>
        <p:txBody>
          <a:bodyPr wrap="square" lIns="0" rIns="0" tIns="0" bIns="0" anchor="ctr">
            <a:normAutofit/>
          </a:bodyPr>
          <a:lstStyle/>
          <a:p>
            <a:pPr algn="ctr">
              <a:spcBef>
                <a:spcPts val="0"/>
              </a:spcBef>
              <a:spcAft>
                <a:spcPts val="0"/>
              </a:spcAft>
            </a:pPr>
            <a:r>
              <a:rPr sz="1240" b="1">
                <a:solidFill>
                  <a:srgbClr val="FFFFFF"/>
                </a:solidFill>
                <a:latin typeface="Arial"/>
              </a:rPr>
              <a:t>Candidate review</a:t>
            </a:r>
          </a:p>
        </p:txBody>
      </p:sp>
      <p:sp>
        <p:nvSpPr>
          <p:cNvPr id="19" name="TextBox 18"/>
          <p:cNvSpPr txBox="1"/>
          <p:nvPr/>
        </p:nvSpPr>
        <p:spPr>
          <a:xfrm>
            <a:off x="5182035" y="320497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0" name="Rectangle 19"/>
          <p:cNvSpPr/>
          <p:nvPr/>
        </p:nvSpPr>
        <p:spPr>
          <a:xfrm>
            <a:off x="539234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3787" y="2761488"/>
            <a:ext cx="1212233" cy="1161288"/>
          </a:xfrm>
          <a:prstGeom prst="rect">
            <a:avLst/>
          </a:prstGeom>
          <a:noFill/>
        </p:spPr>
        <p:txBody>
          <a:bodyPr wrap="square" lIns="0" rIns="0" tIns="0" bIns="0" anchor="ctr">
            <a:normAutofit/>
          </a:bodyPr>
          <a:lstStyle/>
          <a:p>
            <a:pPr algn="ctr">
              <a:spcBef>
                <a:spcPts val="0"/>
              </a:spcBef>
              <a:spcAft>
                <a:spcPts val="0"/>
              </a:spcAft>
            </a:pPr>
            <a:r>
              <a:rPr sz="1240" b="0">
                <a:solidFill>
                  <a:srgbClr val="0A0A0A"/>
                </a:solidFill>
                <a:latin typeface="Arial"/>
              </a:rPr>
              <a:t>Checks</a:t>
            </a:r>
          </a:p>
        </p:txBody>
      </p:sp>
      <p:sp>
        <p:nvSpPr>
          <p:cNvPr id="22" name="TextBox 21"/>
          <p:cNvSpPr txBox="1"/>
          <p:nvPr/>
        </p:nvSpPr>
        <p:spPr>
          <a:xfrm>
            <a:off x="6787460" y="320497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3" name="Rectangle 22"/>
          <p:cNvSpPr/>
          <p:nvPr/>
        </p:nvSpPr>
        <p:spPr>
          <a:xfrm>
            <a:off x="6997772"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89212" y="2761488"/>
            <a:ext cx="1212233" cy="1161288"/>
          </a:xfrm>
          <a:prstGeom prst="rect">
            <a:avLst/>
          </a:prstGeom>
          <a:noFill/>
        </p:spPr>
        <p:txBody>
          <a:bodyPr wrap="square" lIns="0" rIns="0" tIns="0" bIns="0" anchor="ctr">
            <a:normAutofit/>
          </a:bodyPr>
          <a:lstStyle/>
          <a:p>
            <a:pPr algn="ctr">
              <a:spcBef>
                <a:spcPts val="0"/>
              </a:spcBef>
              <a:spcAft>
                <a:spcPts val="0"/>
              </a:spcAft>
            </a:pPr>
            <a:r>
              <a:rPr sz="1240" b="0">
                <a:solidFill>
                  <a:srgbClr val="0A0A0A"/>
                </a:solidFill>
                <a:latin typeface="Arial"/>
              </a:rPr>
              <a:t>Matter chat</a:t>
            </a:r>
          </a:p>
        </p:txBody>
      </p:sp>
      <p:sp>
        <p:nvSpPr>
          <p:cNvPr id="25" name="TextBox 24"/>
          <p:cNvSpPr txBox="1"/>
          <p:nvPr/>
        </p:nvSpPr>
        <p:spPr>
          <a:xfrm>
            <a:off x="8392885" y="320497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6" name="Rectangle 25"/>
          <p:cNvSpPr/>
          <p:nvPr/>
        </p:nvSpPr>
        <p:spPr>
          <a:xfrm>
            <a:off x="860319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94637" y="2761488"/>
            <a:ext cx="1212233" cy="1161288"/>
          </a:xfrm>
          <a:prstGeom prst="rect">
            <a:avLst/>
          </a:prstGeom>
          <a:noFill/>
        </p:spPr>
        <p:txBody>
          <a:bodyPr wrap="square" lIns="0" rIns="0" tIns="0" bIns="0" anchor="ctr">
            <a:normAutofit/>
          </a:bodyPr>
          <a:lstStyle/>
          <a:p>
            <a:pPr algn="ctr">
              <a:spcBef>
                <a:spcPts val="0"/>
              </a:spcBef>
              <a:spcAft>
                <a:spcPts val="0"/>
              </a:spcAft>
            </a:pPr>
            <a:r>
              <a:rPr sz="1240" b="0">
                <a:solidFill>
                  <a:srgbClr val="0A0A0A"/>
                </a:solidFill>
                <a:latin typeface="Arial"/>
              </a:rPr>
              <a:t>Cited research</a:t>
            </a:r>
          </a:p>
        </p:txBody>
      </p:sp>
      <p:sp>
        <p:nvSpPr>
          <p:cNvPr id="28" name="TextBox 27"/>
          <p:cNvSpPr txBox="1"/>
          <p:nvPr/>
        </p:nvSpPr>
        <p:spPr>
          <a:xfrm>
            <a:off x="9998310" y="3204972"/>
            <a:ext cx="210312" cy="274320"/>
          </a:xfrm>
          <a:prstGeom prst="rect">
            <a:avLst/>
          </a:prstGeom>
          <a:noFill/>
        </p:spPr>
        <p:txBody>
          <a:bodyPr wrap="square" lIns="0" rIns="0" tIns="0" bIns="0" anchor="ctr">
            <a:normAutofit/>
          </a:bodyPr>
          <a:lstStyle/>
          <a:p>
            <a:pPr algn="ctr">
              <a:spcBef>
                <a:spcPts val="0"/>
              </a:spcBef>
              <a:spcAft>
                <a:spcPts val="0"/>
              </a:spcAft>
            </a:pPr>
            <a:r>
              <a:rPr sz="1500" b="0">
                <a:solidFill>
                  <a:srgbClr val="002FA7"/>
                </a:solidFill>
                <a:latin typeface="Arial"/>
              </a:rPr>
              <a:t>→</a:t>
            </a:r>
          </a:p>
        </p:txBody>
      </p:sp>
      <p:sp>
        <p:nvSpPr>
          <p:cNvPr id="29" name="Rectangle 28"/>
          <p:cNvSpPr/>
          <p:nvPr/>
        </p:nvSpPr>
        <p:spPr>
          <a:xfrm>
            <a:off x="10208622" y="2670048"/>
            <a:ext cx="1395113" cy="1344168"/>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00062" y="2761488"/>
            <a:ext cx="1212233" cy="1161288"/>
          </a:xfrm>
          <a:prstGeom prst="rect">
            <a:avLst/>
          </a:prstGeom>
          <a:noFill/>
        </p:spPr>
        <p:txBody>
          <a:bodyPr wrap="square" lIns="0" rIns="0" tIns="0" bIns="0" anchor="ctr">
            <a:normAutofit/>
          </a:bodyPr>
          <a:lstStyle/>
          <a:p>
            <a:pPr algn="ctr">
              <a:spcBef>
                <a:spcPts val="0"/>
              </a:spcBef>
              <a:spcAft>
                <a:spcPts val="0"/>
              </a:spcAft>
            </a:pPr>
            <a:r>
              <a:rPr sz="1240" b="1">
                <a:solidFill>
                  <a:srgbClr val="FFFFFF"/>
                </a:solidFill>
                <a:latin typeface="Arial"/>
              </a:rPr>
              <a:t>Draft / preflight</a:t>
            </a:r>
          </a:p>
        </p:txBody>
      </p:sp>
      <p:sp>
        <p:nvSpPr>
          <p:cNvPr id="31" name="Rectangle 30"/>
          <p:cNvSpPr/>
          <p:nvPr/>
        </p:nvSpPr>
        <p:spPr>
          <a:xfrm>
            <a:off x="576072" y="4562856"/>
            <a:ext cx="7351775" cy="1261872"/>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837176"/>
            <a:ext cx="6876288" cy="603504"/>
          </a:xfrm>
          <a:prstGeom prst="rect">
            <a:avLst/>
          </a:prstGeom>
          <a:noFill/>
        </p:spPr>
        <p:txBody>
          <a:bodyPr wrap="square" lIns="0" rIns="0" tIns="0" bIns="0" anchor="ctr">
            <a:normAutofit/>
          </a:bodyPr>
          <a:lstStyle/>
          <a:p>
            <a:pPr algn="l">
              <a:spcBef>
                <a:spcPts val="0"/>
              </a:spcBef>
              <a:spcAft>
                <a:spcPts val="0"/>
              </a:spcAft>
            </a:pPr>
            <a:r>
              <a:rPr sz="2400" b="0">
                <a:solidFill>
                  <a:srgbClr val="002FA7"/>
                </a:solidFill>
                <a:latin typeface="Arial"/>
              </a:rPr>
              <a:t>Show the refusal gate and the evidence trail.</a:t>
            </a:r>
          </a:p>
        </p:txBody>
      </p:sp>
      <p:sp>
        <p:nvSpPr>
          <p:cNvPr id="33" name="Rectangle 32"/>
          <p:cNvSpPr/>
          <p:nvPr/>
        </p:nvSpPr>
        <p:spPr>
          <a:xfrm>
            <a:off x="8193024" y="4562856"/>
            <a:ext cx="3410712" cy="126187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5048" y="4718304"/>
            <a:ext cx="2999232" cy="201168"/>
          </a:xfrm>
          <a:prstGeom prst="rect">
            <a:avLst/>
          </a:prstGeom>
          <a:noFill/>
        </p:spPr>
        <p:txBody>
          <a:bodyPr wrap="square" lIns="0" rIns="0" tIns="0" bIns="0" anchor="ctr">
            <a:normAutofit/>
          </a:bodyPr>
          <a:lstStyle/>
          <a:p>
            <a:pPr algn="l">
              <a:spcBef>
                <a:spcPts val="0"/>
              </a:spcBef>
              <a:spcAft>
                <a:spcPts val="0"/>
              </a:spcAft>
            </a:pPr>
            <a:r>
              <a:rPr sz="1000" b="1">
                <a:solidFill>
                  <a:srgbClr val="002FA7"/>
                </a:solidFill>
                <a:latin typeface="Arial"/>
              </a:rPr>
              <a:t>HOSTED STATUS</a:t>
            </a:r>
          </a:p>
        </p:txBody>
      </p:sp>
      <p:sp>
        <p:nvSpPr>
          <p:cNvPr id="35" name="TextBox 34"/>
          <p:cNvSpPr txBox="1"/>
          <p:nvPr/>
        </p:nvSpPr>
        <p:spPr>
          <a:xfrm>
            <a:off x="8385048" y="5065776"/>
            <a:ext cx="2971800" cy="448056"/>
          </a:xfrm>
          <a:prstGeom prst="rect">
            <a:avLst/>
          </a:prstGeom>
          <a:noFill/>
        </p:spPr>
        <p:txBody>
          <a:bodyPr wrap="square" lIns="0" rIns="0" tIns="0" bIns="0" anchor="ctr">
            <a:normAutofit/>
          </a:bodyPr>
          <a:lstStyle/>
          <a:p>
            <a:pPr algn="l">
              <a:spcBef>
                <a:spcPts val="0"/>
              </a:spcBef>
              <a:spcAft>
                <a:spcPts val="0"/>
              </a:spcAft>
            </a:pPr>
            <a:r>
              <a:rPr sz="1600" b="0">
                <a:solidFill>
                  <a:srgbClr val="0A0A0A"/>
                </a:solidFill>
                <a:latin typeface="Arial"/>
              </a:rPr>
              <a:t>Stub extraction · BM25 search</a:t>
            </a:r>
          </a:p>
        </p:txBody>
      </p:sp>
      <p:sp>
        <p:nvSpPr>
          <p:cNvPr id="36" name="TextBox 35"/>
          <p:cNvSpPr txBox="1"/>
          <p:nvPr/>
        </p:nvSpPr>
        <p:spPr>
          <a:xfrm>
            <a:off x="576072" y="6071616"/>
            <a:ext cx="9509760" cy="219456"/>
          </a:xfrm>
          <a:prstGeom prst="rect">
            <a:avLst/>
          </a:prstGeom>
          <a:noFill/>
        </p:spPr>
        <p:txBody>
          <a:bodyPr wrap="square" lIns="0" rIns="0" tIns="0" bIns="0" anchor="ctr">
            <a:normAutofit/>
          </a:bodyPr>
          <a:lstStyle/>
          <a:p>
            <a:pPr algn="l">
              <a:spcBef>
                <a:spcPts val="0"/>
              </a:spcBef>
              <a:spcAft>
                <a:spcPts val="0"/>
              </a:spcAft>
            </a:pPr>
            <a:r>
              <a:rPr sz="1100" b="0">
                <a:solidFill>
                  <a:srgbClr val="737373"/>
                </a:solidFill>
                <a:latin typeface="Arial"/>
              </a:rPr>
              <a:t>Switch to the rehearsed live app or verified recording.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Five test tracks show what Draftly has measured</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20 / 22</a:t>
            </a:r>
          </a:p>
        </p:txBody>
      </p:sp>
      <p:sp>
        <p:nvSpPr>
          <p:cNvPr id="9" name="Rectangle 8"/>
          <p:cNvSpPr/>
          <p:nvPr/>
        </p:nvSpPr>
        <p:spPr>
          <a:xfrm>
            <a:off x="566928" y="1664208"/>
            <a:ext cx="1101852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783080"/>
            <a:ext cx="1920240" cy="402336"/>
          </a:xfrm>
          <a:prstGeom prst="rect">
            <a:avLst/>
          </a:prstGeom>
          <a:noFill/>
        </p:spPr>
        <p:txBody>
          <a:bodyPr wrap="square" lIns="0" rIns="0" tIns="0" bIns="0" anchor="ctr">
            <a:normAutofit/>
          </a:bodyPr>
          <a:lstStyle/>
          <a:p>
            <a:pPr algn="l">
              <a:spcBef>
                <a:spcPts val="0"/>
              </a:spcBef>
              <a:spcAft>
                <a:spcPts val="0"/>
              </a:spcAft>
            </a:pPr>
            <a:r>
              <a:rPr sz="1250" b="1">
                <a:solidFill>
                  <a:srgbClr val="002FA7"/>
                </a:solidFill>
                <a:latin typeface="Arial"/>
              </a:rPr>
              <a:t>STATUTORY IR</a:t>
            </a:r>
          </a:p>
        </p:txBody>
      </p:sp>
      <p:sp>
        <p:nvSpPr>
          <p:cNvPr id="11" name="TextBox 10"/>
          <p:cNvSpPr txBox="1"/>
          <p:nvPr/>
        </p:nvSpPr>
        <p:spPr>
          <a:xfrm>
            <a:off x="2761488" y="1783080"/>
            <a:ext cx="5020056" cy="402336"/>
          </a:xfrm>
          <a:prstGeom prst="rect">
            <a:avLst/>
          </a:prstGeom>
          <a:noFill/>
        </p:spPr>
        <p:txBody>
          <a:bodyPr wrap="square" lIns="0" rIns="0" tIns="0" bIns="0" anchor="ctr">
            <a:normAutofit/>
          </a:bodyPr>
          <a:lstStyle/>
          <a:p>
            <a:pPr algn="l">
              <a:spcBef>
                <a:spcPts val="0"/>
              </a:spcBef>
              <a:spcAft>
                <a:spcPts val="0"/>
              </a:spcAft>
            </a:pPr>
            <a:r>
              <a:rPr sz="1520" b="0">
                <a:solidFill>
                  <a:srgbClr val="0A0A0A"/>
                </a:solidFill>
                <a:latin typeface="Arial"/>
              </a:rPr>
              <a:t>7 systems · 40 questions / 32 matters</a:t>
            </a:r>
          </a:p>
        </p:txBody>
      </p:sp>
      <p:sp>
        <p:nvSpPr>
          <p:cNvPr id="12" name="TextBox 11"/>
          <p:cNvSpPr txBox="1"/>
          <p:nvPr/>
        </p:nvSpPr>
        <p:spPr>
          <a:xfrm>
            <a:off x="7909560" y="1783080"/>
            <a:ext cx="3493008" cy="402336"/>
          </a:xfrm>
          <a:prstGeom prst="rect">
            <a:avLst/>
          </a:prstGeom>
          <a:noFill/>
        </p:spPr>
        <p:txBody>
          <a:bodyPr wrap="square" lIns="0" rIns="0" tIns="0" bIns="0" anchor="ctr">
            <a:normAutofit/>
          </a:bodyPr>
          <a:lstStyle/>
          <a:p>
            <a:pPr algn="l">
              <a:spcBef>
                <a:spcPts val="0"/>
              </a:spcBef>
              <a:spcAft>
                <a:spcPts val="0"/>
              </a:spcAft>
            </a:pPr>
            <a:r>
              <a:rPr sz="1280" b="0">
                <a:solidFill>
                  <a:srgbClr val="737373"/>
                </a:solidFill>
                <a:latin typeface="Arial"/>
              </a:rPr>
              <a:t>C@20 0.375 · provisional labels</a:t>
            </a:r>
          </a:p>
        </p:txBody>
      </p:sp>
      <p:sp>
        <p:nvSpPr>
          <p:cNvPr id="13" name="Rectangle 12"/>
          <p:cNvSpPr/>
          <p:nvPr/>
        </p:nvSpPr>
        <p:spPr>
          <a:xfrm>
            <a:off x="566928" y="2468880"/>
            <a:ext cx="11018520" cy="66751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2587752"/>
            <a:ext cx="1920240" cy="402336"/>
          </a:xfrm>
          <a:prstGeom prst="rect">
            <a:avLst/>
          </a:prstGeom>
          <a:noFill/>
        </p:spPr>
        <p:txBody>
          <a:bodyPr wrap="square" lIns="0" rIns="0" tIns="0" bIns="0" anchor="ctr">
            <a:normAutofit/>
          </a:bodyPr>
          <a:lstStyle/>
          <a:p>
            <a:pPr algn="l">
              <a:spcBef>
                <a:spcPts val="0"/>
              </a:spcBef>
              <a:spcAft>
                <a:spcPts val="0"/>
              </a:spcAft>
            </a:pPr>
            <a:r>
              <a:rPr sz="1250" b="1">
                <a:solidFill>
                  <a:srgbClr val="002FA7"/>
                </a:solidFill>
                <a:latin typeface="Arial"/>
              </a:rPr>
              <a:t>SIMILAR CASES</a:t>
            </a:r>
          </a:p>
        </p:txBody>
      </p:sp>
      <p:sp>
        <p:nvSpPr>
          <p:cNvPr id="15" name="TextBox 14"/>
          <p:cNvSpPr txBox="1"/>
          <p:nvPr/>
        </p:nvSpPr>
        <p:spPr>
          <a:xfrm>
            <a:off x="2761488" y="2587752"/>
            <a:ext cx="5020056" cy="402336"/>
          </a:xfrm>
          <a:prstGeom prst="rect">
            <a:avLst/>
          </a:prstGeom>
          <a:noFill/>
        </p:spPr>
        <p:txBody>
          <a:bodyPr wrap="square" lIns="0" rIns="0" tIns="0" bIns="0" anchor="ctr">
            <a:normAutofit/>
          </a:bodyPr>
          <a:lstStyle/>
          <a:p>
            <a:pPr algn="l">
              <a:spcBef>
                <a:spcPts val="0"/>
              </a:spcBef>
              <a:spcAft>
                <a:spcPts val="0"/>
              </a:spcAft>
            </a:pPr>
            <a:r>
              <a:rPr sz="1520" b="0">
                <a:solidFill>
                  <a:srgbClr val="0A0A0A"/>
                </a:solidFill>
                <a:latin typeface="Arial"/>
              </a:rPr>
              <a:t>20 queries · 14/20 → 10/20</a:t>
            </a:r>
          </a:p>
        </p:txBody>
      </p:sp>
      <p:sp>
        <p:nvSpPr>
          <p:cNvPr id="16" name="TextBox 15"/>
          <p:cNvSpPr txBox="1"/>
          <p:nvPr/>
        </p:nvSpPr>
        <p:spPr>
          <a:xfrm>
            <a:off x="7909560" y="2587752"/>
            <a:ext cx="3493008" cy="402336"/>
          </a:xfrm>
          <a:prstGeom prst="rect">
            <a:avLst/>
          </a:prstGeom>
          <a:noFill/>
        </p:spPr>
        <p:txBody>
          <a:bodyPr wrap="square" lIns="0" rIns="0" tIns="0" bIns="0" anchor="ctr">
            <a:normAutofit/>
          </a:bodyPr>
          <a:lstStyle/>
          <a:p>
            <a:pPr algn="l">
              <a:spcBef>
                <a:spcPts val="0"/>
              </a:spcBef>
              <a:spcAft>
                <a:spcPts val="0"/>
              </a:spcAft>
            </a:pPr>
            <a:r>
              <a:rPr sz="1280" b="0">
                <a:solidFill>
                  <a:srgbClr val="737373"/>
                </a:solidFill>
                <a:latin typeface="Arial"/>
              </a:rPr>
              <a:t>LLM judged · dense inactive</a:t>
            </a:r>
          </a:p>
        </p:txBody>
      </p:sp>
      <p:sp>
        <p:nvSpPr>
          <p:cNvPr id="17" name="Rectangle 16"/>
          <p:cNvSpPr/>
          <p:nvPr/>
        </p:nvSpPr>
        <p:spPr>
          <a:xfrm>
            <a:off x="566928" y="3273552"/>
            <a:ext cx="1101852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392424"/>
            <a:ext cx="1920240" cy="402336"/>
          </a:xfrm>
          <a:prstGeom prst="rect">
            <a:avLst/>
          </a:prstGeom>
          <a:noFill/>
        </p:spPr>
        <p:txBody>
          <a:bodyPr wrap="square" lIns="0" rIns="0" tIns="0" bIns="0" anchor="ctr">
            <a:normAutofit/>
          </a:bodyPr>
          <a:lstStyle/>
          <a:p>
            <a:pPr algn="l">
              <a:spcBef>
                <a:spcPts val="0"/>
              </a:spcBef>
              <a:spcAft>
                <a:spcPts val="0"/>
              </a:spcAft>
            </a:pPr>
            <a:r>
              <a:rPr sz="1250" b="1">
                <a:solidFill>
                  <a:srgbClr val="002FA7"/>
                </a:solidFill>
                <a:latin typeface="Arial"/>
              </a:rPr>
              <a:t>CASE-LAW RULES</a:t>
            </a:r>
          </a:p>
        </p:txBody>
      </p:sp>
      <p:sp>
        <p:nvSpPr>
          <p:cNvPr id="19" name="TextBox 18"/>
          <p:cNvSpPr txBox="1"/>
          <p:nvPr/>
        </p:nvSpPr>
        <p:spPr>
          <a:xfrm>
            <a:off x="2761488" y="3392424"/>
            <a:ext cx="5020056" cy="402336"/>
          </a:xfrm>
          <a:prstGeom prst="rect">
            <a:avLst/>
          </a:prstGeom>
          <a:noFill/>
        </p:spPr>
        <p:txBody>
          <a:bodyPr wrap="square" lIns="0" rIns="0" tIns="0" bIns="0" anchor="ctr">
            <a:normAutofit/>
          </a:bodyPr>
          <a:lstStyle/>
          <a:p>
            <a:pPr algn="l">
              <a:spcBef>
                <a:spcPts val="0"/>
              </a:spcBef>
              <a:spcAft>
                <a:spcPts val="0"/>
              </a:spcAft>
            </a:pPr>
            <a:r>
              <a:rPr sz="1520" b="0">
                <a:solidFill>
                  <a:srgbClr val="0A0A0A"/>
                </a:solidFill>
                <a:latin typeface="Arial"/>
              </a:rPr>
              <a:t>74/100 quote-grounded</a:t>
            </a:r>
          </a:p>
        </p:txBody>
      </p:sp>
      <p:sp>
        <p:nvSpPr>
          <p:cNvPr id="20" name="TextBox 19"/>
          <p:cNvSpPr txBox="1"/>
          <p:nvPr/>
        </p:nvSpPr>
        <p:spPr>
          <a:xfrm>
            <a:off x="7909560" y="3392424"/>
            <a:ext cx="3493008" cy="402336"/>
          </a:xfrm>
          <a:prstGeom prst="rect">
            <a:avLst/>
          </a:prstGeom>
          <a:noFill/>
        </p:spPr>
        <p:txBody>
          <a:bodyPr wrap="square" lIns="0" rIns="0" tIns="0" bIns="0" anchor="ctr">
            <a:normAutofit/>
          </a:bodyPr>
          <a:lstStyle/>
          <a:p>
            <a:pPr algn="l">
              <a:spcBef>
                <a:spcPts val="0"/>
              </a:spcBef>
              <a:spcAft>
                <a:spcPts val="0"/>
              </a:spcAft>
            </a:pPr>
            <a:r>
              <a:rPr sz="1280" b="0">
                <a:solidFill>
                  <a:srgbClr val="737373"/>
                </a:solidFill>
                <a:latin typeface="Arial"/>
              </a:rPr>
              <a:t>58.1% proxy-usable</a:t>
            </a:r>
          </a:p>
        </p:txBody>
      </p:sp>
      <p:sp>
        <p:nvSpPr>
          <p:cNvPr id="21" name="Rectangle 20"/>
          <p:cNvSpPr/>
          <p:nvPr/>
        </p:nvSpPr>
        <p:spPr>
          <a:xfrm>
            <a:off x="566928" y="4078224"/>
            <a:ext cx="11018520" cy="667512"/>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4197096"/>
            <a:ext cx="1920240" cy="402336"/>
          </a:xfrm>
          <a:prstGeom prst="rect">
            <a:avLst/>
          </a:prstGeom>
          <a:noFill/>
        </p:spPr>
        <p:txBody>
          <a:bodyPr wrap="square" lIns="0" rIns="0" tIns="0" bIns="0" anchor="ctr">
            <a:normAutofit/>
          </a:bodyPr>
          <a:lstStyle/>
          <a:p>
            <a:pPr algn="l">
              <a:spcBef>
                <a:spcPts val="0"/>
              </a:spcBef>
              <a:spcAft>
                <a:spcPts val="0"/>
              </a:spcAft>
            </a:pPr>
            <a:r>
              <a:rPr sz="1250" b="1">
                <a:solidFill>
                  <a:srgbClr val="002FA7"/>
                </a:solidFill>
                <a:latin typeface="Arial"/>
              </a:rPr>
              <a:t>DOCUMENT READING</a:t>
            </a:r>
          </a:p>
        </p:txBody>
      </p:sp>
      <p:sp>
        <p:nvSpPr>
          <p:cNvPr id="23" name="TextBox 22"/>
          <p:cNvSpPr txBox="1"/>
          <p:nvPr/>
        </p:nvSpPr>
        <p:spPr>
          <a:xfrm>
            <a:off x="2761488" y="4197096"/>
            <a:ext cx="5020056" cy="402336"/>
          </a:xfrm>
          <a:prstGeom prst="rect">
            <a:avLst/>
          </a:prstGeom>
          <a:noFill/>
        </p:spPr>
        <p:txBody>
          <a:bodyPr wrap="square" lIns="0" rIns="0" tIns="0" bIns="0" anchor="ctr">
            <a:normAutofit/>
          </a:bodyPr>
          <a:lstStyle/>
          <a:p>
            <a:pPr algn="l">
              <a:spcBef>
                <a:spcPts val="0"/>
              </a:spcBef>
              <a:spcAft>
                <a:spcPts val="0"/>
              </a:spcAft>
            </a:pPr>
            <a:r>
              <a:rPr sz="1520" b="0">
                <a:solidFill>
                  <a:srgbClr val="0A0A0A"/>
                </a:solidFill>
                <a:latin typeface="Arial"/>
              </a:rPr>
              <a:t>26/26 pilot pages returned text</a:t>
            </a:r>
          </a:p>
        </p:txBody>
      </p:sp>
      <p:sp>
        <p:nvSpPr>
          <p:cNvPr id="24" name="TextBox 23"/>
          <p:cNvSpPr txBox="1"/>
          <p:nvPr/>
        </p:nvSpPr>
        <p:spPr>
          <a:xfrm>
            <a:off x="7909560" y="4197096"/>
            <a:ext cx="3493008" cy="402336"/>
          </a:xfrm>
          <a:prstGeom prst="rect">
            <a:avLst/>
          </a:prstGeom>
          <a:noFill/>
        </p:spPr>
        <p:txBody>
          <a:bodyPr wrap="square" lIns="0" rIns="0" tIns="0" bIns="0" anchor="ctr">
            <a:normAutofit/>
          </a:bodyPr>
          <a:lstStyle/>
          <a:p>
            <a:pPr algn="l">
              <a:spcBef>
                <a:spcPts val="0"/>
              </a:spcBef>
              <a:spcAft>
                <a:spcPts val="0"/>
              </a:spcAft>
            </a:pPr>
            <a:r>
              <a:rPr sz="1280" b="0">
                <a:solidFill>
                  <a:srgbClr val="737373"/>
                </a:solidFill>
                <a:latin typeface="Arial"/>
              </a:rPr>
              <a:t>field accuracy unscored</a:t>
            </a:r>
          </a:p>
        </p:txBody>
      </p:sp>
      <p:sp>
        <p:nvSpPr>
          <p:cNvPr id="25" name="Rectangle 24"/>
          <p:cNvSpPr/>
          <p:nvPr/>
        </p:nvSpPr>
        <p:spPr>
          <a:xfrm>
            <a:off x="566928" y="4882896"/>
            <a:ext cx="1101852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5001768"/>
            <a:ext cx="1920240" cy="402336"/>
          </a:xfrm>
          <a:prstGeom prst="rect">
            <a:avLst/>
          </a:prstGeom>
          <a:noFill/>
        </p:spPr>
        <p:txBody>
          <a:bodyPr wrap="square" lIns="0" rIns="0" tIns="0" bIns="0" anchor="ctr">
            <a:normAutofit/>
          </a:bodyPr>
          <a:lstStyle/>
          <a:p>
            <a:pPr algn="l">
              <a:spcBef>
                <a:spcPts val="0"/>
              </a:spcBef>
              <a:spcAft>
                <a:spcPts val="0"/>
              </a:spcAft>
            </a:pPr>
            <a:r>
              <a:rPr sz="1250" b="1">
                <a:solidFill>
                  <a:srgbClr val="002FA7"/>
                </a:solidFill>
                <a:latin typeface="Arial"/>
              </a:rPr>
              <a:t>PLATFORM</a:t>
            </a:r>
          </a:p>
        </p:txBody>
      </p:sp>
      <p:sp>
        <p:nvSpPr>
          <p:cNvPr id="27" name="TextBox 26"/>
          <p:cNvSpPr txBox="1"/>
          <p:nvPr/>
        </p:nvSpPr>
        <p:spPr>
          <a:xfrm>
            <a:off x="2761488" y="5001768"/>
            <a:ext cx="5020056" cy="402336"/>
          </a:xfrm>
          <a:prstGeom prst="rect">
            <a:avLst/>
          </a:prstGeom>
          <a:noFill/>
        </p:spPr>
        <p:txBody>
          <a:bodyPr wrap="square" lIns="0" rIns="0" tIns="0" bIns="0" anchor="ctr">
            <a:normAutofit/>
          </a:bodyPr>
          <a:lstStyle/>
          <a:p>
            <a:pPr algn="l">
              <a:spcBef>
                <a:spcPts val="0"/>
              </a:spcBef>
              <a:spcAft>
                <a:spcPts val="0"/>
              </a:spcAft>
            </a:pPr>
            <a:r>
              <a:rPr sz="1520" b="0">
                <a:solidFill>
                  <a:srgbClr val="0A0A0A"/>
                </a:solidFill>
                <a:latin typeface="Arial"/>
              </a:rPr>
              <a:t>3,906 backend + 348 frontend passed</a:t>
            </a:r>
          </a:p>
        </p:txBody>
      </p:sp>
      <p:sp>
        <p:nvSpPr>
          <p:cNvPr id="28" name="TextBox 27"/>
          <p:cNvSpPr txBox="1"/>
          <p:nvPr/>
        </p:nvSpPr>
        <p:spPr>
          <a:xfrm>
            <a:off x="7909560" y="5001768"/>
            <a:ext cx="3493008" cy="402336"/>
          </a:xfrm>
          <a:prstGeom prst="rect">
            <a:avLst/>
          </a:prstGeom>
          <a:noFill/>
        </p:spPr>
        <p:txBody>
          <a:bodyPr wrap="square" lIns="0" rIns="0" tIns="0" bIns="0" anchor="ctr">
            <a:normAutofit/>
          </a:bodyPr>
          <a:lstStyle/>
          <a:p>
            <a:pPr algn="l">
              <a:spcBef>
                <a:spcPts val="0"/>
              </a:spcBef>
              <a:spcAft>
                <a:spcPts val="0"/>
              </a:spcAft>
            </a:pPr>
            <a:r>
              <a:rPr sz="1280" b="0">
                <a:solidFill>
                  <a:srgbClr val="737373"/>
                </a:solidFill>
                <a:latin typeface="Arial"/>
              </a:rPr>
              <a:t>3 browser refusal tests · one journey</a:t>
            </a:r>
          </a:p>
        </p:txBody>
      </p:sp>
      <p:sp>
        <p:nvSpPr>
          <p:cNvPr id="29" name="Rectangle 28"/>
          <p:cNvSpPr/>
          <p:nvPr/>
        </p:nvSpPr>
        <p:spPr>
          <a:xfrm>
            <a:off x="566928" y="5925312"/>
            <a:ext cx="11018520" cy="393192"/>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952744"/>
            <a:ext cx="10835640" cy="338328"/>
          </a:xfrm>
          <a:prstGeom prst="rect">
            <a:avLst/>
          </a:prstGeom>
          <a:noFill/>
        </p:spPr>
        <p:txBody>
          <a:bodyPr wrap="square" lIns="0" rIns="0" tIns="0" bIns="0" anchor="ctr">
            <a:normAutofit/>
          </a:bodyPr>
          <a:lstStyle/>
          <a:p>
            <a:pPr algn="l">
              <a:spcBef>
                <a:spcPts val="0"/>
              </a:spcBef>
              <a:spcAft>
                <a:spcPts val="0"/>
              </a:spcAft>
            </a:pPr>
            <a:r>
              <a:rPr sz="1400" b="1">
                <a:solidFill>
                  <a:srgbClr val="002FA7"/>
                </a:solidFill>
                <a:latin typeface="Arial"/>
              </a:rPr>
              <a:t>WIDER BROWSER RUN: 4 PASSED  ·  9 FAILED  ·  2 SKIPPED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9875520" cy="210312"/>
          </a:xfrm>
          <a:prstGeom prst="rect">
            <a:avLst/>
          </a:prstGeom>
          <a:noFill/>
        </p:spPr>
        <p:txBody>
          <a:bodyPr wrap="square" lIns="0" rIns="0" t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rIns="0" tIns="0" bIns="0" anchor="t">
            <a:normAutofit/>
          </a:bodyPr>
          <a:lstStyle/>
          <a:p>
            <a:pPr algn="l">
              <a:spcBef>
                <a:spcPts val="0"/>
              </a:spcBef>
              <a:spcAft>
                <a:spcPts val="0"/>
              </a:spcAft>
            </a:pPr>
            <a:r>
              <a:rPr sz="2900" b="0">
                <a:solidFill>
                  <a:srgbClr val="0A0A0A"/>
                </a:solidFill>
                <a:latin typeface="Arial"/>
              </a:rPr>
              <a:t>Three contributors connected research and the product</a:t>
            </a:r>
          </a:p>
        </p:txBody>
      </p:sp>
      <p:pic>
        <p:nvPicPr>
          <p:cNvPr id="5" name="Picture 4" descr="draftly-logo-blue-transparent.png"/>
          <p:cNvPicPr>
            <a:picLocks noChangeAspect="1"/>
          </p:cNvPicPr>
          <p:nvPr/>
        </p:nvPicPr>
        <p:blipFill>
          <a:blip r:embed="rId2"/>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rIns="0" t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rIns="0" tIns="0" bIns="0" anchor="ctr">
            <a:normAutofit/>
          </a:bodyPr>
          <a:lstStyle/>
          <a:p>
            <a:pPr algn="r">
              <a:spcBef>
                <a:spcPts val="0"/>
              </a:spcBef>
              <a:spcAft>
                <a:spcPts val="0"/>
              </a:spcAft>
            </a:pPr>
            <a:r>
              <a:rPr sz="830" b="0">
                <a:solidFill>
                  <a:srgbClr val="737373"/>
                </a:solidFill>
                <a:latin typeface="Arial"/>
              </a:rPr>
              <a:t>21 / 22</a:t>
            </a:r>
          </a:p>
        </p:txBody>
      </p:sp>
      <p:sp>
        <p:nvSpPr>
          <p:cNvPr id="9" name="Rectangle 8"/>
          <p:cNvSpPr/>
          <p:nvPr/>
        </p:nvSpPr>
        <p:spPr>
          <a:xfrm>
            <a:off x="566928" y="1719072"/>
            <a:ext cx="3493008" cy="400507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719072"/>
            <a:ext cx="3493008" cy="73152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92807"/>
            <a:ext cx="3154680" cy="365760"/>
          </a:xfrm>
          <a:prstGeom prst="rect">
            <a:avLst/>
          </a:prstGeom>
          <a:noFill/>
        </p:spPr>
        <p:txBody>
          <a:bodyPr wrap="square" lIns="0" rIns="0" tIns="0" bIns="0" anchor="ctr">
            <a:normAutofit/>
          </a:bodyPr>
          <a:lstStyle/>
          <a:p>
            <a:pPr algn="l">
              <a:spcBef>
                <a:spcPts val="0"/>
              </a:spcBef>
              <a:spcAft>
                <a:spcPts val="0"/>
              </a:spcAft>
            </a:pPr>
            <a:r>
              <a:rPr sz="1620" b="1">
                <a:solidFill>
                  <a:srgbClr val="FFFFFF"/>
                </a:solidFill>
                <a:latin typeface="Arial"/>
              </a:rPr>
              <a:t>HIMATH DHANAPALA</a:t>
            </a:r>
          </a:p>
        </p:txBody>
      </p:sp>
      <p:sp>
        <p:nvSpPr>
          <p:cNvPr id="12" name="Rectangle 11"/>
          <p:cNvSpPr/>
          <p:nvPr/>
        </p:nvSpPr>
        <p:spPr>
          <a:xfrm>
            <a:off x="740664" y="2807208"/>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97480"/>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Statutory corpus + benchmark lead</a:t>
            </a:r>
          </a:p>
        </p:txBody>
      </p:sp>
      <p:sp>
        <p:nvSpPr>
          <p:cNvPr id="14" name="Rectangle 13"/>
          <p:cNvSpPr/>
          <p:nvPr/>
        </p:nvSpPr>
        <p:spPr>
          <a:xfrm>
            <a:off x="740664" y="3511296"/>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01568"/>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Retrieval evaluation</a:t>
            </a:r>
          </a:p>
        </p:txBody>
      </p:sp>
      <p:sp>
        <p:nvSpPr>
          <p:cNvPr id="16" name="Rectangle 15"/>
          <p:cNvSpPr/>
          <p:nvPr/>
        </p:nvSpPr>
        <p:spPr>
          <a:xfrm>
            <a:off x="740664" y="4215384"/>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05656"/>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High Court case-law work</a:t>
            </a:r>
          </a:p>
        </p:txBody>
      </p:sp>
      <p:sp>
        <p:nvSpPr>
          <p:cNvPr id="18" name="Rectangle 17"/>
          <p:cNvSpPr/>
          <p:nvPr/>
        </p:nvSpPr>
        <p:spPr>
          <a:xfrm>
            <a:off x="740664" y="4919472"/>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809744"/>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Research-paper first draft</a:t>
            </a:r>
          </a:p>
        </p:txBody>
      </p:sp>
      <p:sp>
        <p:nvSpPr>
          <p:cNvPr id="20" name="Rectangle 19"/>
          <p:cNvSpPr/>
          <p:nvPr/>
        </p:nvSpPr>
        <p:spPr>
          <a:xfrm>
            <a:off x="4315968" y="1719072"/>
            <a:ext cx="3493008" cy="400507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5968" y="1719072"/>
            <a:ext cx="3493008" cy="73152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1892807"/>
            <a:ext cx="3154680" cy="365760"/>
          </a:xfrm>
          <a:prstGeom prst="rect">
            <a:avLst/>
          </a:prstGeom>
          <a:noFill/>
        </p:spPr>
        <p:txBody>
          <a:bodyPr wrap="square" lIns="0" rIns="0" tIns="0" bIns="0" anchor="ctr">
            <a:normAutofit/>
          </a:bodyPr>
          <a:lstStyle/>
          <a:p>
            <a:pPr algn="l">
              <a:spcBef>
                <a:spcPts val="0"/>
              </a:spcBef>
              <a:spcAft>
                <a:spcPts val="0"/>
              </a:spcAft>
            </a:pPr>
            <a:r>
              <a:rPr sz="1620" b="1">
                <a:solidFill>
                  <a:srgbClr val="FFFFFF"/>
                </a:solidFill>
                <a:latin typeface="Arial"/>
              </a:rPr>
              <a:t>LAHIRU DILSHAN</a:t>
            </a:r>
          </a:p>
        </p:txBody>
      </p:sp>
      <p:sp>
        <p:nvSpPr>
          <p:cNvPr id="23" name="Rectangle 22"/>
          <p:cNvSpPr/>
          <p:nvPr/>
        </p:nvSpPr>
        <p:spPr>
          <a:xfrm>
            <a:off x="4489704" y="2807208"/>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2697480"/>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Case-law collection + retrieval</a:t>
            </a:r>
          </a:p>
        </p:txBody>
      </p:sp>
      <p:sp>
        <p:nvSpPr>
          <p:cNvPr id="25" name="Rectangle 24"/>
          <p:cNvSpPr/>
          <p:nvPr/>
        </p:nvSpPr>
        <p:spPr>
          <a:xfrm>
            <a:off x="4489704" y="3511296"/>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45152" y="3401568"/>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OCR research</a:t>
            </a:r>
          </a:p>
        </p:txBody>
      </p:sp>
      <p:sp>
        <p:nvSpPr>
          <p:cNvPr id="27" name="Rectangle 26"/>
          <p:cNvSpPr/>
          <p:nvPr/>
        </p:nvSpPr>
        <p:spPr>
          <a:xfrm>
            <a:off x="4489704" y="4215384"/>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4105656"/>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Document-extraction research</a:t>
            </a:r>
          </a:p>
        </p:txBody>
      </p:sp>
      <p:sp>
        <p:nvSpPr>
          <p:cNvPr id="29" name="Rectangle 28"/>
          <p:cNvSpPr/>
          <p:nvPr/>
        </p:nvSpPr>
        <p:spPr>
          <a:xfrm>
            <a:off x="8065007" y="1719072"/>
            <a:ext cx="3493008" cy="4005072"/>
          </a:xfrm>
          <a:prstGeom prst="rect">
            <a:avLst/>
          </a:prstGeom>
          <a:solidFill>
            <a:srgbClr val="FFFFFF"/>
          </a:solidFill>
          <a:ln w="10160">
            <a:solidFill>
              <a:srgbClr val="D4D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65007" y="1719072"/>
            <a:ext cx="3493008" cy="73152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9" y="1892807"/>
            <a:ext cx="3154680" cy="365760"/>
          </a:xfrm>
          <a:prstGeom prst="rect">
            <a:avLst/>
          </a:prstGeom>
          <a:noFill/>
        </p:spPr>
        <p:txBody>
          <a:bodyPr wrap="square" lIns="0" rIns="0" tIns="0" bIns="0" anchor="ctr">
            <a:normAutofit/>
          </a:bodyPr>
          <a:lstStyle/>
          <a:p>
            <a:pPr algn="l">
              <a:spcBef>
                <a:spcPts val="0"/>
              </a:spcBef>
              <a:spcAft>
                <a:spcPts val="0"/>
              </a:spcAft>
            </a:pPr>
            <a:r>
              <a:rPr sz="1620" b="1">
                <a:solidFill>
                  <a:srgbClr val="FFFFFF"/>
                </a:solidFill>
                <a:latin typeface="Arial"/>
              </a:rPr>
              <a:t>PRAVEEN DE SILVA</a:t>
            </a:r>
          </a:p>
        </p:txBody>
      </p:sp>
      <p:sp>
        <p:nvSpPr>
          <p:cNvPr id="32" name="Rectangle 31"/>
          <p:cNvSpPr/>
          <p:nvPr/>
        </p:nvSpPr>
        <p:spPr>
          <a:xfrm>
            <a:off x="8238743" y="2807208"/>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94191" y="2697480"/>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BM25 search work</a:t>
            </a:r>
          </a:p>
        </p:txBody>
      </p:sp>
      <p:sp>
        <p:nvSpPr>
          <p:cNvPr id="34" name="Rectangle 33"/>
          <p:cNvSpPr/>
          <p:nvPr/>
        </p:nvSpPr>
        <p:spPr>
          <a:xfrm>
            <a:off x="8238743" y="3511296"/>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94191" y="3401568"/>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Templates + output flow</a:t>
            </a:r>
          </a:p>
        </p:txBody>
      </p:sp>
      <p:sp>
        <p:nvSpPr>
          <p:cNvPr id="36" name="Rectangle 35"/>
          <p:cNvSpPr/>
          <p:nvPr/>
        </p:nvSpPr>
        <p:spPr>
          <a:xfrm>
            <a:off x="8238743" y="4215384"/>
            <a:ext cx="73152" cy="73152"/>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94191" y="4105656"/>
            <a:ext cx="2926080" cy="448056"/>
          </a:xfrm>
          <a:prstGeom prst="rect">
            <a:avLst/>
          </a:prstGeom>
          <a:noFill/>
        </p:spPr>
        <p:txBody>
          <a:bodyPr wrap="square" lIns="0" rIns="0" tIns="0" bIns="0" anchor="ctr">
            <a:normAutofit/>
          </a:bodyPr>
          <a:lstStyle/>
          <a:p>
            <a:pPr algn="l">
              <a:spcBef>
                <a:spcPts val="0"/>
              </a:spcBef>
              <a:spcAft>
                <a:spcPts val="0"/>
              </a:spcAft>
            </a:pPr>
            <a:r>
              <a:rPr sz="1500" b="0">
                <a:solidFill>
                  <a:srgbClr val="0A0A0A"/>
                </a:solidFill>
                <a:latin typeface="Arial"/>
              </a:rPr>
              <a:t>Lawyer-facing review interface</a:t>
            </a:r>
          </a:p>
        </p:txBody>
      </p:sp>
      <p:sp>
        <p:nvSpPr>
          <p:cNvPr id="38" name="Rectangle 37"/>
          <p:cNvSpPr/>
          <p:nvPr/>
        </p:nvSpPr>
        <p:spPr>
          <a:xfrm>
            <a:off x="566928" y="5961888"/>
            <a:ext cx="11000232" cy="365760"/>
          </a:xfrm>
          <a:prstGeom prst="rect">
            <a:avLst/>
          </a:prstGeom>
          <a:solidFill>
            <a:srgbClr val="E8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989320"/>
            <a:ext cx="10817352" cy="310896"/>
          </a:xfrm>
          <a:prstGeom prst="rect">
            <a:avLst/>
          </a:prstGeom>
          <a:noFill/>
        </p:spPr>
        <p:txBody>
          <a:bodyPr wrap="square" lIns="0" rIns="0" tIns="0" bIns="0" anchor="ctr">
            <a:normAutofit/>
          </a:bodyPr>
          <a:lstStyle/>
          <a:p>
            <a:pPr algn="l">
              <a:spcBef>
                <a:spcPts val="0"/>
              </a:spcBef>
              <a:spcAft>
                <a:spcPts val="0"/>
              </a:spcAft>
            </a:pPr>
            <a:r>
              <a:rPr sz="1320" b="1">
                <a:solidFill>
                  <a:srgbClr val="002FA7"/>
                </a:solidFill>
                <a:latin typeface="Arial"/>
              </a:rPr>
              <a:t>SHARED: INTEGRATION, TESTING, AND FINAL PROJECT REVIEW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F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raftly-logo-white-transparent.png"/>
          <p:cNvPicPr>
            <a:picLocks noChangeAspect="1"/>
          </p:cNvPicPr>
          <p:nvPr/>
        </p:nvPicPr>
        <p:blipFill>
          <a:blip r:embed="rId3"/>
          <a:stretch>
            <a:fillRect/>
          </a:stretch>
        </p:blipFill>
        <p:spPr>
          <a:xfrm>
            <a:off x="484632" y="472322"/>
            <a:ext cx="2011680" cy="1167618"/>
          </a:xfrm>
          <a:prstGeom prst="rect">
            <a:avLst/>
          </a:prstGeom>
        </p:spPr>
      </p:pic>
      <p:sp>
        <p:nvSpPr>
          <p:cNvPr id="4" name="TextBox 3"/>
          <p:cNvSpPr txBox="1"/>
          <p:nvPr/>
        </p:nvSpPr>
        <p:spPr>
          <a:xfrm>
            <a:off x="658368" y="1828800"/>
            <a:ext cx="10652760" cy="2148840"/>
          </a:xfrm>
          <a:prstGeom prst="rect">
            <a:avLst/>
          </a:prstGeom>
          <a:noFill/>
        </p:spPr>
        <p:txBody>
          <a:bodyPr wrap="square" lIns="0" rIns="0" tIns="0" bIns="0" anchor="ctr">
            <a:normAutofit/>
          </a:bodyPr>
          <a:lstStyle/>
          <a:p>
            <a:pPr algn="l">
              <a:spcBef>
                <a:spcPts val="0"/>
              </a:spcBef>
              <a:spcAft>
                <a:spcPts val="0"/>
              </a:spcAft>
            </a:pPr>
            <a:r>
              <a:rPr sz="3900" b="0">
                <a:solidFill>
                  <a:srgbClr val="FFFFFF"/>
                </a:solidFill>
                <a:latin typeface="Arial"/>
              </a:rPr>
              <a:t>Measured retrieval.</a:t>
            </a:r>
          </a:p>
          <a:p>
            <a:pPr algn="l">
              <a:spcBef>
                <a:spcPts val="0"/>
              </a:spcBef>
              <a:spcAft>
                <a:spcPts val="0"/>
              </a:spcAft>
            </a:pPr>
            <a:r>
              <a:rPr sz="3900" b="0">
                <a:solidFill>
                  <a:srgbClr val="FFFFFF"/>
                </a:solidFill>
                <a:latin typeface="Arial"/>
              </a:rPr>
              <a:t>Versioned evidence.</a:t>
            </a:r>
          </a:p>
          <a:p>
            <a:pPr algn="l">
              <a:spcBef>
                <a:spcPts val="0"/>
              </a:spcBef>
              <a:spcAft>
                <a:spcPts val="0"/>
              </a:spcAft>
            </a:pPr>
            <a:r>
              <a:rPr sz="3900" b="0">
                <a:solidFill>
                  <a:srgbClr val="FFFFFF"/>
                </a:solidFill>
                <a:latin typeface="Arial"/>
              </a:rPr>
              <a:t>Lawyer-owned decisions.</a:t>
            </a:r>
          </a:p>
        </p:txBody>
      </p:sp>
      <p:cxnSp>
        <p:nvCxnSpPr>
          <p:cNvPr id="5" name="Connector 4"/>
          <p:cNvCxnSpPr/>
          <p:nvPr/>
        </p:nvCxnSpPr>
        <p:spPr>
          <a:xfrm>
            <a:off x="658368" y="4681728"/>
            <a:ext cx="10552176"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4928616"/>
            <a:ext cx="2926080" cy="228600"/>
          </a:xfrm>
          <a:prstGeom prst="rect">
            <a:avLst/>
          </a:prstGeom>
          <a:noFill/>
        </p:spPr>
        <p:txBody>
          <a:bodyPr wrap="square" lIns="0" rIns="0" tIns="0" bIns="0" anchor="ctr">
            <a:normAutofit/>
          </a:bodyPr>
          <a:lstStyle/>
          <a:p>
            <a:pPr algn="l">
              <a:spcBef>
                <a:spcPts val="0"/>
              </a:spcBef>
              <a:spcAft>
                <a:spcPts val="0"/>
              </a:spcAft>
            </a:pPr>
            <a:r>
              <a:rPr sz="1050" b="1">
                <a:solidFill>
                  <a:srgbClr val="FFFFFF"/>
                </a:solidFill>
                <a:latin typeface="Arial"/>
              </a:rPr>
              <a:t>NEXT VALIDATION</a:t>
            </a:r>
          </a:p>
        </p:txBody>
      </p:sp>
      <p:sp>
        <p:nvSpPr>
          <p:cNvPr id="7" name="TextBox 6"/>
          <p:cNvSpPr txBox="1"/>
          <p:nvPr/>
        </p:nvSpPr>
        <p:spPr>
          <a:xfrm>
            <a:off x="658368" y="5358384"/>
            <a:ext cx="10515600" cy="658368"/>
          </a:xfrm>
          <a:prstGeom prst="rect">
            <a:avLst/>
          </a:prstGeom>
          <a:noFill/>
        </p:spPr>
        <p:txBody>
          <a:bodyPr wrap="square" lIns="0" rIns="0" tIns="0" bIns="0" anchor="ctr">
            <a:normAutofit/>
          </a:bodyPr>
          <a:lstStyle/>
          <a:p>
            <a:pPr algn="l">
              <a:spcBef>
                <a:spcPts val="0"/>
              </a:spcBef>
              <a:spcAft>
                <a:spcPts val="0"/>
              </a:spcAft>
            </a:pPr>
            <a:r>
              <a:rPr sz="2000" b="0">
                <a:solidFill>
                  <a:srgbClr val="FFFFFF"/>
                </a:solidFill>
                <a:latin typeface="Arial"/>
              </a:rPr>
              <a:t>Attorney labels · document fields · form review · complete browser journeys</a:t>
            </a:r>
          </a:p>
        </p:txBody>
      </p:sp>
      <p:sp>
        <p:nvSpPr>
          <p:cNvPr id="8" name="TextBox 7"/>
          <p:cNvSpPr txBox="1"/>
          <p:nvPr/>
        </p:nvSpPr>
        <p:spPr>
          <a:xfrm>
            <a:off x="658368" y="6272784"/>
            <a:ext cx="3840480" cy="228600"/>
          </a:xfrm>
          <a:prstGeom prst="rect">
            <a:avLst/>
          </a:prstGeom>
          <a:noFill/>
        </p:spPr>
        <p:txBody>
          <a:bodyPr wrap="square" lIns="0" rIns="0" tIns="0" bIns="0" anchor="ctr">
            <a:normAutofit/>
          </a:bodyPr>
          <a:lstStyle/>
          <a:p>
            <a:pPr algn="l">
              <a:spcBef>
                <a:spcPts val="0"/>
              </a:spcBef>
              <a:spcAft>
                <a:spcPts val="0"/>
              </a:spcAft>
            </a:pPr>
            <a:r>
              <a:rPr sz="1100" b="1">
                <a:solidFill>
                  <a:srgbClr val="FFFFFF"/>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Draftly · Final Academic Presentation</dc:title>
  <dc:subject>Sri Lankan legal retrieval and a lawyer-controlled conveyancing workbench</dc:subject>
  <dc:creator>Draftly Project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