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hosted statutory retrieval pipeline. The team intends to deploy hybrid retrieval with embeddings and bounded query rewriting. The lawyer's original question remains in the search: original and sanitized rewritten queries each run through BM25 lexical and dense embedding channels. Reciprocal rank fusion combines them; typed statutory graph expansion adds candidates; a final fusion ranks cited sections. The research answer gate returns a grounded response or insufficient authority. The rewrite is search text, never a citation or legal answer. Research motivation: in the paper's seven-system comparison, hybrid had the highest average R@20, 0.546. A separate offline rewrite pilot recorded C@20 0.391 on all 40 test questions versus 0.344 for its hybrid reference. That pilot used a different research retriever and replaced the query rather than fusing original and rewritten paths. Its result therefore is not a measured score for this exact target pipeline. Labels remain agent-proposed. Deployment and an end-to-end evaluation are still required. Direct Matter Agent search is a separate integration. Sources: research-paper/tables/main.tex; docs/retrieval/HYBRID_QUERY_REWRITE_IMPLEMENTATION.md, sections 2-4.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2FA7"/>
                </a:solidFill>
                <a:latin typeface="Arial"/>
              </a:rPr>
              <a:t>PART II ·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10241280" cy="6675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0">
                <a:solidFill>
                  <a:srgbClr val="0A0A0A"/>
                </a:solidFill>
                <a:latin typeface="Arial"/>
              </a:rPr>
              <a:t>Target hosted retrieval: query rewrite + hybrid search</a:t>
            </a:r>
          </a:p>
        </p:txBody>
      </p:sp>
      <p:pic>
        <p:nvPicPr>
          <p:cNvPr id="5" name="Picture 4" descr="draftly-logo-blu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31189"/>
            <a:ext cx="731520" cy="4245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1399032"/>
            <a:ext cx="11036808" cy="38404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10853928" cy="3291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FFFFFF"/>
                </a:solidFill>
                <a:latin typeface="Arial"/>
              </a:rPr>
              <a:t>TEAM ROLLOUT IN PROGRESS  ·  TARGET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84248"/>
            <a:ext cx="1920240" cy="7132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084831"/>
            <a:ext cx="1664208" cy="2834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Lawyer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FFFFFF"/>
                </a:solidFill>
                <a:latin typeface="Arial"/>
              </a:rPr>
              <a:t>Original wording retained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0370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2FA7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984248"/>
            <a:ext cx="2523744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084831"/>
            <a:ext cx="2267711" cy="2834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Arial"/>
              </a:rPr>
              <a:t>Bounded 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39572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0A0A0A"/>
                </a:solidFill>
                <a:latin typeface="Arial"/>
              </a:rPr>
              <a:t>Search terms; no new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176272"/>
            <a:ext cx="57150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A0A0A"/>
                </a:solidFill>
                <a:latin typeface="Arial"/>
              </a:rPr>
              <a:t>The rewrite adds recall without discarding the lawyer's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62072"/>
            <a:ext cx="5340096" cy="1298448"/>
          </a:xfrm>
          <a:prstGeom prst="rect">
            <a:avLst/>
          </a:prstGeom>
          <a:solidFill>
            <a:srgbClr val="E8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62656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002FA7"/>
                </a:solidFill>
                <a:latin typeface="Arial"/>
              </a:rPr>
              <a:t>ORIGINAL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62656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737373"/>
                </a:solidFill>
                <a:latin typeface="Arial"/>
              </a:rPr>
              <a:t>preserve exact legal terms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64991"/>
            <a:ext cx="24688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51129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A0A0A"/>
                </a:solidFill>
                <a:latin typeface="Arial"/>
              </a:rPr>
              <a:t>BM25 lexical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8416" y="3364991"/>
            <a:ext cx="24688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51129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A0A0A"/>
                </a:solidFill>
                <a:latin typeface="Arial"/>
              </a:rPr>
              <a:t>Dense 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862072"/>
            <a:ext cx="5340096" cy="1298448"/>
          </a:xfrm>
          <a:prstGeom prst="rect">
            <a:avLst/>
          </a:prstGeom>
          <a:solidFill>
            <a:srgbClr val="E8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2962656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002FA7"/>
                </a:solidFill>
                <a:latin typeface="Arial"/>
              </a:rPr>
              <a:t>SANITIZED REWRITE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962656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737373"/>
                </a:solidFill>
                <a:latin typeface="Arial"/>
              </a:rPr>
              <a:t>additional search language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1656" y="3364991"/>
            <a:ext cx="24688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51129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A0A0A"/>
                </a:solidFill>
                <a:latin typeface="Arial"/>
              </a:rPr>
              <a:t>BM25 lexical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8552" y="3364991"/>
            <a:ext cx="246888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351129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A0A0A"/>
                </a:solidFill>
                <a:latin typeface="Arial"/>
              </a:rPr>
              <a:t>Dense embeddings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64408" y="4160520"/>
            <a:ext cx="0" cy="237744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24544" y="4160520"/>
            <a:ext cx="0" cy="237744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64408" y="4398264"/>
            <a:ext cx="5660136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89904" y="4398264"/>
            <a:ext cx="0" cy="210312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94360" y="4681728"/>
            <a:ext cx="24688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" y="4782312"/>
            <a:ext cx="2212848" cy="2834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Arial"/>
              </a:rPr>
              <a:t>RRF fusion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9320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0A0A0A"/>
                </a:solidFill>
                <a:latin typeface="Arial"/>
              </a:rPr>
              <a:t>combine ranked lists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36392" y="49377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2FA7"/>
                </a:solidFill>
                <a:latin typeface="Arial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3552" y="4681728"/>
            <a:ext cx="24688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4782312"/>
            <a:ext cx="2212848" cy="2834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Arial"/>
              </a:rPr>
              <a:t>Graph expansion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0712" y="509320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0A0A0A"/>
                </a:solidFill>
                <a:latin typeface="Arial"/>
              </a:rPr>
              <a:t>typed statutory links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5584" y="49377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2FA7"/>
                </a:solidFill>
                <a:latin typeface="Arial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2744" y="4681728"/>
            <a:ext cx="24688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59" y="4782312"/>
            <a:ext cx="2212848" cy="2834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A0A0A"/>
                </a:solidFill>
                <a:latin typeface="Arial"/>
              </a:rPr>
              <a:t>Final RRF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509320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0A0A0A"/>
                </a:solidFill>
                <a:latin typeface="Arial"/>
              </a:rPr>
              <a:t>rank cited sections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94776" y="49377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2FA7"/>
                </a:solidFill>
                <a:latin typeface="Arial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31936" y="4681728"/>
            <a:ext cx="2953512" cy="80467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9952" y="4782312"/>
            <a:ext cx="2697480" cy="283464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Answer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9096" y="5093208"/>
            <a:ext cx="2679192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FFFFFF"/>
                </a:solidFill>
                <a:latin typeface="Arial"/>
              </a:rPr>
              <a:t>citations or insufficient authority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828800" y="4608576"/>
            <a:ext cx="4261104" cy="0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4608576"/>
            <a:ext cx="0" cy="73152"/>
          </a:xfrm>
          <a:prstGeom prst="line">
            <a:avLst/>
          </a:prstGeom>
          <a:ln w="17780">
            <a:solidFill>
              <a:srgbClr val="002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94360" y="5696712"/>
            <a:ext cx="10991088" cy="475488"/>
          </a:xfrm>
          <a:prstGeom prst="rect">
            <a:avLst/>
          </a:prstGeom>
          <a:solidFill>
            <a:srgbClr val="E8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769864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002FA7"/>
                </a:solidFill>
                <a:latin typeface="Arial"/>
              </a:rPr>
              <a:t>Selection evidence: hybrid led average R@20 in the paper; a separate rewrite pilot improved C@20.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254496"/>
            <a:ext cx="10991088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737373"/>
                </a:solidFill>
                <a:latin typeface="Arial"/>
              </a:rPr>
              <a:t>The exact combined target needs deployment and evaluation on the same question set.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0352" y="6528816"/>
            <a:ext cx="11146536" cy="0"/>
          </a:xfrm>
          <a:prstGeom prst="line">
            <a:avLst/>
          </a:prstGeom>
          <a:ln w="762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30352" y="6583680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737373"/>
                </a:solidFill>
                <a:latin typeface="Arial"/>
              </a:rPr>
              <a:t>DRAFTLY  /  UNIVERSITY OF MORATUWA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6583680"/>
            <a:ext cx="2020824" cy="1554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737373"/>
                </a:solidFill>
                <a:latin typeface="Arial"/>
              </a:rPr>
              <a:t>STANDALONE INSERT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